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sldSz cx="18288000" cy="10287000"/>
  <p:notesSz cx="6858000" cy="9144000"/>
  <p:embeddedFontLst>
    <p:embeddedFont>
      <p:font typeface="Agbalumo" panose="020B0604020202020204" charset="0"/>
      <p:regular r:id="rId66"/>
    </p:embeddedFont>
    <p:embeddedFont>
      <p:font typeface="Arial Bold" panose="020B0604020202020204" charset="0"/>
      <p:regular r:id="rId67"/>
    </p:embeddedFont>
    <p:embeddedFont>
      <p:font typeface="Calibri (MS)" panose="020B0604020202020204" charset="0"/>
      <p:regular r:id="rId68"/>
    </p:embeddedFont>
    <p:embeddedFont>
      <p:font typeface="Calibri (MS) Bold" panose="020B0604020202020204" charset="0"/>
      <p:regular r:id="rId69"/>
    </p:embeddedFont>
    <p:embeddedFont>
      <p:font typeface="Calibri (MS) Bold Italics" panose="020B0604020202020204" charset="0"/>
      <p:regular r:id="rId70"/>
    </p:embeddedFont>
    <p:embeddedFont>
      <p:font typeface="Calibri (MS) Italics" panose="020B0604020202020204" charset="0"/>
      <p:regular r:id="rId71"/>
    </p:embeddedFont>
    <p:embeddedFont>
      <p:font typeface="DM Sans" pitchFamily="2" charset="0"/>
      <p:regular r:id="rId72"/>
    </p:embeddedFont>
    <p:embeddedFont>
      <p:font typeface="DM Sans Bold" charset="0"/>
      <p:regular r:id="rId73"/>
    </p:embeddedFont>
    <p:embeddedFont>
      <p:font typeface="Geometrica Sans Bold" panose="020B0604020202020204" charset="0"/>
      <p:regular r:id="rId74"/>
    </p:embeddedFont>
    <p:embeddedFont>
      <p:font typeface="Georgia Pro Bold" panose="020B0604020202020204" charset="0"/>
      <p:regular r:id="rId75"/>
    </p:embeddedFont>
    <p:embeddedFont>
      <p:font typeface="Georgia Pro Italics" panose="020B0604020202020204" charset="0"/>
      <p:regular r:id="rId76"/>
    </p:embeddedFont>
    <p:embeddedFont>
      <p:font typeface="Open Sans" panose="020B0606030504020204" pitchFamily="34" charset="0"/>
      <p:regular r:id="rId77"/>
    </p:embeddedFont>
    <p:embeddedFont>
      <p:font typeface="Open Sans Bold" panose="020B0604020202020204" charset="0"/>
      <p:regular r:id="rId78"/>
    </p:embeddedFont>
    <p:embeddedFont>
      <p:font typeface="Open Sans Bold Italics" panose="020B0604020202020204" charset="0"/>
      <p:regular r:id="rId79"/>
    </p:embeddedFont>
    <p:embeddedFont>
      <p:font typeface="Source Sans Pro" panose="020B0503030403020204" pitchFamily="34" charset="0"/>
      <p:regular r:id="rId80"/>
    </p:embeddedFont>
    <p:embeddedFont>
      <p:font typeface="Source Sans Pro Bold" panose="020B0604020202020204" charset="0"/>
      <p:regular r:id="rId81"/>
    </p:embeddedFont>
    <p:embeddedFont>
      <p:font typeface="Source Serif Pro Bold" panose="020B0604020202020204" charset="0"/>
      <p:regular r:id="rId8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3.fntdata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9.fntdata"/><Relationship Id="rId79" Type="http://schemas.openxmlformats.org/officeDocument/2006/relationships/font" Target="fonts/font14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4.fntdata"/><Relationship Id="rId77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7.fntdata"/><Relationship Id="rId80" Type="http://schemas.openxmlformats.org/officeDocument/2006/relationships/font" Target="fonts/font15.fntdata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5.fntdata"/><Relationship Id="rId75" Type="http://schemas.openxmlformats.org/officeDocument/2006/relationships/font" Target="fonts/font10.fntdata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8.fntdata"/><Relationship Id="rId78" Type="http://schemas.openxmlformats.org/officeDocument/2006/relationships/font" Target="fonts/font13.fntdata"/><Relationship Id="rId81" Type="http://schemas.openxmlformats.org/officeDocument/2006/relationships/font" Target="fonts/font16.fntdata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1.fntdata"/><Relationship Id="rId7" Type="http://schemas.openxmlformats.org/officeDocument/2006/relationships/slide" Target="slides/slide6.xml"/><Relationship Id="rId71" Type="http://schemas.openxmlformats.org/officeDocument/2006/relationships/font" Target="fonts/font6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1.fntdata"/><Relationship Id="rId61" Type="http://schemas.openxmlformats.org/officeDocument/2006/relationships/slide" Target="slides/slide60.xml"/><Relationship Id="rId82" Type="http://schemas.openxmlformats.org/officeDocument/2006/relationships/font" Target="fonts/font1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svg"/><Relationship Id="rId3" Type="http://schemas.openxmlformats.org/officeDocument/2006/relationships/image" Target="../media/image7.svg"/><Relationship Id="rId7" Type="http://schemas.openxmlformats.org/officeDocument/2006/relationships/image" Target="../media/image19.svg"/><Relationship Id="rId12" Type="http://schemas.openxmlformats.org/officeDocument/2006/relationships/image" Target="../media/image2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9.svg"/><Relationship Id="rId15" Type="http://schemas.openxmlformats.org/officeDocument/2006/relationships/image" Target="../media/image27.svg"/><Relationship Id="rId10" Type="http://schemas.openxmlformats.org/officeDocument/2006/relationships/image" Target="../media/image22.png"/><Relationship Id="rId4" Type="http://schemas.openxmlformats.org/officeDocument/2006/relationships/image" Target="../media/image8.png"/><Relationship Id="rId9" Type="http://schemas.openxmlformats.org/officeDocument/2006/relationships/image" Target="../media/image21.svg"/><Relationship Id="rId1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svg"/><Relationship Id="rId3" Type="http://schemas.openxmlformats.org/officeDocument/2006/relationships/image" Target="../media/image7.svg"/><Relationship Id="rId7" Type="http://schemas.openxmlformats.org/officeDocument/2006/relationships/image" Target="../media/image19.svg"/><Relationship Id="rId12" Type="http://schemas.openxmlformats.org/officeDocument/2006/relationships/image" Target="../media/image2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9.svg"/><Relationship Id="rId15" Type="http://schemas.openxmlformats.org/officeDocument/2006/relationships/image" Target="../media/image27.svg"/><Relationship Id="rId10" Type="http://schemas.openxmlformats.org/officeDocument/2006/relationships/image" Target="../media/image22.png"/><Relationship Id="rId4" Type="http://schemas.openxmlformats.org/officeDocument/2006/relationships/image" Target="../media/image8.png"/><Relationship Id="rId9" Type="http://schemas.openxmlformats.org/officeDocument/2006/relationships/image" Target="../media/image21.svg"/><Relationship Id="rId1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svg"/><Relationship Id="rId3" Type="http://schemas.openxmlformats.org/officeDocument/2006/relationships/image" Target="../media/image7.svg"/><Relationship Id="rId7" Type="http://schemas.openxmlformats.org/officeDocument/2006/relationships/image" Target="../media/image29.svg"/><Relationship Id="rId12" Type="http://schemas.openxmlformats.org/officeDocument/2006/relationships/image" Target="../media/image34.png"/><Relationship Id="rId17" Type="http://schemas.openxmlformats.org/officeDocument/2006/relationships/image" Target="../media/image17.svg"/><Relationship Id="rId2" Type="http://schemas.openxmlformats.org/officeDocument/2006/relationships/image" Target="../media/image6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svg"/><Relationship Id="rId5" Type="http://schemas.openxmlformats.org/officeDocument/2006/relationships/image" Target="../media/image9.svg"/><Relationship Id="rId15" Type="http://schemas.openxmlformats.org/officeDocument/2006/relationships/image" Target="../media/image37.svg"/><Relationship Id="rId10" Type="http://schemas.openxmlformats.org/officeDocument/2006/relationships/image" Target="../media/image32.png"/><Relationship Id="rId4" Type="http://schemas.openxmlformats.org/officeDocument/2006/relationships/image" Target="../media/image8.png"/><Relationship Id="rId9" Type="http://schemas.openxmlformats.org/officeDocument/2006/relationships/image" Target="../media/image31.svg"/><Relationship Id="rId14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7.svg"/><Relationship Id="rId7" Type="http://schemas.openxmlformats.org/officeDocument/2006/relationships/image" Target="../media/image39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9.svg"/><Relationship Id="rId10" Type="http://schemas.openxmlformats.org/officeDocument/2006/relationships/image" Target="../media/image42.png"/><Relationship Id="rId4" Type="http://schemas.openxmlformats.org/officeDocument/2006/relationships/image" Target="../media/image8.png"/><Relationship Id="rId9" Type="http://schemas.openxmlformats.org/officeDocument/2006/relationships/image" Target="../media/image4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4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4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7.svg"/><Relationship Id="rId7" Type="http://schemas.openxmlformats.org/officeDocument/2006/relationships/image" Target="../media/image39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7.svg"/><Relationship Id="rId7" Type="http://schemas.openxmlformats.org/officeDocument/2006/relationships/image" Target="../media/image55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5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6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3" Type="http://schemas.openxmlformats.org/officeDocument/2006/relationships/image" Target="../media/image7.sv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9.svg"/><Relationship Id="rId10" Type="http://schemas.openxmlformats.org/officeDocument/2006/relationships/image" Target="../media/image69.png"/><Relationship Id="rId4" Type="http://schemas.openxmlformats.org/officeDocument/2006/relationships/image" Target="../media/image8.png"/><Relationship Id="rId9" Type="http://schemas.openxmlformats.org/officeDocument/2006/relationships/image" Target="../media/image6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.svg"/><Relationship Id="rId7" Type="http://schemas.openxmlformats.org/officeDocument/2006/relationships/image" Target="../media/image7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7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.svg"/><Relationship Id="rId7" Type="http://schemas.openxmlformats.org/officeDocument/2006/relationships/image" Target="../media/image63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7.svg"/><Relationship Id="rId7" Type="http://schemas.openxmlformats.org/officeDocument/2006/relationships/image" Target="../media/image63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8.svg"/><Relationship Id="rId4" Type="http://schemas.openxmlformats.org/officeDocument/2006/relationships/image" Target="../media/image8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8.svg"/><Relationship Id="rId4" Type="http://schemas.openxmlformats.org/officeDocument/2006/relationships/image" Target="../media/image87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8.svg"/><Relationship Id="rId4" Type="http://schemas.openxmlformats.org/officeDocument/2006/relationships/image" Target="../media/image87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7.svg"/><Relationship Id="rId7" Type="http://schemas.openxmlformats.org/officeDocument/2006/relationships/image" Target="../media/image63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8.svg"/><Relationship Id="rId4" Type="http://schemas.openxmlformats.org/officeDocument/2006/relationships/image" Target="../media/image87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6.svg"/><Relationship Id="rId3" Type="http://schemas.openxmlformats.org/officeDocument/2006/relationships/image" Target="../media/image96.svg"/><Relationship Id="rId7" Type="http://schemas.openxmlformats.org/officeDocument/2006/relationships/image" Target="../media/image100.svg"/><Relationship Id="rId12" Type="http://schemas.openxmlformats.org/officeDocument/2006/relationships/image" Target="../media/image105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11" Type="http://schemas.openxmlformats.org/officeDocument/2006/relationships/image" Target="../media/image104.svg"/><Relationship Id="rId5" Type="http://schemas.openxmlformats.org/officeDocument/2006/relationships/image" Target="../media/image98.svg"/><Relationship Id="rId10" Type="http://schemas.openxmlformats.org/officeDocument/2006/relationships/image" Target="../media/image103.png"/><Relationship Id="rId4" Type="http://schemas.openxmlformats.org/officeDocument/2006/relationships/image" Target="../media/image97.png"/><Relationship Id="rId9" Type="http://schemas.openxmlformats.org/officeDocument/2006/relationships/image" Target="../media/image10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127675" y="-169907"/>
            <a:ext cx="11186770" cy="12789913"/>
          </a:xfrm>
          <a:custGeom>
            <a:avLst/>
            <a:gdLst/>
            <a:ahLst/>
            <a:cxnLst/>
            <a:rect l="l" t="t" r="r" b="b"/>
            <a:pathLst>
              <a:path w="11186770" h="12789913">
                <a:moveTo>
                  <a:pt x="0" y="0"/>
                </a:moveTo>
                <a:lnTo>
                  <a:pt x="11186770" y="0"/>
                </a:lnTo>
                <a:lnTo>
                  <a:pt x="11186770" y="12789913"/>
                </a:lnTo>
                <a:lnTo>
                  <a:pt x="0" y="127899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9124960" y="6849261"/>
            <a:ext cx="38071" cy="3456784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5039462" y="3069481"/>
            <a:ext cx="2685607" cy="2564633"/>
          </a:xfrm>
          <a:custGeom>
            <a:avLst/>
            <a:gdLst/>
            <a:ahLst/>
            <a:cxnLst/>
            <a:rect l="l" t="t" r="r" b="b"/>
            <a:pathLst>
              <a:path w="2685607" h="2564633">
                <a:moveTo>
                  <a:pt x="0" y="0"/>
                </a:moveTo>
                <a:lnTo>
                  <a:pt x="2685607" y="0"/>
                </a:lnTo>
                <a:lnTo>
                  <a:pt x="2685607" y="2564633"/>
                </a:lnTo>
                <a:lnTo>
                  <a:pt x="0" y="25646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301536" y="5758324"/>
            <a:ext cx="11722989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9"/>
              </a:lnSpc>
            </a:pPr>
            <a:r>
              <a:rPr lang="en-US" sz="3099">
                <a:solidFill>
                  <a:srgbClr val="F2F2F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Transformation Digital &amp; Intelligence artificielle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40564" y="4342272"/>
            <a:ext cx="5579448" cy="1164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35"/>
              </a:lnSpc>
              <a:spcBef>
                <a:spcPct val="0"/>
              </a:spcBef>
            </a:pPr>
            <a:r>
              <a:rPr lang="en-US" sz="7612" b="1">
                <a:solidFill>
                  <a:srgbClr val="FFFFFF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NODE.JS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07434" y="6849261"/>
            <a:ext cx="3118485" cy="315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6"/>
              </a:lnSpc>
            </a:pPr>
            <a:r>
              <a:rPr lang="en-US" sz="2872">
                <a:solidFill>
                  <a:srgbClr val="FCFCF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Réalisé par:</a:t>
            </a:r>
          </a:p>
          <a:p>
            <a:pPr algn="ctr">
              <a:lnSpc>
                <a:spcPts val="3446"/>
              </a:lnSpc>
            </a:pPr>
            <a:r>
              <a:rPr lang="en-US" sz="2872">
                <a:solidFill>
                  <a:srgbClr val="FCFCF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ELHADDOUDI Najlaa</a:t>
            </a:r>
          </a:p>
          <a:p>
            <a:pPr algn="ctr">
              <a:lnSpc>
                <a:spcPts val="3446"/>
              </a:lnSpc>
            </a:pPr>
            <a:r>
              <a:rPr lang="en-US" sz="2872">
                <a:solidFill>
                  <a:srgbClr val="FCFCF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KASSRIOUI Hamza</a:t>
            </a:r>
          </a:p>
          <a:p>
            <a:pPr algn="ctr">
              <a:lnSpc>
                <a:spcPts val="3446"/>
              </a:lnSpc>
            </a:pPr>
            <a:r>
              <a:rPr lang="en-US" sz="2872">
                <a:solidFill>
                  <a:srgbClr val="FCFCF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IBNELOUALID Achraf</a:t>
            </a:r>
          </a:p>
          <a:p>
            <a:pPr algn="ctr">
              <a:lnSpc>
                <a:spcPts val="3446"/>
              </a:lnSpc>
            </a:pPr>
            <a:r>
              <a:rPr lang="en-US" sz="2872">
                <a:solidFill>
                  <a:srgbClr val="FCFCF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EDDAIF Mohammed</a:t>
            </a:r>
          </a:p>
          <a:p>
            <a:pPr algn="ctr">
              <a:lnSpc>
                <a:spcPts val="4046"/>
              </a:lnSpc>
            </a:pPr>
            <a:endParaRPr lang="en-US" sz="2872">
              <a:solidFill>
                <a:srgbClr val="FCFCFC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algn="ctr">
              <a:lnSpc>
                <a:spcPts val="4046"/>
              </a:lnSpc>
              <a:spcBef>
                <a:spcPct val="0"/>
              </a:spcBef>
            </a:pPr>
            <a:endParaRPr lang="en-US" sz="2872">
              <a:solidFill>
                <a:srgbClr val="FCFCFC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411109" y="7044523"/>
            <a:ext cx="4619901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Professeur: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CHERRADI Mohamed</a:t>
            </a:r>
          </a:p>
          <a:p>
            <a:pPr algn="ctr">
              <a:lnSpc>
                <a:spcPts val="4320"/>
              </a:lnSpc>
              <a:spcBef>
                <a:spcPct val="0"/>
              </a:spcBef>
            </a:pPr>
            <a:endParaRPr lang="en-US" sz="280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82404" y="202035"/>
            <a:ext cx="1876730" cy="1164260"/>
            <a:chOff x="0" y="0"/>
            <a:chExt cx="2502306" cy="155234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502281" cy="1552321"/>
            </a:xfrm>
            <a:custGeom>
              <a:avLst/>
              <a:gdLst/>
              <a:ahLst/>
              <a:cxnLst/>
              <a:rect l="l" t="t" r="r" b="b"/>
              <a:pathLst>
                <a:path w="2502281" h="1552321">
                  <a:moveTo>
                    <a:pt x="0" y="0"/>
                  </a:moveTo>
                  <a:lnTo>
                    <a:pt x="2502281" y="0"/>
                  </a:lnTo>
                  <a:lnTo>
                    <a:pt x="2502281" y="1552321"/>
                  </a:lnTo>
                  <a:lnTo>
                    <a:pt x="0" y="1552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222" r="-5223" b="-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5211235" y="324898"/>
            <a:ext cx="2587428" cy="918524"/>
            <a:chOff x="0" y="0"/>
            <a:chExt cx="3449904" cy="122469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449955" cy="1224661"/>
            </a:xfrm>
            <a:custGeom>
              <a:avLst/>
              <a:gdLst/>
              <a:ahLst/>
              <a:cxnLst/>
              <a:rect l="l" t="t" r="r" b="b"/>
              <a:pathLst>
                <a:path w="3449955" h="1224661">
                  <a:moveTo>
                    <a:pt x="0" y="0"/>
                  </a:moveTo>
                  <a:lnTo>
                    <a:pt x="3449955" y="0"/>
                  </a:lnTo>
                  <a:lnTo>
                    <a:pt x="3449955" y="1224661"/>
                  </a:lnTo>
                  <a:lnTo>
                    <a:pt x="0" y="1224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1" b="-3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7431750" y="455790"/>
            <a:ext cx="416319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</p:txBody>
      </p:sp>
      <p:sp>
        <p:nvSpPr>
          <p:cNvPr id="7" name="Freeform 7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 rot="110880">
            <a:off x="819388" y="9779260"/>
            <a:ext cx="590855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8071091" y="808215"/>
            <a:ext cx="1711762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Plan</a:t>
            </a:r>
          </a:p>
        </p:txBody>
      </p:sp>
      <p:sp>
        <p:nvSpPr>
          <p:cNvPr id="11" name="AutoShape 11"/>
          <p:cNvSpPr/>
          <p:nvPr/>
        </p:nvSpPr>
        <p:spPr>
          <a:xfrm flipH="1">
            <a:off x="9163056" y="4984172"/>
            <a:ext cx="17424" cy="61907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2666127" y="4315595"/>
            <a:ext cx="3869786" cy="104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140"/>
              </a:lnSpc>
            </a:pPr>
            <a:r>
              <a:rPr lang="en-US" sz="3450" b="1">
                <a:solidFill>
                  <a:srgbClr val="80808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Introduction &amp; Contexte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794988" y="5382787"/>
            <a:ext cx="3740925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Ce que Node.js est, pourquoi il a été créé, et quel problème il résout.</a:t>
            </a:r>
          </a:p>
        </p:txBody>
      </p:sp>
      <p:grpSp>
        <p:nvGrpSpPr>
          <p:cNvPr id="14" name="Group 14"/>
          <p:cNvGrpSpPr/>
          <p:nvPr/>
        </p:nvGrpSpPr>
        <p:grpSpPr>
          <a:xfrm rot="-10800000">
            <a:off x="8858807" y="1959204"/>
            <a:ext cx="395926" cy="233715"/>
            <a:chOff x="0" y="0"/>
            <a:chExt cx="527901" cy="3116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27939" cy="311658"/>
            </a:xfrm>
            <a:custGeom>
              <a:avLst/>
              <a:gdLst/>
              <a:ahLst/>
              <a:cxnLst/>
              <a:rect l="l" t="t" r="r" b="b"/>
              <a:pathLst>
                <a:path w="527939" h="311658">
                  <a:moveTo>
                    <a:pt x="0" y="311658"/>
                  </a:moveTo>
                  <a:lnTo>
                    <a:pt x="263906" y="0"/>
                  </a:lnTo>
                  <a:lnTo>
                    <a:pt x="527939" y="311658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9090862" y="4742846"/>
            <a:ext cx="245878" cy="245878"/>
            <a:chOff x="0" y="0"/>
            <a:chExt cx="327838" cy="327838"/>
          </a:xfrm>
        </p:grpSpPr>
        <p:sp>
          <p:nvSpPr>
            <p:cNvPr id="17" name="Freeform 17"/>
            <p:cNvSpPr/>
            <p:nvPr/>
          </p:nvSpPr>
          <p:spPr>
            <a:xfrm>
              <a:off x="50800" y="50800"/>
              <a:ext cx="226314" cy="226314"/>
            </a:xfrm>
            <a:custGeom>
              <a:avLst/>
              <a:gdLst/>
              <a:ahLst/>
              <a:cxnLst/>
              <a:rect l="l" t="t" r="r" b="b"/>
              <a:pathLst>
                <a:path w="226314" h="226314">
                  <a:moveTo>
                    <a:pt x="0" y="113157"/>
                  </a:moveTo>
                  <a:cubicBezTo>
                    <a:pt x="0" y="50673"/>
                    <a:pt x="50673" y="0"/>
                    <a:pt x="113157" y="0"/>
                  </a:cubicBezTo>
                  <a:cubicBezTo>
                    <a:pt x="175641" y="0"/>
                    <a:pt x="226314" y="50673"/>
                    <a:pt x="226314" y="113157"/>
                  </a:cubicBezTo>
                  <a:cubicBezTo>
                    <a:pt x="226314" y="175641"/>
                    <a:pt x="175641" y="226314"/>
                    <a:pt x="113157" y="226314"/>
                  </a:cubicBezTo>
                  <a:cubicBezTo>
                    <a:pt x="50673" y="226314"/>
                    <a:pt x="0" y="175641"/>
                    <a:pt x="0" y="113157"/>
                  </a:cubicBezTo>
                  <a:close/>
                </a:path>
              </a:pathLst>
            </a:custGeom>
            <a:solidFill>
              <a:srgbClr val="88A945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327914" cy="327914"/>
            </a:xfrm>
            <a:custGeom>
              <a:avLst/>
              <a:gdLst/>
              <a:ahLst/>
              <a:cxnLst/>
              <a:rect l="l" t="t" r="r" b="b"/>
              <a:pathLst>
                <a:path w="327914" h="327914">
                  <a:moveTo>
                    <a:pt x="0" y="163957"/>
                  </a:moveTo>
                  <a:cubicBezTo>
                    <a:pt x="0" y="73406"/>
                    <a:pt x="73406" y="0"/>
                    <a:pt x="163957" y="0"/>
                  </a:cubicBezTo>
                  <a:lnTo>
                    <a:pt x="163957" y="50800"/>
                  </a:lnTo>
                  <a:lnTo>
                    <a:pt x="163957" y="0"/>
                  </a:lnTo>
                  <a:cubicBezTo>
                    <a:pt x="254508" y="0"/>
                    <a:pt x="327914" y="73406"/>
                    <a:pt x="327914" y="163957"/>
                  </a:cubicBezTo>
                  <a:lnTo>
                    <a:pt x="277114" y="163957"/>
                  </a:lnTo>
                  <a:lnTo>
                    <a:pt x="327914" y="163957"/>
                  </a:lnTo>
                  <a:cubicBezTo>
                    <a:pt x="327914" y="254508"/>
                    <a:pt x="254508" y="327914"/>
                    <a:pt x="163957" y="327914"/>
                  </a:cubicBezTo>
                  <a:lnTo>
                    <a:pt x="163957" y="277114"/>
                  </a:lnTo>
                  <a:lnTo>
                    <a:pt x="163957" y="327914"/>
                  </a:lnTo>
                  <a:cubicBezTo>
                    <a:pt x="73406" y="327787"/>
                    <a:pt x="0" y="254508"/>
                    <a:pt x="0" y="163957"/>
                  </a:cubicBezTo>
                  <a:lnTo>
                    <a:pt x="50800" y="163957"/>
                  </a:lnTo>
                  <a:lnTo>
                    <a:pt x="101600" y="163957"/>
                  </a:lnTo>
                  <a:lnTo>
                    <a:pt x="50800" y="163957"/>
                  </a:lnTo>
                  <a:lnTo>
                    <a:pt x="0" y="163957"/>
                  </a:lnTo>
                  <a:moveTo>
                    <a:pt x="101600" y="163957"/>
                  </a:moveTo>
                  <a:cubicBezTo>
                    <a:pt x="101600" y="192024"/>
                    <a:pt x="78867" y="214757"/>
                    <a:pt x="50800" y="214757"/>
                  </a:cubicBezTo>
                  <a:cubicBezTo>
                    <a:pt x="22733" y="214757"/>
                    <a:pt x="0" y="192024"/>
                    <a:pt x="0" y="163957"/>
                  </a:cubicBezTo>
                  <a:cubicBezTo>
                    <a:pt x="0" y="135890"/>
                    <a:pt x="22733" y="113157"/>
                    <a:pt x="50800" y="113157"/>
                  </a:cubicBezTo>
                  <a:cubicBezTo>
                    <a:pt x="78867" y="113157"/>
                    <a:pt x="101600" y="135890"/>
                    <a:pt x="101600" y="163957"/>
                  </a:cubicBezTo>
                  <a:cubicBezTo>
                    <a:pt x="101600" y="198374"/>
                    <a:pt x="129540" y="226314"/>
                    <a:pt x="163957" y="226314"/>
                  </a:cubicBezTo>
                  <a:cubicBezTo>
                    <a:pt x="198374" y="226314"/>
                    <a:pt x="226314" y="198374"/>
                    <a:pt x="226314" y="163957"/>
                  </a:cubicBezTo>
                  <a:cubicBezTo>
                    <a:pt x="226314" y="129540"/>
                    <a:pt x="198374" y="101600"/>
                    <a:pt x="163957" y="101600"/>
                  </a:cubicBezTo>
                  <a:lnTo>
                    <a:pt x="163957" y="50800"/>
                  </a:lnTo>
                  <a:lnTo>
                    <a:pt x="163957" y="101600"/>
                  </a:lnTo>
                  <a:cubicBezTo>
                    <a:pt x="129540" y="101600"/>
                    <a:pt x="101600" y="129540"/>
                    <a:pt x="101600" y="163957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</p:grpSp>
      <p:sp>
        <p:nvSpPr>
          <p:cNvPr id="19" name="AutoShape 19"/>
          <p:cNvSpPr/>
          <p:nvPr/>
        </p:nvSpPr>
        <p:spPr>
          <a:xfrm flipH="1" flipV="1">
            <a:off x="9063206" y="2185358"/>
            <a:ext cx="150595" cy="2557488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0" name="Group 20"/>
          <p:cNvGrpSpPr/>
          <p:nvPr/>
        </p:nvGrpSpPr>
        <p:grpSpPr>
          <a:xfrm>
            <a:off x="6672701" y="4372747"/>
            <a:ext cx="1581550" cy="1581550"/>
            <a:chOff x="0" y="0"/>
            <a:chExt cx="2108733" cy="210873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08708" cy="2108708"/>
            </a:xfrm>
            <a:custGeom>
              <a:avLst/>
              <a:gdLst/>
              <a:ahLst/>
              <a:cxnLst/>
              <a:rect l="l" t="t" r="r" b="b"/>
              <a:pathLst>
                <a:path w="2108708" h="2108708">
                  <a:moveTo>
                    <a:pt x="0" y="0"/>
                  </a:moveTo>
                  <a:lnTo>
                    <a:pt x="2108708" y="0"/>
                  </a:lnTo>
                  <a:lnTo>
                    <a:pt x="2108708" y="2108708"/>
                  </a:lnTo>
                  <a:lnTo>
                    <a:pt x="0" y="2108708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sp>
        <p:nvSpPr>
          <p:cNvPr id="22" name="Freeform 22"/>
          <p:cNvSpPr/>
          <p:nvPr/>
        </p:nvSpPr>
        <p:spPr>
          <a:xfrm>
            <a:off x="7130186" y="4835957"/>
            <a:ext cx="666579" cy="655120"/>
          </a:xfrm>
          <a:custGeom>
            <a:avLst/>
            <a:gdLst/>
            <a:ahLst/>
            <a:cxnLst/>
            <a:rect l="l" t="t" r="r" b="b"/>
            <a:pathLst>
              <a:path w="666579" h="655120">
                <a:moveTo>
                  <a:pt x="0" y="0"/>
                </a:moveTo>
                <a:lnTo>
                  <a:pt x="666579" y="0"/>
                </a:lnTo>
                <a:lnTo>
                  <a:pt x="666579" y="655120"/>
                </a:lnTo>
                <a:lnTo>
                  <a:pt x="0" y="6551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3" name="AutoShape 23"/>
          <p:cNvSpPr/>
          <p:nvPr/>
        </p:nvSpPr>
        <p:spPr>
          <a:xfrm>
            <a:off x="9124952" y="6965813"/>
            <a:ext cx="38104" cy="160202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4" name="Group 24"/>
          <p:cNvGrpSpPr/>
          <p:nvPr/>
        </p:nvGrpSpPr>
        <p:grpSpPr>
          <a:xfrm>
            <a:off x="9021061" y="7092229"/>
            <a:ext cx="245878" cy="245878"/>
            <a:chOff x="0" y="0"/>
            <a:chExt cx="327838" cy="327838"/>
          </a:xfrm>
        </p:grpSpPr>
        <p:sp>
          <p:nvSpPr>
            <p:cNvPr id="25" name="Freeform 25"/>
            <p:cNvSpPr/>
            <p:nvPr/>
          </p:nvSpPr>
          <p:spPr>
            <a:xfrm>
              <a:off x="50800" y="50800"/>
              <a:ext cx="226314" cy="226314"/>
            </a:xfrm>
            <a:custGeom>
              <a:avLst/>
              <a:gdLst/>
              <a:ahLst/>
              <a:cxnLst/>
              <a:rect l="l" t="t" r="r" b="b"/>
              <a:pathLst>
                <a:path w="226314" h="226314">
                  <a:moveTo>
                    <a:pt x="0" y="113157"/>
                  </a:moveTo>
                  <a:cubicBezTo>
                    <a:pt x="0" y="50673"/>
                    <a:pt x="50673" y="0"/>
                    <a:pt x="113157" y="0"/>
                  </a:cubicBezTo>
                  <a:cubicBezTo>
                    <a:pt x="175641" y="0"/>
                    <a:pt x="226314" y="50673"/>
                    <a:pt x="226314" y="113157"/>
                  </a:cubicBezTo>
                  <a:cubicBezTo>
                    <a:pt x="226314" y="175641"/>
                    <a:pt x="175641" y="226314"/>
                    <a:pt x="113157" y="226314"/>
                  </a:cubicBezTo>
                  <a:cubicBezTo>
                    <a:pt x="50673" y="226314"/>
                    <a:pt x="0" y="175641"/>
                    <a:pt x="0" y="113157"/>
                  </a:cubicBezTo>
                  <a:close/>
                </a:path>
              </a:pathLst>
            </a:custGeom>
            <a:solidFill>
              <a:srgbClr val="9BBB59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0"/>
              <a:ext cx="327914" cy="327914"/>
            </a:xfrm>
            <a:custGeom>
              <a:avLst/>
              <a:gdLst/>
              <a:ahLst/>
              <a:cxnLst/>
              <a:rect l="l" t="t" r="r" b="b"/>
              <a:pathLst>
                <a:path w="327914" h="327914">
                  <a:moveTo>
                    <a:pt x="0" y="163957"/>
                  </a:moveTo>
                  <a:cubicBezTo>
                    <a:pt x="0" y="73406"/>
                    <a:pt x="73406" y="0"/>
                    <a:pt x="163957" y="0"/>
                  </a:cubicBezTo>
                  <a:lnTo>
                    <a:pt x="163957" y="50800"/>
                  </a:lnTo>
                  <a:lnTo>
                    <a:pt x="163957" y="0"/>
                  </a:lnTo>
                  <a:cubicBezTo>
                    <a:pt x="254508" y="0"/>
                    <a:pt x="327914" y="73406"/>
                    <a:pt x="327914" y="163957"/>
                  </a:cubicBezTo>
                  <a:lnTo>
                    <a:pt x="277114" y="163957"/>
                  </a:lnTo>
                  <a:lnTo>
                    <a:pt x="327914" y="163957"/>
                  </a:lnTo>
                  <a:cubicBezTo>
                    <a:pt x="327914" y="254508"/>
                    <a:pt x="254508" y="327914"/>
                    <a:pt x="163957" y="327914"/>
                  </a:cubicBezTo>
                  <a:lnTo>
                    <a:pt x="163957" y="277114"/>
                  </a:lnTo>
                  <a:lnTo>
                    <a:pt x="163957" y="327914"/>
                  </a:lnTo>
                  <a:cubicBezTo>
                    <a:pt x="73406" y="327787"/>
                    <a:pt x="0" y="254508"/>
                    <a:pt x="0" y="163957"/>
                  </a:cubicBezTo>
                  <a:lnTo>
                    <a:pt x="50800" y="163957"/>
                  </a:lnTo>
                  <a:lnTo>
                    <a:pt x="101600" y="163957"/>
                  </a:lnTo>
                  <a:lnTo>
                    <a:pt x="50800" y="163957"/>
                  </a:lnTo>
                  <a:lnTo>
                    <a:pt x="0" y="163957"/>
                  </a:lnTo>
                  <a:moveTo>
                    <a:pt x="101600" y="163957"/>
                  </a:moveTo>
                  <a:cubicBezTo>
                    <a:pt x="101600" y="192024"/>
                    <a:pt x="78867" y="214757"/>
                    <a:pt x="50800" y="214757"/>
                  </a:cubicBezTo>
                  <a:cubicBezTo>
                    <a:pt x="22733" y="214757"/>
                    <a:pt x="0" y="192024"/>
                    <a:pt x="0" y="163957"/>
                  </a:cubicBezTo>
                  <a:cubicBezTo>
                    <a:pt x="0" y="135890"/>
                    <a:pt x="22733" y="113157"/>
                    <a:pt x="50800" y="113157"/>
                  </a:cubicBezTo>
                  <a:cubicBezTo>
                    <a:pt x="78867" y="113157"/>
                    <a:pt x="101600" y="135890"/>
                    <a:pt x="101600" y="163957"/>
                  </a:cubicBezTo>
                  <a:cubicBezTo>
                    <a:pt x="101600" y="198374"/>
                    <a:pt x="129540" y="226314"/>
                    <a:pt x="163957" y="226314"/>
                  </a:cubicBezTo>
                  <a:cubicBezTo>
                    <a:pt x="198374" y="226314"/>
                    <a:pt x="226314" y="198374"/>
                    <a:pt x="226314" y="163957"/>
                  </a:cubicBezTo>
                  <a:cubicBezTo>
                    <a:pt x="226314" y="129540"/>
                    <a:pt x="198374" y="101600"/>
                    <a:pt x="163957" y="101600"/>
                  </a:cubicBezTo>
                  <a:lnTo>
                    <a:pt x="163957" y="50800"/>
                  </a:lnTo>
                  <a:lnTo>
                    <a:pt x="163957" y="101600"/>
                  </a:lnTo>
                  <a:cubicBezTo>
                    <a:pt x="129540" y="101600"/>
                    <a:pt x="101600" y="129540"/>
                    <a:pt x="101600" y="163957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</p:grpSp>
      <p:sp>
        <p:nvSpPr>
          <p:cNvPr id="27" name="AutoShape 27"/>
          <p:cNvSpPr/>
          <p:nvPr/>
        </p:nvSpPr>
        <p:spPr>
          <a:xfrm>
            <a:off x="10015976" y="7243458"/>
            <a:ext cx="0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8" name="Group 28"/>
          <p:cNvGrpSpPr/>
          <p:nvPr/>
        </p:nvGrpSpPr>
        <p:grpSpPr>
          <a:xfrm>
            <a:off x="10015976" y="6452683"/>
            <a:ext cx="1581550" cy="1581550"/>
            <a:chOff x="0" y="0"/>
            <a:chExt cx="2108733" cy="210873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08708" cy="2108708"/>
            </a:xfrm>
            <a:custGeom>
              <a:avLst/>
              <a:gdLst/>
              <a:ahLst/>
              <a:cxnLst/>
              <a:rect l="l" t="t" r="r" b="b"/>
              <a:pathLst>
                <a:path w="2108708" h="2108708">
                  <a:moveTo>
                    <a:pt x="0" y="0"/>
                  </a:moveTo>
                  <a:lnTo>
                    <a:pt x="2108708" y="0"/>
                  </a:lnTo>
                  <a:lnTo>
                    <a:pt x="2108708" y="2108708"/>
                  </a:lnTo>
                  <a:lnTo>
                    <a:pt x="0" y="2108708"/>
                  </a:lnTo>
                  <a:close/>
                </a:path>
              </a:pathLst>
            </a:custGeom>
            <a:solidFill>
              <a:srgbClr val="9BBB59"/>
            </a:solidFill>
          </p:spPr>
        </p:sp>
      </p:grpSp>
      <p:sp>
        <p:nvSpPr>
          <p:cNvPr id="30" name="AutoShape 30"/>
          <p:cNvSpPr/>
          <p:nvPr/>
        </p:nvSpPr>
        <p:spPr>
          <a:xfrm rot="5356680">
            <a:off x="7631335" y="8783984"/>
            <a:ext cx="3025321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TextBox 31"/>
          <p:cNvSpPr txBox="1"/>
          <p:nvPr/>
        </p:nvSpPr>
        <p:spPr>
          <a:xfrm>
            <a:off x="11966953" y="6507928"/>
            <a:ext cx="3740925" cy="1020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9"/>
              </a:lnSpc>
            </a:pPr>
            <a:r>
              <a:rPr lang="en-US" sz="3416" b="1">
                <a:solidFill>
                  <a:srgbClr val="80808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Fonctionnement de Node js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830052" y="7557106"/>
            <a:ext cx="3740925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le moteur V8, le runtime hors navigateur, l'architecture globale</a:t>
            </a:r>
          </a:p>
        </p:txBody>
      </p:sp>
      <p:sp>
        <p:nvSpPr>
          <p:cNvPr id="33" name="Freeform 33"/>
          <p:cNvSpPr/>
          <p:nvPr/>
        </p:nvSpPr>
        <p:spPr>
          <a:xfrm>
            <a:off x="10439590" y="6965813"/>
            <a:ext cx="727053" cy="555279"/>
          </a:xfrm>
          <a:custGeom>
            <a:avLst/>
            <a:gdLst/>
            <a:ahLst/>
            <a:cxnLst/>
            <a:rect l="l" t="t" r="r" b="b"/>
            <a:pathLst>
              <a:path w="727053" h="555279">
                <a:moveTo>
                  <a:pt x="0" y="0"/>
                </a:moveTo>
                <a:lnTo>
                  <a:pt x="727053" y="0"/>
                </a:lnTo>
                <a:lnTo>
                  <a:pt x="727053" y="555279"/>
                </a:lnTo>
                <a:lnTo>
                  <a:pt x="0" y="5552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4" name="AutoShape 34"/>
          <p:cNvSpPr/>
          <p:nvPr/>
        </p:nvSpPr>
        <p:spPr>
          <a:xfrm rot="5288040">
            <a:off x="8559032" y="556079"/>
            <a:ext cx="1169937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oval" w="lg" len="lg"/>
          </a:ln>
        </p:spPr>
      </p:sp>
      <p:grpSp>
        <p:nvGrpSpPr>
          <p:cNvPr id="35" name="Group 35"/>
          <p:cNvGrpSpPr/>
          <p:nvPr/>
        </p:nvGrpSpPr>
        <p:grpSpPr>
          <a:xfrm>
            <a:off x="6672701" y="5823985"/>
            <a:ext cx="1581550" cy="130302"/>
            <a:chOff x="0" y="0"/>
            <a:chExt cx="2108733" cy="17373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108708" cy="173736"/>
            </a:xfrm>
            <a:custGeom>
              <a:avLst/>
              <a:gdLst/>
              <a:ahLst/>
              <a:cxnLst/>
              <a:rect l="l" t="t" r="r" b="b"/>
              <a:pathLst>
                <a:path w="2108708" h="173736">
                  <a:moveTo>
                    <a:pt x="0" y="0"/>
                  </a:moveTo>
                  <a:lnTo>
                    <a:pt x="2108708" y="0"/>
                  </a:lnTo>
                  <a:lnTo>
                    <a:pt x="2108708" y="173736"/>
                  </a:lnTo>
                  <a:lnTo>
                    <a:pt x="0" y="173736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10012347" y="7903921"/>
            <a:ext cx="1581550" cy="130302"/>
            <a:chOff x="0" y="0"/>
            <a:chExt cx="2108733" cy="17373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108708" cy="173736"/>
            </a:xfrm>
            <a:custGeom>
              <a:avLst/>
              <a:gdLst/>
              <a:ahLst/>
              <a:cxnLst/>
              <a:rect l="l" t="t" r="r" b="b"/>
              <a:pathLst>
                <a:path w="2108708" h="173736">
                  <a:moveTo>
                    <a:pt x="0" y="0"/>
                  </a:moveTo>
                  <a:lnTo>
                    <a:pt x="2108708" y="0"/>
                  </a:lnTo>
                  <a:lnTo>
                    <a:pt x="2108708" y="173736"/>
                  </a:lnTo>
                  <a:lnTo>
                    <a:pt x="0" y="173736"/>
                  </a:lnTo>
                  <a:close/>
                </a:path>
              </a:pathLst>
            </a:custGeom>
            <a:solidFill>
              <a:srgbClr val="77933C"/>
            </a:solidFill>
          </p:spPr>
        </p:sp>
      </p:grpSp>
      <p:sp>
        <p:nvSpPr>
          <p:cNvPr id="39" name="AutoShape 39"/>
          <p:cNvSpPr/>
          <p:nvPr/>
        </p:nvSpPr>
        <p:spPr>
          <a:xfrm>
            <a:off x="9056770" y="2192880"/>
            <a:ext cx="24567" cy="8087579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40" name="AutoShape 40"/>
          <p:cNvSpPr/>
          <p:nvPr/>
        </p:nvSpPr>
        <p:spPr>
          <a:xfrm>
            <a:off x="9213801" y="9793550"/>
            <a:ext cx="100734" cy="1184432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41" name="AutoShape 41"/>
          <p:cNvSpPr/>
          <p:nvPr/>
        </p:nvSpPr>
        <p:spPr>
          <a:xfrm>
            <a:off x="9060122" y="2189000"/>
            <a:ext cx="64812" cy="2183747"/>
          </a:xfrm>
          <a:prstGeom prst="line">
            <a:avLst/>
          </a:prstGeom>
          <a:ln w="19050" cap="rnd">
            <a:solidFill>
              <a:srgbClr val="84BDE4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42" name="AutoShape 42"/>
          <p:cNvSpPr/>
          <p:nvPr/>
        </p:nvSpPr>
        <p:spPr>
          <a:xfrm>
            <a:off x="9134455" y="4315873"/>
            <a:ext cx="181226" cy="6191358"/>
          </a:xfrm>
          <a:prstGeom prst="line">
            <a:avLst/>
          </a:prstGeom>
          <a:ln w="19050" cap="rnd">
            <a:solidFill>
              <a:srgbClr val="84BD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3" name="AutoShape 43"/>
          <p:cNvSpPr/>
          <p:nvPr/>
        </p:nvSpPr>
        <p:spPr>
          <a:xfrm flipV="1">
            <a:off x="8318282" y="4865785"/>
            <a:ext cx="772580" cy="35837"/>
          </a:xfrm>
          <a:prstGeom prst="line">
            <a:avLst/>
          </a:prstGeom>
          <a:ln w="19050" cap="rnd">
            <a:solidFill>
              <a:srgbClr val="84BD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4" name="AutoShape 44"/>
          <p:cNvSpPr/>
          <p:nvPr/>
        </p:nvSpPr>
        <p:spPr>
          <a:xfrm>
            <a:off x="9213801" y="7215168"/>
            <a:ext cx="802175" cy="28289"/>
          </a:xfrm>
          <a:prstGeom prst="line">
            <a:avLst/>
          </a:prstGeom>
          <a:ln w="19050" cap="rnd">
            <a:solidFill>
              <a:srgbClr val="84BD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5" name="Freeform 45"/>
          <p:cNvSpPr/>
          <p:nvPr/>
        </p:nvSpPr>
        <p:spPr>
          <a:xfrm>
            <a:off x="7130186" y="4816021"/>
            <a:ext cx="666417" cy="654958"/>
          </a:xfrm>
          <a:custGeom>
            <a:avLst/>
            <a:gdLst/>
            <a:ahLst/>
            <a:cxnLst/>
            <a:rect l="l" t="t" r="r" b="b"/>
            <a:pathLst>
              <a:path w="666417" h="654958">
                <a:moveTo>
                  <a:pt x="0" y="0"/>
                </a:moveTo>
                <a:lnTo>
                  <a:pt x="666417" y="0"/>
                </a:lnTo>
                <a:lnTo>
                  <a:pt x="666417" y="654958"/>
                </a:lnTo>
                <a:lnTo>
                  <a:pt x="0" y="65495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0443124" y="6937453"/>
            <a:ext cx="727253" cy="555431"/>
          </a:xfrm>
          <a:custGeom>
            <a:avLst/>
            <a:gdLst/>
            <a:ahLst/>
            <a:cxnLst/>
            <a:rect l="l" t="t" r="r" b="b"/>
            <a:pathLst>
              <a:path w="727253" h="555431">
                <a:moveTo>
                  <a:pt x="0" y="0"/>
                </a:moveTo>
                <a:lnTo>
                  <a:pt x="727253" y="0"/>
                </a:lnTo>
                <a:lnTo>
                  <a:pt x="727253" y="555431"/>
                </a:lnTo>
                <a:lnTo>
                  <a:pt x="0" y="55543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7431750" y="455790"/>
            <a:ext cx="416319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</a:p>
        </p:txBody>
      </p:sp>
      <p:sp>
        <p:nvSpPr>
          <p:cNvPr id="7" name="Freeform 7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 rot="110880">
            <a:off x="819388" y="9779260"/>
            <a:ext cx="590855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 rot="5331480">
            <a:off x="8187880" y="927354"/>
            <a:ext cx="1912239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2313055" y="1217457"/>
            <a:ext cx="4070248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3600" b="1">
                <a:solidFill>
                  <a:srgbClr val="80808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Asynchronisme &amp; Event Loop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642378" y="2297725"/>
            <a:ext cx="3740925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Non-blocking I/O, boucle d'événements, comment Node tient des milliers de connexions sur un seul thread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038797" y="1915700"/>
            <a:ext cx="245878" cy="245878"/>
            <a:chOff x="0" y="0"/>
            <a:chExt cx="327838" cy="327838"/>
          </a:xfrm>
        </p:grpSpPr>
        <p:sp>
          <p:nvSpPr>
            <p:cNvPr id="14" name="Freeform 14"/>
            <p:cNvSpPr/>
            <p:nvPr/>
          </p:nvSpPr>
          <p:spPr>
            <a:xfrm>
              <a:off x="50800" y="50800"/>
              <a:ext cx="226314" cy="226314"/>
            </a:xfrm>
            <a:custGeom>
              <a:avLst/>
              <a:gdLst/>
              <a:ahLst/>
              <a:cxnLst/>
              <a:rect l="l" t="t" r="r" b="b"/>
              <a:pathLst>
                <a:path w="226314" h="226314">
                  <a:moveTo>
                    <a:pt x="0" y="113157"/>
                  </a:moveTo>
                  <a:cubicBezTo>
                    <a:pt x="0" y="50673"/>
                    <a:pt x="50673" y="0"/>
                    <a:pt x="113157" y="0"/>
                  </a:cubicBezTo>
                  <a:cubicBezTo>
                    <a:pt x="175641" y="0"/>
                    <a:pt x="226314" y="50673"/>
                    <a:pt x="226314" y="113157"/>
                  </a:cubicBezTo>
                  <a:cubicBezTo>
                    <a:pt x="226314" y="175641"/>
                    <a:pt x="175641" y="226314"/>
                    <a:pt x="113157" y="226314"/>
                  </a:cubicBezTo>
                  <a:cubicBezTo>
                    <a:pt x="50673" y="226314"/>
                    <a:pt x="0" y="175641"/>
                    <a:pt x="0" y="113157"/>
                  </a:cubicBezTo>
                  <a:close/>
                </a:path>
              </a:pathLst>
            </a:custGeom>
            <a:solidFill>
              <a:srgbClr val="ACC777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327914" cy="327914"/>
            </a:xfrm>
            <a:custGeom>
              <a:avLst/>
              <a:gdLst/>
              <a:ahLst/>
              <a:cxnLst/>
              <a:rect l="l" t="t" r="r" b="b"/>
              <a:pathLst>
                <a:path w="327914" h="327914">
                  <a:moveTo>
                    <a:pt x="0" y="163957"/>
                  </a:moveTo>
                  <a:cubicBezTo>
                    <a:pt x="0" y="73406"/>
                    <a:pt x="73406" y="0"/>
                    <a:pt x="163957" y="0"/>
                  </a:cubicBezTo>
                  <a:lnTo>
                    <a:pt x="163957" y="50800"/>
                  </a:lnTo>
                  <a:lnTo>
                    <a:pt x="163957" y="0"/>
                  </a:lnTo>
                  <a:cubicBezTo>
                    <a:pt x="254508" y="0"/>
                    <a:pt x="327914" y="73406"/>
                    <a:pt x="327914" y="163957"/>
                  </a:cubicBezTo>
                  <a:lnTo>
                    <a:pt x="277114" y="163957"/>
                  </a:lnTo>
                  <a:lnTo>
                    <a:pt x="327914" y="163957"/>
                  </a:lnTo>
                  <a:cubicBezTo>
                    <a:pt x="327914" y="254508"/>
                    <a:pt x="254508" y="327914"/>
                    <a:pt x="163957" y="327914"/>
                  </a:cubicBezTo>
                  <a:lnTo>
                    <a:pt x="163957" y="277114"/>
                  </a:lnTo>
                  <a:lnTo>
                    <a:pt x="163957" y="327914"/>
                  </a:lnTo>
                  <a:cubicBezTo>
                    <a:pt x="73406" y="327787"/>
                    <a:pt x="0" y="254508"/>
                    <a:pt x="0" y="163957"/>
                  </a:cubicBezTo>
                  <a:lnTo>
                    <a:pt x="50800" y="163957"/>
                  </a:lnTo>
                  <a:lnTo>
                    <a:pt x="101600" y="163957"/>
                  </a:lnTo>
                  <a:lnTo>
                    <a:pt x="50800" y="163957"/>
                  </a:lnTo>
                  <a:lnTo>
                    <a:pt x="0" y="163957"/>
                  </a:lnTo>
                  <a:moveTo>
                    <a:pt x="101600" y="163957"/>
                  </a:moveTo>
                  <a:cubicBezTo>
                    <a:pt x="101600" y="192024"/>
                    <a:pt x="78867" y="214757"/>
                    <a:pt x="50800" y="214757"/>
                  </a:cubicBezTo>
                  <a:cubicBezTo>
                    <a:pt x="22733" y="214757"/>
                    <a:pt x="0" y="192024"/>
                    <a:pt x="0" y="163957"/>
                  </a:cubicBezTo>
                  <a:cubicBezTo>
                    <a:pt x="0" y="135890"/>
                    <a:pt x="22733" y="113157"/>
                    <a:pt x="50800" y="113157"/>
                  </a:cubicBezTo>
                  <a:cubicBezTo>
                    <a:pt x="78867" y="113157"/>
                    <a:pt x="101600" y="135890"/>
                    <a:pt x="101600" y="163957"/>
                  </a:cubicBezTo>
                  <a:cubicBezTo>
                    <a:pt x="101600" y="198374"/>
                    <a:pt x="129540" y="226314"/>
                    <a:pt x="163957" y="226314"/>
                  </a:cubicBezTo>
                  <a:cubicBezTo>
                    <a:pt x="198374" y="226314"/>
                    <a:pt x="226314" y="198374"/>
                    <a:pt x="226314" y="163957"/>
                  </a:cubicBezTo>
                  <a:cubicBezTo>
                    <a:pt x="226314" y="129540"/>
                    <a:pt x="198374" y="101600"/>
                    <a:pt x="163957" y="101600"/>
                  </a:cubicBezTo>
                  <a:lnTo>
                    <a:pt x="163957" y="50800"/>
                  </a:lnTo>
                  <a:lnTo>
                    <a:pt x="163957" y="101600"/>
                  </a:lnTo>
                  <a:cubicBezTo>
                    <a:pt x="129540" y="101600"/>
                    <a:pt x="101600" y="129540"/>
                    <a:pt x="101600" y="163957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</p:grpSp>
      <p:sp>
        <p:nvSpPr>
          <p:cNvPr id="16" name="AutoShape 16"/>
          <p:cNvSpPr/>
          <p:nvPr/>
        </p:nvSpPr>
        <p:spPr>
          <a:xfrm>
            <a:off x="8252966" y="1991204"/>
            <a:ext cx="825244" cy="38095"/>
          </a:xfrm>
          <a:prstGeom prst="line">
            <a:avLst/>
          </a:prstGeom>
          <a:ln w="14287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7" name="Group 17"/>
          <p:cNvGrpSpPr/>
          <p:nvPr/>
        </p:nvGrpSpPr>
        <p:grpSpPr>
          <a:xfrm>
            <a:off x="6640732" y="1247864"/>
            <a:ext cx="1581550" cy="1581550"/>
            <a:chOff x="0" y="0"/>
            <a:chExt cx="2108733" cy="210873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08708" cy="2108708"/>
            </a:xfrm>
            <a:custGeom>
              <a:avLst/>
              <a:gdLst/>
              <a:ahLst/>
              <a:cxnLst/>
              <a:rect l="l" t="t" r="r" b="b"/>
              <a:pathLst>
                <a:path w="2108708" h="2108708">
                  <a:moveTo>
                    <a:pt x="0" y="0"/>
                  </a:moveTo>
                  <a:lnTo>
                    <a:pt x="2108708" y="0"/>
                  </a:lnTo>
                  <a:lnTo>
                    <a:pt x="2108708" y="2108708"/>
                  </a:lnTo>
                  <a:lnTo>
                    <a:pt x="0" y="2108708"/>
                  </a:lnTo>
                  <a:close/>
                </a:path>
              </a:pathLst>
            </a:custGeom>
            <a:solidFill>
              <a:srgbClr val="ACC777"/>
            </a:solidFill>
          </p:spPr>
        </p:sp>
      </p:grpSp>
      <p:sp>
        <p:nvSpPr>
          <p:cNvPr id="19" name="AutoShape 19"/>
          <p:cNvSpPr/>
          <p:nvPr/>
        </p:nvSpPr>
        <p:spPr>
          <a:xfrm flipH="1" flipV="1">
            <a:off x="9163056" y="3972745"/>
            <a:ext cx="46735" cy="2431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0" name="Group 20"/>
          <p:cNvGrpSpPr/>
          <p:nvPr/>
        </p:nvGrpSpPr>
        <p:grpSpPr>
          <a:xfrm>
            <a:off x="9021061" y="3938969"/>
            <a:ext cx="245878" cy="245878"/>
            <a:chOff x="0" y="0"/>
            <a:chExt cx="327838" cy="327838"/>
          </a:xfrm>
        </p:grpSpPr>
        <p:sp>
          <p:nvSpPr>
            <p:cNvPr id="21" name="Freeform 21"/>
            <p:cNvSpPr/>
            <p:nvPr/>
          </p:nvSpPr>
          <p:spPr>
            <a:xfrm>
              <a:off x="50800" y="50800"/>
              <a:ext cx="226314" cy="226314"/>
            </a:xfrm>
            <a:custGeom>
              <a:avLst/>
              <a:gdLst/>
              <a:ahLst/>
              <a:cxnLst/>
              <a:rect l="l" t="t" r="r" b="b"/>
              <a:pathLst>
                <a:path w="226314" h="226314">
                  <a:moveTo>
                    <a:pt x="0" y="113157"/>
                  </a:moveTo>
                  <a:cubicBezTo>
                    <a:pt x="0" y="50673"/>
                    <a:pt x="50673" y="0"/>
                    <a:pt x="113157" y="0"/>
                  </a:cubicBezTo>
                  <a:cubicBezTo>
                    <a:pt x="175641" y="0"/>
                    <a:pt x="226314" y="50673"/>
                    <a:pt x="226314" y="113157"/>
                  </a:cubicBezTo>
                  <a:cubicBezTo>
                    <a:pt x="226314" y="175641"/>
                    <a:pt x="175641" y="226314"/>
                    <a:pt x="113157" y="226314"/>
                  </a:cubicBezTo>
                  <a:cubicBezTo>
                    <a:pt x="50673" y="226314"/>
                    <a:pt x="0" y="175641"/>
                    <a:pt x="0" y="113157"/>
                  </a:cubicBezTo>
                  <a:close/>
                </a:path>
              </a:pathLst>
            </a:custGeom>
            <a:solidFill>
              <a:srgbClr val="77933C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0"/>
              <a:ext cx="327914" cy="327914"/>
            </a:xfrm>
            <a:custGeom>
              <a:avLst/>
              <a:gdLst/>
              <a:ahLst/>
              <a:cxnLst/>
              <a:rect l="l" t="t" r="r" b="b"/>
              <a:pathLst>
                <a:path w="327914" h="327914">
                  <a:moveTo>
                    <a:pt x="0" y="163957"/>
                  </a:moveTo>
                  <a:cubicBezTo>
                    <a:pt x="0" y="73406"/>
                    <a:pt x="73406" y="0"/>
                    <a:pt x="163957" y="0"/>
                  </a:cubicBezTo>
                  <a:lnTo>
                    <a:pt x="163957" y="50800"/>
                  </a:lnTo>
                  <a:lnTo>
                    <a:pt x="163957" y="0"/>
                  </a:lnTo>
                  <a:cubicBezTo>
                    <a:pt x="254508" y="0"/>
                    <a:pt x="327914" y="73406"/>
                    <a:pt x="327914" y="163957"/>
                  </a:cubicBezTo>
                  <a:lnTo>
                    <a:pt x="277114" y="163957"/>
                  </a:lnTo>
                  <a:lnTo>
                    <a:pt x="327914" y="163957"/>
                  </a:lnTo>
                  <a:cubicBezTo>
                    <a:pt x="327914" y="254508"/>
                    <a:pt x="254508" y="327914"/>
                    <a:pt x="163957" y="327914"/>
                  </a:cubicBezTo>
                  <a:lnTo>
                    <a:pt x="163957" y="277114"/>
                  </a:lnTo>
                  <a:lnTo>
                    <a:pt x="163957" y="327914"/>
                  </a:lnTo>
                  <a:cubicBezTo>
                    <a:pt x="73406" y="327787"/>
                    <a:pt x="0" y="254508"/>
                    <a:pt x="0" y="163957"/>
                  </a:cubicBezTo>
                  <a:lnTo>
                    <a:pt x="50800" y="163957"/>
                  </a:lnTo>
                  <a:lnTo>
                    <a:pt x="101600" y="163957"/>
                  </a:lnTo>
                  <a:lnTo>
                    <a:pt x="50800" y="163957"/>
                  </a:lnTo>
                  <a:lnTo>
                    <a:pt x="0" y="163957"/>
                  </a:lnTo>
                  <a:moveTo>
                    <a:pt x="101600" y="163957"/>
                  </a:moveTo>
                  <a:cubicBezTo>
                    <a:pt x="101600" y="192024"/>
                    <a:pt x="78867" y="214757"/>
                    <a:pt x="50800" y="214757"/>
                  </a:cubicBezTo>
                  <a:cubicBezTo>
                    <a:pt x="22733" y="214757"/>
                    <a:pt x="0" y="192024"/>
                    <a:pt x="0" y="163957"/>
                  </a:cubicBezTo>
                  <a:cubicBezTo>
                    <a:pt x="0" y="135890"/>
                    <a:pt x="22733" y="113157"/>
                    <a:pt x="50800" y="113157"/>
                  </a:cubicBezTo>
                  <a:cubicBezTo>
                    <a:pt x="78867" y="113157"/>
                    <a:pt x="101600" y="135890"/>
                    <a:pt x="101600" y="163957"/>
                  </a:cubicBezTo>
                  <a:cubicBezTo>
                    <a:pt x="101600" y="198374"/>
                    <a:pt x="129540" y="226314"/>
                    <a:pt x="163957" y="226314"/>
                  </a:cubicBezTo>
                  <a:cubicBezTo>
                    <a:pt x="198374" y="226314"/>
                    <a:pt x="226314" y="198374"/>
                    <a:pt x="226314" y="163957"/>
                  </a:cubicBezTo>
                  <a:cubicBezTo>
                    <a:pt x="226314" y="129540"/>
                    <a:pt x="198374" y="101600"/>
                    <a:pt x="163957" y="101600"/>
                  </a:cubicBezTo>
                  <a:lnTo>
                    <a:pt x="163957" y="50800"/>
                  </a:lnTo>
                  <a:lnTo>
                    <a:pt x="163957" y="101600"/>
                  </a:lnTo>
                  <a:cubicBezTo>
                    <a:pt x="129540" y="101600"/>
                    <a:pt x="101600" y="129540"/>
                    <a:pt x="101600" y="163957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</p:grpSp>
      <p:sp>
        <p:nvSpPr>
          <p:cNvPr id="23" name="AutoShape 23"/>
          <p:cNvSpPr/>
          <p:nvPr/>
        </p:nvSpPr>
        <p:spPr>
          <a:xfrm rot="158580">
            <a:off x="9209351" y="4080672"/>
            <a:ext cx="82612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4" name="Group 24"/>
          <p:cNvGrpSpPr/>
          <p:nvPr/>
        </p:nvGrpSpPr>
        <p:grpSpPr>
          <a:xfrm>
            <a:off x="10015976" y="3299422"/>
            <a:ext cx="1581550" cy="1581550"/>
            <a:chOff x="0" y="0"/>
            <a:chExt cx="2108733" cy="210873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108708" cy="2108708"/>
            </a:xfrm>
            <a:custGeom>
              <a:avLst/>
              <a:gdLst/>
              <a:ahLst/>
              <a:cxnLst/>
              <a:rect l="l" t="t" r="r" b="b"/>
              <a:pathLst>
                <a:path w="2108708" h="2108708">
                  <a:moveTo>
                    <a:pt x="0" y="0"/>
                  </a:moveTo>
                  <a:lnTo>
                    <a:pt x="2108708" y="0"/>
                  </a:lnTo>
                  <a:lnTo>
                    <a:pt x="2108708" y="2108708"/>
                  </a:lnTo>
                  <a:lnTo>
                    <a:pt x="0" y="2108708"/>
                  </a:lnTo>
                  <a:close/>
                </a:path>
              </a:pathLst>
            </a:custGeom>
            <a:solidFill>
              <a:srgbClr val="77933C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11966953" y="3335617"/>
            <a:ext cx="3397634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80808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Modules &amp; npm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966953" y="3932806"/>
            <a:ext cx="5070819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L'organisation du code en modules (CommonJS, ESM), le rôle de package.json,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et l'écosystème npm.</a:t>
            </a:r>
          </a:p>
          <a:p>
            <a:pPr algn="l">
              <a:lnSpc>
                <a:spcPts val="2160"/>
              </a:lnSpc>
            </a:pPr>
            <a:endParaRPr lang="en-US" sz="1800">
              <a:solidFill>
                <a:srgbClr val="A6A6A6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28" name="AutoShape 28"/>
          <p:cNvSpPr/>
          <p:nvPr/>
        </p:nvSpPr>
        <p:spPr>
          <a:xfrm rot="5331480">
            <a:off x="8187880" y="5068891"/>
            <a:ext cx="1912239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TextBox 29"/>
          <p:cNvSpPr txBox="1"/>
          <p:nvPr/>
        </p:nvSpPr>
        <p:spPr>
          <a:xfrm>
            <a:off x="1955940" y="5337934"/>
            <a:ext cx="4436887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3600" b="1">
                <a:solidFill>
                  <a:srgbClr val="80808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Modules natifs &amp; HTTP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9008620" y="5962750"/>
            <a:ext cx="245878" cy="245878"/>
            <a:chOff x="0" y="0"/>
            <a:chExt cx="327838" cy="327838"/>
          </a:xfrm>
        </p:grpSpPr>
        <p:sp>
          <p:nvSpPr>
            <p:cNvPr id="31" name="Freeform 31"/>
            <p:cNvSpPr/>
            <p:nvPr/>
          </p:nvSpPr>
          <p:spPr>
            <a:xfrm>
              <a:off x="50800" y="50800"/>
              <a:ext cx="226314" cy="226314"/>
            </a:xfrm>
            <a:custGeom>
              <a:avLst/>
              <a:gdLst/>
              <a:ahLst/>
              <a:cxnLst/>
              <a:rect l="l" t="t" r="r" b="b"/>
              <a:pathLst>
                <a:path w="226314" h="226314">
                  <a:moveTo>
                    <a:pt x="0" y="113157"/>
                  </a:moveTo>
                  <a:cubicBezTo>
                    <a:pt x="0" y="50673"/>
                    <a:pt x="50673" y="0"/>
                    <a:pt x="113157" y="0"/>
                  </a:cubicBezTo>
                  <a:cubicBezTo>
                    <a:pt x="175641" y="0"/>
                    <a:pt x="226314" y="50673"/>
                    <a:pt x="226314" y="113157"/>
                  </a:cubicBezTo>
                  <a:cubicBezTo>
                    <a:pt x="226314" y="175641"/>
                    <a:pt x="175641" y="226314"/>
                    <a:pt x="113157" y="226314"/>
                  </a:cubicBezTo>
                  <a:cubicBezTo>
                    <a:pt x="50673" y="226314"/>
                    <a:pt x="0" y="175641"/>
                    <a:pt x="0" y="113157"/>
                  </a:cubicBezTo>
                  <a:close/>
                </a:path>
              </a:pathLst>
            </a:custGeom>
            <a:solidFill>
              <a:srgbClr val="C0D498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0" y="0"/>
              <a:ext cx="327914" cy="327914"/>
            </a:xfrm>
            <a:custGeom>
              <a:avLst/>
              <a:gdLst/>
              <a:ahLst/>
              <a:cxnLst/>
              <a:rect l="l" t="t" r="r" b="b"/>
              <a:pathLst>
                <a:path w="327914" h="327914">
                  <a:moveTo>
                    <a:pt x="0" y="163957"/>
                  </a:moveTo>
                  <a:cubicBezTo>
                    <a:pt x="0" y="73406"/>
                    <a:pt x="73406" y="0"/>
                    <a:pt x="163957" y="0"/>
                  </a:cubicBezTo>
                  <a:lnTo>
                    <a:pt x="163957" y="50800"/>
                  </a:lnTo>
                  <a:lnTo>
                    <a:pt x="163957" y="0"/>
                  </a:lnTo>
                  <a:cubicBezTo>
                    <a:pt x="254508" y="0"/>
                    <a:pt x="327914" y="73406"/>
                    <a:pt x="327914" y="163957"/>
                  </a:cubicBezTo>
                  <a:lnTo>
                    <a:pt x="277114" y="163957"/>
                  </a:lnTo>
                  <a:lnTo>
                    <a:pt x="327914" y="163957"/>
                  </a:lnTo>
                  <a:cubicBezTo>
                    <a:pt x="327914" y="254508"/>
                    <a:pt x="254508" y="327914"/>
                    <a:pt x="163957" y="327914"/>
                  </a:cubicBezTo>
                  <a:lnTo>
                    <a:pt x="163957" y="277114"/>
                  </a:lnTo>
                  <a:lnTo>
                    <a:pt x="163957" y="327914"/>
                  </a:lnTo>
                  <a:cubicBezTo>
                    <a:pt x="73406" y="327787"/>
                    <a:pt x="0" y="254508"/>
                    <a:pt x="0" y="163957"/>
                  </a:cubicBezTo>
                  <a:lnTo>
                    <a:pt x="50800" y="163957"/>
                  </a:lnTo>
                  <a:lnTo>
                    <a:pt x="101600" y="163957"/>
                  </a:lnTo>
                  <a:lnTo>
                    <a:pt x="50800" y="163957"/>
                  </a:lnTo>
                  <a:lnTo>
                    <a:pt x="0" y="163957"/>
                  </a:lnTo>
                  <a:moveTo>
                    <a:pt x="101600" y="163957"/>
                  </a:moveTo>
                  <a:cubicBezTo>
                    <a:pt x="101600" y="192024"/>
                    <a:pt x="78867" y="214757"/>
                    <a:pt x="50800" y="214757"/>
                  </a:cubicBezTo>
                  <a:cubicBezTo>
                    <a:pt x="22733" y="214757"/>
                    <a:pt x="0" y="192024"/>
                    <a:pt x="0" y="163957"/>
                  </a:cubicBezTo>
                  <a:cubicBezTo>
                    <a:pt x="0" y="135890"/>
                    <a:pt x="22733" y="113157"/>
                    <a:pt x="50800" y="113157"/>
                  </a:cubicBezTo>
                  <a:cubicBezTo>
                    <a:pt x="78867" y="113157"/>
                    <a:pt x="101600" y="135890"/>
                    <a:pt x="101600" y="163957"/>
                  </a:cubicBezTo>
                  <a:cubicBezTo>
                    <a:pt x="101600" y="198374"/>
                    <a:pt x="129540" y="226314"/>
                    <a:pt x="163957" y="226314"/>
                  </a:cubicBezTo>
                  <a:cubicBezTo>
                    <a:pt x="198374" y="226314"/>
                    <a:pt x="226314" y="198374"/>
                    <a:pt x="226314" y="163957"/>
                  </a:cubicBezTo>
                  <a:cubicBezTo>
                    <a:pt x="226314" y="129540"/>
                    <a:pt x="198374" y="101600"/>
                    <a:pt x="163957" y="101600"/>
                  </a:cubicBezTo>
                  <a:lnTo>
                    <a:pt x="163957" y="50800"/>
                  </a:lnTo>
                  <a:lnTo>
                    <a:pt x="163957" y="101600"/>
                  </a:lnTo>
                  <a:cubicBezTo>
                    <a:pt x="129540" y="101600"/>
                    <a:pt x="101600" y="129540"/>
                    <a:pt x="101600" y="163957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</p:grpSp>
      <p:sp>
        <p:nvSpPr>
          <p:cNvPr id="33" name="AutoShape 33"/>
          <p:cNvSpPr/>
          <p:nvPr/>
        </p:nvSpPr>
        <p:spPr>
          <a:xfrm rot="158580">
            <a:off x="8252527" y="6142263"/>
            <a:ext cx="82612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4" name="Group 34"/>
          <p:cNvGrpSpPr/>
          <p:nvPr/>
        </p:nvGrpSpPr>
        <p:grpSpPr>
          <a:xfrm>
            <a:off x="6660260" y="5323203"/>
            <a:ext cx="1581550" cy="1581550"/>
            <a:chOff x="0" y="0"/>
            <a:chExt cx="2108733" cy="210873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108708" cy="2108708"/>
            </a:xfrm>
            <a:custGeom>
              <a:avLst/>
              <a:gdLst/>
              <a:ahLst/>
              <a:cxnLst/>
              <a:rect l="l" t="t" r="r" b="b"/>
              <a:pathLst>
                <a:path w="2108708" h="2108708">
                  <a:moveTo>
                    <a:pt x="0" y="0"/>
                  </a:moveTo>
                  <a:lnTo>
                    <a:pt x="2108708" y="0"/>
                  </a:lnTo>
                  <a:lnTo>
                    <a:pt x="2108708" y="2108708"/>
                  </a:lnTo>
                  <a:lnTo>
                    <a:pt x="0" y="2108708"/>
                  </a:lnTo>
                  <a:close/>
                </a:path>
              </a:pathLst>
            </a:custGeom>
            <a:solidFill>
              <a:srgbClr val="C0D498"/>
            </a:solidFill>
          </p:spPr>
        </p:sp>
      </p:grpSp>
      <p:sp>
        <p:nvSpPr>
          <p:cNvPr id="36" name="AutoShape 36"/>
          <p:cNvSpPr/>
          <p:nvPr/>
        </p:nvSpPr>
        <p:spPr>
          <a:xfrm rot="5331480">
            <a:off x="8187880" y="7148827"/>
            <a:ext cx="1912239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7" name="Group 37"/>
          <p:cNvGrpSpPr/>
          <p:nvPr/>
        </p:nvGrpSpPr>
        <p:grpSpPr>
          <a:xfrm>
            <a:off x="9021061" y="8080505"/>
            <a:ext cx="245878" cy="245878"/>
            <a:chOff x="0" y="0"/>
            <a:chExt cx="327838" cy="327838"/>
          </a:xfrm>
        </p:grpSpPr>
        <p:sp>
          <p:nvSpPr>
            <p:cNvPr id="38" name="Freeform 38"/>
            <p:cNvSpPr/>
            <p:nvPr/>
          </p:nvSpPr>
          <p:spPr>
            <a:xfrm>
              <a:off x="50800" y="50800"/>
              <a:ext cx="226314" cy="226314"/>
            </a:xfrm>
            <a:custGeom>
              <a:avLst/>
              <a:gdLst/>
              <a:ahLst/>
              <a:cxnLst/>
              <a:rect l="l" t="t" r="r" b="b"/>
              <a:pathLst>
                <a:path w="226314" h="226314">
                  <a:moveTo>
                    <a:pt x="0" y="113157"/>
                  </a:moveTo>
                  <a:cubicBezTo>
                    <a:pt x="0" y="50673"/>
                    <a:pt x="50673" y="0"/>
                    <a:pt x="113157" y="0"/>
                  </a:cubicBezTo>
                  <a:cubicBezTo>
                    <a:pt x="175641" y="0"/>
                    <a:pt x="226314" y="50673"/>
                    <a:pt x="226314" y="113157"/>
                  </a:cubicBezTo>
                  <a:cubicBezTo>
                    <a:pt x="226314" y="175641"/>
                    <a:pt x="175641" y="226314"/>
                    <a:pt x="113157" y="226314"/>
                  </a:cubicBezTo>
                  <a:cubicBezTo>
                    <a:pt x="50673" y="226314"/>
                    <a:pt x="0" y="175641"/>
                    <a:pt x="0" y="113157"/>
                  </a:cubicBezTo>
                  <a:close/>
                </a:path>
              </a:pathLst>
            </a:custGeom>
            <a:solidFill>
              <a:srgbClr val="D0DFB3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0" y="0"/>
              <a:ext cx="327914" cy="327914"/>
            </a:xfrm>
            <a:custGeom>
              <a:avLst/>
              <a:gdLst/>
              <a:ahLst/>
              <a:cxnLst/>
              <a:rect l="l" t="t" r="r" b="b"/>
              <a:pathLst>
                <a:path w="327914" h="327914">
                  <a:moveTo>
                    <a:pt x="0" y="163957"/>
                  </a:moveTo>
                  <a:cubicBezTo>
                    <a:pt x="0" y="73406"/>
                    <a:pt x="73406" y="0"/>
                    <a:pt x="163957" y="0"/>
                  </a:cubicBezTo>
                  <a:lnTo>
                    <a:pt x="163957" y="50800"/>
                  </a:lnTo>
                  <a:lnTo>
                    <a:pt x="163957" y="0"/>
                  </a:lnTo>
                  <a:cubicBezTo>
                    <a:pt x="254508" y="0"/>
                    <a:pt x="327914" y="73406"/>
                    <a:pt x="327914" y="163957"/>
                  </a:cubicBezTo>
                  <a:lnTo>
                    <a:pt x="277114" y="163957"/>
                  </a:lnTo>
                  <a:lnTo>
                    <a:pt x="327914" y="163957"/>
                  </a:lnTo>
                  <a:cubicBezTo>
                    <a:pt x="327914" y="254508"/>
                    <a:pt x="254508" y="327914"/>
                    <a:pt x="163957" y="327914"/>
                  </a:cubicBezTo>
                  <a:lnTo>
                    <a:pt x="163957" y="277114"/>
                  </a:lnTo>
                  <a:lnTo>
                    <a:pt x="163957" y="327914"/>
                  </a:lnTo>
                  <a:cubicBezTo>
                    <a:pt x="73406" y="327787"/>
                    <a:pt x="0" y="254508"/>
                    <a:pt x="0" y="163957"/>
                  </a:cubicBezTo>
                  <a:lnTo>
                    <a:pt x="50800" y="163957"/>
                  </a:lnTo>
                  <a:lnTo>
                    <a:pt x="101600" y="163957"/>
                  </a:lnTo>
                  <a:lnTo>
                    <a:pt x="50800" y="163957"/>
                  </a:lnTo>
                  <a:lnTo>
                    <a:pt x="0" y="163957"/>
                  </a:lnTo>
                  <a:moveTo>
                    <a:pt x="101600" y="163957"/>
                  </a:moveTo>
                  <a:cubicBezTo>
                    <a:pt x="101600" y="192024"/>
                    <a:pt x="78867" y="214757"/>
                    <a:pt x="50800" y="214757"/>
                  </a:cubicBezTo>
                  <a:cubicBezTo>
                    <a:pt x="22733" y="214757"/>
                    <a:pt x="0" y="192024"/>
                    <a:pt x="0" y="163957"/>
                  </a:cubicBezTo>
                  <a:cubicBezTo>
                    <a:pt x="0" y="135890"/>
                    <a:pt x="22733" y="113157"/>
                    <a:pt x="50800" y="113157"/>
                  </a:cubicBezTo>
                  <a:cubicBezTo>
                    <a:pt x="78867" y="113157"/>
                    <a:pt x="101600" y="135890"/>
                    <a:pt x="101600" y="163957"/>
                  </a:cubicBezTo>
                  <a:cubicBezTo>
                    <a:pt x="101600" y="198374"/>
                    <a:pt x="129540" y="226314"/>
                    <a:pt x="163957" y="226314"/>
                  </a:cubicBezTo>
                  <a:cubicBezTo>
                    <a:pt x="198374" y="226314"/>
                    <a:pt x="226314" y="198374"/>
                    <a:pt x="226314" y="163957"/>
                  </a:cubicBezTo>
                  <a:cubicBezTo>
                    <a:pt x="226314" y="129540"/>
                    <a:pt x="198374" y="101600"/>
                    <a:pt x="163957" y="101600"/>
                  </a:cubicBezTo>
                  <a:lnTo>
                    <a:pt x="163957" y="50800"/>
                  </a:lnTo>
                  <a:lnTo>
                    <a:pt x="163957" y="101600"/>
                  </a:lnTo>
                  <a:cubicBezTo>
                    <a:pt x="129540" y="101600"/>
                    <a:pt x="101600" y="129540"/>
                    <a:pt x="101600" y="163957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</p:grpSp>
      <p:sp>
        <p:nvSpPr>
          <p:cNvPr id="40" name="AutoShape 40"/>
          <p:cNvSpPr/>
          <p:nvPr/>
        </p:nvSpPr>
        <p:spPr>
          <a:xfrm rot="158580">
            <a:off x="9209351" y="8222199"/>
            <a:ext cx="82612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1" name="Group 41"/>
          <p:cNvGrpSpPr/>
          <p:nvPr/>
        </p:nvGrpSpPr>
        <p:grpSpPr>
          <a:xfrm>
            <a:off x="10015976" y="7440949"/>
            <a:ext cx="1581550" cy="1581550"/>
            <a:chOff x="0" y="0"/>
            <a:chExt cx="2108733" cy="210873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108708" cy="2108708"/>
            </a:xfrm>
            <a:custGeom>
              <a:avLst/>
              <a:gdLst/>
              <a:ahLst/>
              <a:cxnLst/>
              <a:rect l="l" t="t" r="r" b="b"/>
              <a:pathLst>
                <a:path w="2108708" h="2108708">
                  <a:moveTo>
                    <a:pt x="0" y="0"/>
                  </a:moveTo>
                  <a:lnTo>
                    <a:pt x="2108708" y="0"/>
                  </a:lnTo>
                  <a:lnTo>
                    <a:pt x="2108708" y="2108708"/>
                  </a:lnTo>
                  <a:lnTo>
                    <a:pt x="0" y="2108708"/>
                  </a:lnTo>
                  <a:close/>
                </a:path>
              </a:pathLst>
            </a:custGeom>
            <a:solidFill>
              <a:srgbClr val="D0DFB3"/>
            </a:solidFill>
          </p:spPr>
        </p:sp>
      </p:grpSp>
      <p:sp>
        <p:nvSpPr>
          <p:cNvPr id="43" name="TextBox 43"/>
          <p:cNvSpPr txBox="1"/>
          <p:nvPr/>
        </p:nvSpPr>
        <p:spPr>
          <a:xfrm>
            <a:off x="11966953" y="7477144"/>
            <a:ext cx="3589682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80808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URL &amp; Routage</a:t>
            </a:r>
          </a:p>
        </p:txBody>
      </p:sp>
      <p:sp>
        <p:nvSpPr>
          <p:cNvPr id="44" name="AutoShape 44"/>
          <p:cNvSpPr/>
          <p:nvPr/>
        </p:nvSpPr>
        <p:spPr>
          <a:xfrm rot="5335020">
            <a:off x="8136074" y="9288780"/>
            <a:ext cx="201585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5" name="Freeform 45"/>
          <p:cNvSpPr/>
          <p:nvPr/>
        </p:nvSpPr>
        <p:spPr>
          <a:xfrm>
            <a:off x="7138873" y="1657617"/>
            <a:ext cx="649205" cy="648719"/>
          </a:xfrm>
          <a:custGeom>
            <a:avLst/>
            <a:gdLst/>
            <a:ahLst/>
            <a:cxnLst/>
            <a:rect l="l" t="t" r="r" b="b"/>
            <a:pathLst>
              <a:path w="649205" h="648719">
                <a:moveTo>
                  <a:pt x="0" y="0"/>
                </a:moveTo>
                <a:lnTo>
                  <a:pt x="649205" y="0"/>
                </a:lnTo>
                <a:lnTo>
                  <a:pt x="649205" y="648719"/>
                </a:lnTo>
                <a:lnTo>
                  <a:pt x="0" y="6487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0490921" y="3749459"/>
            <a:ext cx="631660" cy="624897"/>
          </a:xfrm>
          <a:custGeom>
            <a:avLst/>
            <a:gdLst/>
            <a:ahLst/>
            <a:cxnLst/>
            <a:rect l="l" t="t" r="r" b="b"/>
            <a:pathLst>
              <a:path w="631660" h="624897">
                <a:moveTo>
                  <a:pt x="0" y="0"/>
                </a:moveTo>
                <a:lnTo>
                  <a:pt x="631660" y="0"/>
                </a:lnTo>
                <a:lnTo>
                  <a:pt x="631660" y="624897"/>
                </a:lnTo>
                <a:lnTo>
                  <a:pt x="0" y="6248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7131015" y="5942152"/>
            <a:ext cx="671208" cy="504111"/>
          </a:xfrm>
          <a:custGeom>
            <a:avLst/>
            <a:gdLst/>
            <a:ahLst/>
            <a:cxnLst/>
            <a:rect l="l" t="t" r="r" b="b"/>
            <a:pathLst>
              <a:path w="671208" h="504111">
                <a:moveTo>
                  <a:pt x="0" y="0"/>
                </a:moveTo>
                <a:lnTo>
                  <a:pt x="671208" y="0"/>
                </a:lnTo>
                <a:lnTo>
                  <a:pt x="671208" y="504111"/>
                </a:lnTo>
                <a:lnTo>
                  <a:pt x="0" y="5041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10533345" y="7850038"/>
            <a:ext cx="552526" cy="735092"/>
          </a:xfrm>
          <a:custGeom>
            <a:avLst/>
            <a:gdLst/>
            <a:ahLst/>
            <a:cxnLst/>
            <a:rect l="l" t="t" r="r" b="b"/>
            <a:pathLst>
              <a:path w="552526" h="735092">
                <a:moveTo>
                  <a:pt x="0" y="0"/>
                </a:moveTo>
                <a:lnTo>
                  <a:pt x="552526" y="0"/>
                </a:lnTo>
                <a:lnTo>
                  <a:pt x="552526" y="735092"/>
                </a:lnTo>
                <a:lnTo>
                  <a:pt x="0" y="73509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49" name="Group 49"/>
          <p:cNvGrpSpPr/>
          <p:nvPr/>
        </p:nvGrpSpPr>
        <p:grpSpPr>
          <a:xfrm>
            <a:off x="6672701" y="2670724"/>
            <a:ext cx="1581550" cy="130302"/>
            <a:chOff x="0" y="0"/>
            <a:chExt cx="2108733" cy="173736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108708" cy="173736"/>
            </a:xfrm>
            <a:custGeom>
              <a:avLst/>
              <a:gdLst/>
              <a:ahLst/>
              <a:cxnLst/>
              <a:rect l="l" t="t" r="r" b="b"/>
              <a:pathLst>
                <a:path w="2108708" h="173736">
                  <a:moveTo>
                    <a:pt x="0" y="0"/>
                  </a:moveTo>
                  <a:lnTo>
                    <a:pt x="2108708" y="0"/>
                  </a:lnTo>
                  <a:lnTo>
                    <a:pt x="2108708" y="173736"/>
                  </a:lnTo>
                  <a:lnTo>
                    <a:pt x="0" y="173736"/>
                  </a:lnTo>
                  <a:close/>
                </a:path>
              </a:pathLst>
            </a:custGeom>
            <a:solidFill>
              <a:srgbClr val="87A946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10012347" y="4750660"/>
            <a:ext cx="1581550" cy="130302"/>
            <a:chOff x="0" y="0"/>
            <a:chExt cx="2108733" cy="173736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108708" cy="173736"/>
            </a:xfrm>
            <a:custGeom>
              <a:avLst/>
              <a:gdLst/>
              <a:ahLst/>
              <a:cxnLst/>
              <a:rect l="l" t="t" r="r" b="b"/>
              <a:pathLst>
                <a:path w="2108708" h="173736">
                  <a:moveTo>
                    <a:pt x="0" y="0"/>
                  </a:moveTo>
                  <a:lnTo>
                    <a:pt x="2108708" y="0"/>
                  </a:lnTo>
                  <a:lnTo>
                    <a:pt x="2108708" y="173736"/>
                  </a:lnTo>
                  <a:lnTo>
                    <a:pt x="0" y="173736"/>
                  </a:lnTo>
                  <a:close/>
                </a:path>
              </a:pathLst>
            </a:custGeom>
            <a:solidFill>
              <a:srgbClr val="596E2D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6672701" y="6812251"/>
            <a:ext cx="1581550" cy="130302"/>
            <a:chOff x="0" y="0"/>
            <a:chExt cx="2108733" cy="173736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108708" cy="173736"/>
            </a:xfrm>
            <a:custGeom>
              <a:avLst/>
              <a:gdLst/>
              <a:ahLst/>
              <a:cxnLst/>
              <a:rect l="l" t="t" r="r" b="b"/>
              <a:pathLst>
                <a:path w="2108708" h="173736">
                  <a:moveTo>
                    <a:pt x="0" y="0"/>
                  </a:moveTo>
                  <a:lnTo>
                    <a:pt x="2108708" y="0"/>
                  </a:lnTo>
                  <a:lnTo>
                    <a:pt x="2108708" y="173736"/>
                  </a:lnTo>
                  <a:lnTo>
                    <a:pt x="0" y="173736"/>
                  </a:lnTo>
                  <a:close/>
                </a:path>
              </a:pathLst>
            </a:custGeom>
            <a:solidFill>
              <a:srgbClr val="99B958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10012347" y="8890968"/>
            <a:ext cx="1581550" cy="130302"/>
            <a:chOff x="0" y="0"/>
            <a:chExt cx="2108733" cy="173736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108708" cy="173736"/>
            </a:xfrm>
            <a:custGeom>
              <a:avLst/>
              <a:gdLst/>
              <a:ahLst/>
              <a:cxnLst/>
              <a:rect l="l" t="t" r="r" b="b"/>
              <a:pathLst>
                <a:path w="2108708" h="173736">
                  <a:moveTo>
                    <a:pt x="0" y="0"/>
                  </a:moveTo>
                  <a:lnTo>
                    <a:pt x="2108708" y="0"/>
                  </a:lnTo>
                  <a:lnTo>
                    <a:pt x="2108708" y="173736"/>
                  </a:lnTo>
                  <a:lnTo>
                    <a:pt x="0" y="173736"/>
                  </a:lnTo>
                  <a:close/>
                </a:path>
              </a:pathLst>
            </a:custGeom>
            <a:solidFill>
              <a:srgbClr val="A4C16C"/>
            </a:solidFill>
          </p:spPr>
        </p:sp>
      </p:grpSp>
      <p:sp>
        <p:nvSpPr>
          <p:cNvPr id="57" name="Freeform 57"/>
          <p:cNvSpPr/>
          <p:nvPr/>
        </p:nvSpPr>
        <p:spPr>
          <a:xfrm>
            <a:off x="7153018" y="1568449"/>
            <a:ext cx="649205" cy="648719"/>
          </a:xfrm>
          <a:custGeom>
            <a:avLst/>
            <a:gdLst/>
            <a:ahLst/>
            <a:cxnLst/>
            <a:rect l="l" t="t" r="r" b="b"/>
            <a:pathLst>
              <a:path w="649205" h="648719">
                <a:moveTo>
                  <a:pt x="0" y="0"/>
                </a:moveTo>
                <a:lnTo>
                  <a:pt x="649205" y="0"/>
                </a:lnTo>
                <a:lnTo>
                  <a:pt x="649205" y="648719"/>
                </a:lnTo>
                <a:lnTo>
                  <a:pt x="0" y="64871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58" name="AutoShape 58"/>
          <p:cNvSpPr/>
          <p:nvPr/>
        </p:nvSpPr>
        <p:spPr>
          <a:xfrm>
            <a:off x="9087732" y="74196"/>
            <a:ext cx="69376" cy="1841590"/>
          </a:xfrm>
          <a:prstGeom prst="line">
            <a:avLst/>
          </a:prstGeom>
          <a:ln w="19050" cap="rnd">
            <a:solidFill>
              <a:srgbClr val="84BDE4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59" name="AutoShape 59"/>
          <p:cNvSpPr/>
          <p:nvPr/>
        </p:nvSpPr>
        <p:spPr>
          <a:xfrm>
            <a:off x="8222263" y="2038639"/>
            <a:ext cx="816534" cy="0"/>
          </a:xfrm>
          <a:prstGeom prst="line">
            <a:avLst/>
          </a:prstGeom>
          <a:ln w="19050" cap="rnd">
            <a:solidFill>
              <a:srgbClr val="84BDE4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60" name="AutoShape 60"/>
          <p:cNvSpPr/>
          <p:nvPr/>
        </p:nvSpPr>
        <p:spPr>
          <a:xfrm flipV="1">
            <a:off x="9145078" y="2161629"/>
            <a:ext cx="15580" cy="1777344"/>
          </a:xfrm>
          <a:prstGeom prst="line">
            <a:avLst/>
          </a:prstGeom>
          <a:ln w="19050" cap="rnd">
            <a:solidFill>
              <a:srgbClr val="84BDE4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61" name="AutoShape 61"/>
          <p:cNvSpPr/>
          <p:nvPr/>
        </p:nvSpPr>
        <p:spPr>
          <a:xfrm>
            <a:off x="9163056" y="4090197"/>
            <a:ext cx="852920" cy="0"/>
          </a:xfrm>
          <a:prstGeom prst="line">
            <a:avLst/>
          </a:prstGeom>
          <a:ln w="19050" cap="rnd">
            <a:solidFill>
              <a:srgbClr val="84BDE4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62" name="AutoShape 62"/>
          <p:cNvSpPr/>
          <p:nvPr/>
        </p:nvSpPr>
        <p:spPr>
          <a:xfrm flipH="1" flipV="1">
            <a:off x="9144000" y="4146804"/>
            <a:ext cx="122939" cy="6159247"/>
          </a:xfrm>
          <a:prstGeom prst="line">
            <a:avLst/>
          </a:prstGeom>
          <a:ln w="19050" cap="rnd">
            <a:solidFill>
              <a:srgbClr val="84BDE4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63" name="AutoShape 63"/>
          <p:cNvSpPr/>
          <p:nvPr/>
        </p:nvSpPr>
        <p:spPr>
          <a:xfrm>
            <a:off x="9161736" y="8114281"/>
            <a:ext cx="854240" cy="117443"/>
          </a:xfrm>
          <a:prstGeom prst="line">
            <a:avLst/>
          </a:prstGeom>
          <a:ln w="19050" cap="rnd">
            <a:solidFill>
              <a:srgbClr val="84BDE4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64" name="AutoShape 64"/>
          <p:cNvSpPr/>
          <p:nvPr/>
        </p:nvSpPr>
        <p:spPr>
          <a:xfrm flipV="1">
            <a:off x="8241791" y="6089596"/>
            <a:ext cx="766889" cy="24382"/>
          </a:xfrm>
          <a:prstGeom prst="line">
            <a:avLst/>
          </a:prstGeom>
          <a:ln w="19050" cap="rnd">
            <a:solidFill>
              <a:srgbClr val="84BDE4"/>
            </a:solidFill>
            <a:prstDash val="solid"/>
            <a:headEnd type="none" w="sm" len="sm"/>
            <a:tailEnd type="oval" w="lg" len="lg"/>
          </a:ln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7431750" y="455790"/>
            <a:ext cx="416319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</a:t>
            </a:r>
          </a:p>
        </p:txBody>
      </p:sp>
      <p:sp>
        <p:nvSpPr>
          <p:cNvPr id="7" name="Freeform 7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 rot="110880">
            <a:off x="819388" y="9779260"/>
            <a:ext cx="590855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 rot="5331480">
            <a:off x="8187880" y="927354"/>
            <a:ext cx="1912239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2313055" y="1217457"/>
            <a:ext cx="4070248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3600" b="1">
                <a:solidFill>
                  <a:srgbClr val="80808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Réponses HTTP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36693" y="1820932"/>
            <a:ext cx="4763953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Construire et envoyer des réponses : texte, HTML, JSON. Le contrat Content-Type et les bons réflexes.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021061" y="1859032"/>
            <a:ext cx="245878" cy="245878"/>
            <a:chOff x="0" y="0"/>
            <a:chExt cx="327838" cy="327838"/>
          </a:xfrm>
        </p:grpSpPr>
        <p:sp>
          <p:nvSpPr>
            <p:cNvPr id="14" name="Freeform 14"/>
            <p:cNvSpPr/>
            <p:nvPr/>
          </p:nvSpPr>
          <p:spPr>
            <a:xfrm>
              <a:off x="50800" y="50800"/>
              <a:ext cx="226314" cy="226314"/>
            </a:xfrm>
            <a:custGeom>
              <a:avLst/>
              <a:gdLst/>
              <a:ahLst/>
              <a:cxnLst/>
              <a:rect l="l" t="t" r="r" b="b"/>
              <a:pathLst>
                <a:path w="226314" h="226314">
                  <a:moveTo>
                    <a:pt x="0" y="113157"/>
                  </a:moveTo>
                  <a:cubicBezTo>
                    <a:pt x="0" y="50673"/>
                    <a:pt x="50673" y="0"/>
                    <a:pt x="113157" y="0"/>
                  </a:cubicBezTo>
                  <a:cubicBezTo>
                    <a:pt x="175641" y="0"/>
                    <a:pt x="226314" y="50673"/>
                    <a:pt x="226314" y="113157"/>
                  </a:cubicBezTo>
                  <a:cubicBezTo>
                    <a:pt x="226314" y="175641"/>
                    <a:pt x="175641" y="226314"/>
                    <a:pt x="113157" y="226314"/>
                  </a:cubicBezTo>
                  <a:cubicBezTo>
                    <a:pt x="50673" y="226314"/>
                    <a:pt x="0" y="175641"/>
                    <a:pt x="0" y="113157"/>
                  </a:cubicBezTo>
                  <a:close/>
                </a:path>
              </a:pathLst>
            </a:custGeom>
            <a:solidFill>
              <a:srgbClr val="ACC777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327914" cy="327914"/>
            </a:xfrm>
            <a:custGeom>
              <a:avLst/>
              <a:gdLst/>
              <a:ahLst/>
              <a:cxnLst/>
              <a:rect l="l" t="t" r="r" b="b"/>
              <a:pathLst>
                <a:path w="327914" h="327914">
                  <a:moveTo>
                    <a:pt x="0" y="163957"/>
                  </a:moveTo>
                  <a:cubicBezTo>
                    <a:pt x="0" y="73406"/>
                    <a:pt x="73406" y="0"/>
                    <a:pt x="163957" y="0"/>
                  </a:cubicBezTo>
                  <a:lnTo>
                    <a:pt x="163957" y="50800"/>
                  </a:lnTo>
                  <a:lnTo>
                    <a:pt x="163957" y="0"/>
                  </a:lnTo>
                  <a:cubicBezTo>
                    <a:pt x="254508" y="0"/>
                    <a:pt x="327914" y="73406"/>
                    <a:pt x="327914" y="163957"/>
                  </a:cubicBezTo>
                  <a:lnTo>
                    <a:pt x="277114" y="163957"/>
                  </a:lnTo>
                  <a:lnTo>
                    <a:pt x="327914" y="163957"/>
                  </a:lnTo>
                  <a:cubicBezTo>
                    <a:pt x="327914" y="254508"/>
                    <a:pt x="254508" y="327914"/>
                    <a:pt x="163957" y="327914"/>
                  </a:cubicBezTo>
                  <a:lnTo>
                    <a:pt x="163957" y="277114"/>
                  </a:lnTo>
                  <a:lnTo>
                    <a:pt x="163957" y="327914"/>
                  </a:lnTo>
                  <a:cubicBezTo>
                    <a:pt x="73406" y="327787"/>
                    <a:pt x="0" y="254508"/>
                    <a:pt x="0" y="163957"/>
                  </a:cubicBezTo>
                  <a:lnTo>
                    <a:pt x="50800" y="163957"/>
                  </a:lnTo>
                  <a:lnTo>
                    <a:pt x="101600" y="163957"/>
                  </a:lnTo>
                  <a:lnTo>
                    <a:pt x="50800" y="163957"/>
                  </a:lnTo>
                  <a:lnTo>
                    <a:pt x="0" y="163957"/>
                  </a:lnTo>
                  <a:moveTo>
                    <a:pt x="101600" y="163957"/>
                  </a:moveTo>
                  <a:cubicBezTo>
                    <a:pt x="101600" y="192024"/>
                    <a:pt x="78867" y="214757"/>
                    <a:pt x="50800" y="214757"/>
                  </a:cubicBezTo>
                  <a:cubicBezTo>
                    <a:pt x="22733" y="214757"/>
                    <a:pt x="0" y="192024"/>
                    <a:pt x="0" y="163957"/>
                  </a:cubicBezTo>
                  <a:cubicBezTo>
                    <a:pt x="0" y="135890"/>
                    <a:pt x="22733" y="113157"/>
                    <a:pt x="50800" y="113157"/>
                  </a:cubicBezTo>
                  <a:cubicBezTo>
                    <a:pt x="78867" y="113157"/>
                    <a:pt x="101600" y="135890"/>
                    <a:pt x="101600" y="163957"/>
                  </a:cubicBezTo>
                  <a:cubicBezTo>
                    <a:pt x="101600" y="198374"/>
                    <a:pt x="129540" y="226314"/>
                    <a:pt x="163957" y="226314"/>
                  </a:cubicBezTo>
                  <a:cubicBezTo>
                    <a:pt x="198374" y="226314"/>
                    <a:pt x="226314" y="198374"/>
                    <a:pt x="226314" y="163957"/>
                  </a:cubicBezTo>
                  <a:cubicBezTo>
                    <a:pt x="226314" y="129540"/>
                    <a:pt x="198374" y="101600"/>
                    <a:pt x="163957" y="101600"/>
                  </a:cubicBezTo>
                  <a:lnTo>
                    <a:pt x="163957" y="50800"/>
                  </a:lnTo>
                  <a:lnTo>
                    <a:pt x="163957" y="101600"/>
                  </a:lnTo>
                  <a:cubicBezTo>
                    <a:pt x="129540" y="101600"/>
                    <a:pt x="101600" y="129540"/>
                    <a:pt x="101600" y="163957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</p:grpSp>
      <p:sp>
        <p:nvSpPr>
          <p:cNvPr id="16" name="AutoShape 16"/>
          <p:cNvSpPr/>
          <p:nvPr/>
        </p:nvSpPr>
        <p:spPr>
          <a:xfrm>
            <a:off x="8252966" y="1991204"/>
            <a:ext cx="825244" cy="38095"/>
          </a:xfrm>
          <a:prstGeom prst="line">
            <a:avLst/>
          </a:prstGeom>
          <a:ln w="14287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7" name="Group 17"/>
          <p:cNvGrpSpPr/>
          <p:nvPr/>
        </p:nvGrpSpPr>
        <p:grpSpPr>
          <a:xfrm>
            <a:off x="6672701" y="1219486"/>
            <a:ext cx="1581550" cy="1581550"/>
            <a:chOff x="0" y="0"/>
            <a:chExt cx="2108733" cy="210873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08708" cy="2108708"/>
            </a:xfrm>
            <a:custGeom>
              <a:avLst/>
              <a:gdLst/>
              <a:ahLst/>
              <a:cxnLst/>
              <a:rect l="l" t="t" r="r" b="b"/>
              <a:pathLst>
                <a:path w="2108708" h="2108708">
                  <a:moveTo>
                    <a:pt x="0" y="0"/>
                  </a:moveTo>
                  <a:lnTo>
                    <a:pt x="2108708" y="0"/>
                  </a:lnTo>
                  <a:lnTo>
                    <a:pt x="2108708" y="2108708"/>
                  </a:lnTo>
                  <a:lnTo>
                    <a:pt x="0" y="2108708"/>
                  </a:lnTo>
                  <a:close/>
                </a:path>
              </a:pathLst>
            </a:custGeom>
            <a:solidFill>
              <a:srgbClr val="ACC777"/>
            </a:solidFill>
          </p:spPr>
        </p:sp>
      </p:grpSp>
      <p:sp>
        <p:nvSpPr>
          <p:cNvPr id="19" name="AutoShape 19"/>
          <p:cNvSpPr/>
          <p:nvPr/>
        </p:nvSpPr>
        <p:spPr>
          <a:xfrm flipH="1" flipV="1">
            <a:off x="9163056" y="3972745"/>
            <a:ext cx="46735" cy="2431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0" name="Group 20"/>
          <p:cNvGrpSpPr/>
          <p:nvPr/>
        </p:nvGrpSpPr>
        <p:grpSpPr>
          <a:xfrm>
            <a:off x="9021061" y="3938969"/>
            <a:ext cx="245878" cy="245878"/>
            <a:chOff x="0" y="0"/>
            <a:chExt cx="327838" cy="327838"/>
          </a:xfrm>
        </p:grpSpPr>
        <p:sp>
          <p:nvSpPr>
            <p:cNvPr id="21" name="Freeform 21"/>
            <p:cNvSpPr/>
            <p:nvPr/>
          </p:nvSpPr>
          <p:spPr>
            <a:xfrm>
              <a:off x="50800" y="50800"/>
              <a:ext cx="226314" cy="226314"/>
            </a:xfrm>
            <a:custGeom>
              <a:avLst/>
              <a:gdLst/>
              <a:ahLst/>
              <a:cxnLst/>
              <a:rect l="l" t="t" r="r" b="b"/>
              <a:pathLst>
                <a:path w="226314" h="226314">
                  <a:moveTo>
                    <a:pt x="0" y="113157"/>
                  </a:moveTo>
                  <a:cubicBezTo>
                    <a:pt x="0" y="50673"/>
                    <a:pt x="50673" y="0"/>
                    <a:pt x="113157" y="0"/>
                  </a:cubicBezTo>
                  <a:cubicBezTo>
                    <a:pt x="175641" y="0"/>
                    <a:pt x="226314" y="50673"/>
                    <a:pt x="226314" y="113157"/>
                  </a:cubicBezTo>
                  <a:cubicBezTo>
                    <a:pt x="226314" y="175641"/>
                    <a:pt x="175641" y="226314"/>
                    <a:pt x="113157" y="226314"/>
                  </a:cubicBezTo>
                  <a:cubicBezTo>
                    <a:pt x="50673" y="226314"/>
                    <a:pt x="0" y="175641"/>
                    <a:pt x="0" y="113157"/>
                  </a:cubicBezTo>
                  <a:close/>
                </a:path>
              </a:pathLst>
            </a:custGeom>
            <a:solidFill>
              <a:srgbClr val="77933C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0"/>
              <a:ext cx="327914" cy="327914"/>
            </a:xfrm>
            <a:custGeom>
              <a:avLst/>
              <a:gdLst/>
              <a:ahLst/>
              <a:cxnLst/>
              <a:rect l="l" t="t" r="r" b="b"/>
              <a:pathLst>
                <a:path w="327914" h="327914">
                  <a:moveTo>
                    <a:pt x="0" y="163957"/>
                  </a:moveTo>
                  <a:cubicBezTo>
                    <a:pt x="0" y="73406"/>
                    <a:pt x="73406" y="0"/>
                    <a:pt x="163957" y="0"/>
                  </a:cubicBezTo>
                  <a:lnTo>
                    <a:pt x="163957" y="50800"/>
                  </a:lnTo>
                  <a:lnTo>
                    <a:pt x="163957" y="0"/>
                  </a:lnTo>
                  <a:cubicBezTo>
                    <a:pt x="254508" y="0"/>
                    <a:pt x="327914" y="73406"/>
                    <a:pt x="327914" y="163957"/>
                  </a:cubicBezTo>
                  <a:lnTo>
                    <a:pt x="277114" y="163957"/>
                  </a:lnTo>
                  <a:lnTo>
                    <a:pt x="327914" y="163957"/>
                  </a:lnTo>
                  <a:cubicBezTo>
                    <a:pt x="327914" y="254508"/>
                    <a:pt x="254508" y="327914"/>
                    <a:pt x="163957" y="327914"/>
                  </a:cubicBezTo>
                  <a:lnTo>
                    <a:pt x="163957" y="277114"/>
                  </a:lnTo>
                  <a:lnTo>
                    <a:pt x="163957" y="327914"/>
                  </a:lnTo>
                  <a:cubicBezTo>
                    <a:pt x="73406" y="327787"/>
                    <a:pt x="0" y="254508"/>
                    <a:pt x="0" y="163957"/>
                  </a:cubicBezTo>
                  <a:lnTo>
                    <a:pt x="50800" y="163957"/>
                  </a:lnTo>
                  <a:lnTo>
                    <a:pt x="101600" y="163957"/>
                  </a:lnTo>
                  <a:lnTo>
                    <a:pt x="50800" y="163957"/>
                  </a:lnTo>
                  <a:lnTo>
                    <a:pt x="0" y="163957"/>
                  </a:lnTo>
                  <a:moveTo>
                    <a:pt x="101600" y="163957"/>
                  </a:moveTo>
                  <a:cubicBezTo>
                    <a:pt x="101600" y="192024"/>
                    <a:pt x="78867" y="214757"/>
                    <a:pt x="50800" y="214757"/>
                  </a:cubicBezTo>
                  <a:cubicBezTo>
                    <a:pt x="22733" y="214757"/>
                    <a:pt x="0" y="192024"/>
                    <a:pt x="0" y="163957"/>
                  </a:cubicBezTo>
                  <a:cubicBezTo>
                    <a:pt x="0" y="135890"/>
                    <a:pt x="22733" y="113157"/>
                    <a:pt x="50800" y="113157"/>
                  </a:cubicBezTo>
                  <a:cubicBezTo>
                    <a:pt x="78867" y="113157"/>
                    <a:pt x="101600" y="135890"/>
                    <a:pt x="101600" y="163957"/>
                  </a:cubicBezTo>
                  <a:cubicBezTo>
                    <a:pt x="101600" y="198374"/>
                    <a:pt x="129540" y="226314"/>
                    <a:pt x="163957" y="226314"/>
                  </a:cubicBezTo>
                  <a:cubicBezTo>
                    <a:pt x="198374" y="226314"/>
                    <a:pt x="226314" y="198374"/>
                    <a:pt x="226314" y="163957"/>
                  </a:cubicBezTo>
                  <a:cubicBezTo>
                    <a:pt x="226314" y="129540"/>
                    <a:pt x="198374" y="101600"/>
                    <a:pt x="163957" y="101600"/>
                  </a:cubicBezTo>
                  <a:lnTo>
                    <a:pt x="163957" y="50800"/>
                  </a:lnTo>
                  <a:lnTo>
                    <a:pt x="163957" y="101600"/>
                  </a:lnTo>
                  <a:cubicBezTo>
                    <a:pt x="129540" y="101600"/>
                    <a:pt x="101600" y="129540"/>
                    <a:pt x="101600" y="163957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</p:grpSp>
      <p:sp>
        <p:nvSpPr>
          <p:cNvPr id="23" name="AutoShape 23"/>
          <p:cNvSpPr/>
          <p:nvPr/>
        </p:nvSpPr>
        <p:spPr>
          <a:xfrm rot="158580">
            <a:off x="9209351" y="4080672"/>
            <a:ext cx="82612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4" name="Group 24"/>
          <p:cNvGrpSpPr/>
          <p:nvPr/>
        </p:nvGrpSpPr>
        <p:grpSpPr>
          <a:xfrm>
            <a:off x="10015976" y="3299422"/>
            <a:ext cx="1581550" cy="1581550"/>
            <a:chOff x="0" y="0"/>
            <a:chExt cx="2108733" cy="210873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108708" cy="2108708"/>
            </a:xfrm>
            <a:custGeom>
              <a:avLst/>
              <a:gdLst/>
              <a:ahLst/>
              <a:cxnLst/>
              <a:rect l="l" t="t" r="r" b="b"/>
              <a:pathLst>
                <a:path w="2108708" h="2108708">
                  <a:moveTo>
                    <a:pt x="0" y="0"/>
                  </a:moveTo>
                  <a:lnTo>
                    <a:pt x="2108708" y="0"/>
                  </a:lnTo>
                  <a:lnTo>
                    <a:pt x="2108708" y="2108708"/>
                  </a:lnTo>
                  <a:lnTo>
                    <a:pt x="0" y="2108708"/>
                  </a:lnTo>
                  <a:close/>
                </a:path>
              </a:pathLst>
            </a:custGeom>
            <a:solidFill>
              <a:srgbClr val="77933C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11966953" y="3335617"/>
            <a:ext cx="5070819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80808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Système de fichiers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966953" y="3932806"/>
            <a:ext cx="5070819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Lire, écrire, ajouter, supprimer. Le module fs — clé de voûte de tout backend qui touche au disque.</a:t>
            </a:r>
          </a:p>
        </p:txBody>
      </p:sp>
      <p:sp>
        <p:nvSpPr>
          <p:cNvPr id="28" name="AutoShape 28"/>
          <p:cNvSpPr/>
          <p:nvPr/>
        </p:nvSpPr>
        <p:spPr>
          <a:xfrm rot="5331480">
            <a:off x="8187880" y="5068891"/>
            <a:ext cx="1912239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TextBox 29"/>
          <p:cNvSpPr txBox="1"/>
          <p:nvPr/>
        </p:nvSpPr>
        <p:spPr>
          <a:xfrm>
            <a:off x="1736693" y="5347459"/>
            <a:ext cx="4763953" cy="1557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130"/>
              </a:lnSpc>
            </a:pPr>
            <a:r>
              <a:rPr lang="en-US" sz="3441" b="1">
                <a:solidFill>
                  <a:srgbClr val="80808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L'asynchrone en pratique</a:t>
            </a:r>
          </a:p>
          <a:p>
            <a:pPr algn="r">
              <a:lnSpc>
                <a:spcPts val="4130"/>
              </a:lnSpc>
            </a:pPr>
            <a:endParaRPr lang="en-US" sz="3441" b="1">
              <a:solidFill>
                <a:srgbClr val="808080"/>
              </a:solidFill>
              <a:latin typeface="Source Sans Pro Bold"/>
              <a:ea typeface="Source Sans Pro Bold"/>
              <a:cs typeface="Source Sans Pro Bold"/>
              <a:sym typeface="Source Sans Pro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400566" y="6335125"/>
            <a:ext cx="4982737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L'évolution historique : callbacks → Promises → async/await. Comment écrire du code asynchrone propre aujourd'hui.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021061" y="6000560"/>
            <a:ext cx="245878" cy="245878"/>
            <a:chOff x="0" y="0"/>
            <a:chExt cx="327838" cy="327838"/>
          </a:xfrm>
        </p:grpSpPr>
        <p:sp>
          <p:nvSpPr>
            <p:cNvPr id="32" name="Freeform 32"/>
            <p:cNvSpPr/>
            <p:nvPr/>
          </p:nvSpPr>
          <p:spPr>
            <a:xfrm>
              <a:off x="50800" y="50800"/>
              <a:ext cx="226314" cy="226314"/>
            </a:xfrm>
            <a:custGeom>
              <a:avLst/>
              <a:gdLst/>
              <a:ahLst/>
              <a:cxnLst/>
              <a:rect l="l" t="t" r="r" b="b"/>
              <a:pathLst>
                <a:path w="226314" h="226314">
                  <a:moveTo>
                    <a:pt x="0" y="113157"/>
                  </a:moveTo>
                  <a:cubicBezTo>
                    <a:pt x="0" y="50673"/>
                    <a:pt x="50673" y="0"/>
                    <a:pt x="113157" y="0"/>
                  </a:cubicBezTo>
                  <a:cubicBezTo>
                    <a:pt x="175641" y="0"/>
                    <a:pt x="226314" y="50673"/>
                    <a:pt x="226314" y="113157"/>
                  </a:cubicBezTo>
                  <a:cubicBezTo>
                    <a:pt x="226314" y="175641"/>
                    <a:pt x="175641" y="226314"/>
                    <a:pt x="113157" y="226314"/>
                  </a:cubicBezTo>
                  <a:cubicBezTo>
                    <a:pt x="50673" y="226314"/>
                    <a:pt x="0" y="175641"/>
                    <a:pt x="0" y="113157"/>
                  </a:cubicBezTo>
                  <a:close/>
                </a:path>
              </a:pathLst>
            </a:custGeom>
            <a:solidFill>
              <a:srgbClr val="C0D498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0"/>
              <a:ext cx="327914" cy="327914"/>
            </a:xfrm>
            <a:custGeom>
              <a:avLst/>
              <a:gdLst/>
              <a:ahLst/>
              <a:cxnLst/>
              <a:rect l="l" t="t" r="r" b="b"/>
              <a:pathLst>
                <a:path w="327914" h="327914">
                  <a:moveTo>
                    <a:pt x="0" y="163957"/>
                  </a:moveTo>
                  <a:cubicBezTo>
                    <a:pt x="0" y="73406"/>
                    <a:pt x="73406" y="0"/>
                    <a:pt x="163957" y="0"/>
                  </a:cubicBezTo>
                  <a:lnTo>
                    <a:pt x="163957" y="50800"/>
                  </a:lnTo>
                  <a:lnTo>
                    <a:pt x="163957" y="0"/>
                  </a:lnTo>
                  <a:cubicBezTo>
                    <a:pt x="254508" y="0"/>
                    <a:pt x="327914" y="73406"/>
                    <a:pt x="327914" y="163957"/>
                  </a:cubicBezTo>
                  <a:lnTo>
                    <a:pt x="277114" y="163957"/>
                  </a:lnTo>
                  <a:lnTo>
                    <a:pt x="327914" y="163957"/>
                  </a:lnTo>
                  <a:cubicBezTo>
                    <a:pt x="327914" y="254508"/>
                    <a:pt x="254508" y="327914"/>
                    <a:pt x="163957" y="327914"/>
                  </a:cubicBezTo>
                  <a:lnTo>
                    <a:pt x="163957" y="277114"/>
                  </a:lnTo>
                  <a:lnTo>
                    <a:pt x="163957" y="327914"/>
                  </a:lnTo>
                  <a:cubicBezTo>
                    <a:pt x="73406" y="327787"/>
                    <a:pt x="0" y="254508"/>
                    <a:pt x="0" y="163957"/>
                  </a:cubicBezTo>
                  <a:lnTo>
                    <a:pt x="50800" y="163957"/>
                  </a:lnTo>
                  <a:lnTo>
                    <a:pt x="101600" y="163957"/>
                  </a:lnTo>
                  <a:lnTo>
                    <a:pt x="50800" y="163957"/>
                  </a:lnTo>
                  <a:lnTo>
                    <a:pt x="0" y="163957"/>
                  </a:lnTo>
                  <a:moveTo>
                    <a:pt x="101600" y="163957"/>
                  </a:moveTo>
                  <a:cubicBezTo>
                    <a:pt x="101600" y="192024"/>
                    <a:pt x="78867" y="214757"/>
                    <a:pt x="50800" y="214757"/>
                  </a:cubicBezTo>
                  <a:cubicBezTo>
                    <a:pt x="22733" y="214757"/>
                    <a:pt x="0" y="192024"/>
                    <a:pt x="0" y="163957"/>
                  </a:cubicBezTo>
                  <a:cubicBezTo>
                    <a:pt x="0" y="135890"/>
                    <a:pt x="22733" y="113157"/>
                    <a:pt x="50800" y="113157"/>
                  </a:cubicBezTo>
                  <a:cubicBezTo>
                    <a:pt x="78867" y="113157"/>
                    <a:pt x="101600" y="135890"/>
                    <a:pt x="101600" y="163957"/>
                  </a:cubicBezTo>
                  <a:cubicBezTo>
                    <a:pt x="101600" y="198374"/>
                    <a:pt x="129540" y="226314"/>
                    <a:pt x="163957" y="226314"/>
                  </a:cubicBezTo>
                  <a:cubicBezTo>
                    <a:pt x="198374" y="226314"/>
                    <a:pt x="226314" y="198374"/>
                    <a:pt x="226314" y="163957"/>
                  </a:cubicBezTo>
                  <a:cubicBezTo>
                    <a:pt x="226314" y="129540"/>
                    <a:pt x="198374" y="101600"/>
                    <a:pt x="163957" y="101600"/>
                  </a:cubicBezTo>
                  <a:lnTo>
                    <a:pt x="163957" y="50800"/>
                  </a:lnTo>
                  <a:lnTo>
                    <a:pt x="163957" y="101600"/>
                  </a:lnTo>
                  <a:cubicBezTo>
                    <a:pt x="129540" y="101600"/>
                    <a:pt x="101600" y="129540"/>
                    <a:pt x="101600" y="163957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</p:grpSp>
      <p:sp>
        <p:nvSpPr>
          <p:cNvPr id="34" name="AutoShape 34"/>
          <p:cNvSpPr/>
          <p:nvPr/>
        </p:nvSpPr>
        <p:spPr>
          <a:xfrm rot="158580">
            <a:off x="8252527" y="6142263"/>
            <a:ext cx="82612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5" name="Group 35"/>
          <p:cNvGrpSpPr/>
          <p:nvPr/>
        </p:nvGrpSpPr>
        <p:grpSpPr>
          <a:xfrm>
            <a:off x="6672701" y="5361013"/>
            <a:ext cx="1581550" cy="1581550"/>
            <a:chOff x="0" y="0"/>
            <a:chExt cx="2108733" cy="210873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108708" cy="2108708"/>
            </a:xfrm>
            <a:custGeom>
              <a:avLst/>
              <a:gdLst/>
              <a:ahLst/>
              <a:cxnLst/>
              <a:rect l="l" t="t" r="r" b="b"/>
              <a:pathLst>
                <a:path w="2108708" h="2108708">
                  <a:moveTo>
                    <a:pt x="0" y="0"/>
                  </a:moveTo>
                  <a:lnTo>
                    <a:pt x="2108708" y="0"/>
                  </a:lnTo>
                  <a:lnTo>
                    <a:pt x="2108708" y="2108708"/>
                  </a:lnTo>
                  <a:lnTo>
                    <a:pt x="0" y="2108708"/>
                  </a:lnTo>
                  <a:close/>
                </a:path>
              </a:pathLst>
            </a:custGeom>
            <a:solidFill>
              <a:srgbClr val="C0D498"/>
            </a:solidFill>
          </p:spPr>
        </p:sp>
      </p:grpSp>
      <p:sp>
        <p:nvSpPr>
          <p:cNvPr id="37" name="AutoShape 37"/>
          <p:cNvSpPr/>
          <p:nvPr/>
        </p:nvSpPr>
        <p:spPr>
          <a:xfrm rot="5331480">
            <a:off x="8187880" y="7148827"/>
            <a:ext cx="1912239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8" name="Group 38"/>
          <p:cNvGrpSpPr/>
          <p:nvPr/>
        </p:nvGrpSpPr>
        <p:grpSpPr>
          <a:xfrm>
            <a:off x="9021061" y="8080505"/>
            <a:ext cx="245878" cy="245878"/>
            <a:chOff x="0" y="0"/>
            <a:chExt cx="327838" cy="327838"/>
          </a:xfrm>
        </p:grpSpPr>
        <p:sp>
          <p:nvSpPr>
            <p:cNvPr id="39" name="Freeform 39"/>
            <p:cNvSpPr/>
            <p:nvPr/>
          </p:nvSpPr>
          <p:spPr>
            <a:xfrm>
              <a:off x="50800" y="50800"/>
              <a:ext cx="226314" cy="226314"/>
            </a:xfrm>
            <a:custGeom>
              <a:avLst/>
              <a:gdLst/>
              <a:ahLst/>
              <a:cxnLst/>
              <a:rect l="l" t="t" r="r" b="b"/>
              <a:pathLst>
                <a:path w="226314" h="226314">
                  <a:moveTo>
                    <a:pt x="0" y="113157"/>
                  </a:moveTo>
                  <a:cubicBezTo>
                    <a:pt x="0" y="50673"/>
                    <a:pt x="50673" y="0"/>
                    <a:pt x="113157" y="0"/>
                  </a:cubicBezTo>
                  <a:cubicBezTo>
                    <a:pt x="175641" y="0"/>
                    <a:pt x="226314" y="50673"/>
                    <a:pt x="226314" y="113157"/>
                  </a:cubicBezTo>
                  <a:cubicBezTo>
                    <a:pt x="226314" y="175641"/>
                    <a:pt x="175641" y="226314"/>
                    <a:pt x="113157" y="226314"/>
                  </a:cubicBezTo>
                  <a:cubicBezTo>
                    <a:pt x="50673" y="226314"/>
                    <a:pt x="0" y="175641"/>
                    <a:pt x="0" y="113157"/>
                  </a:cubicBezTo>
                  <a:close/>
                </a:path>
              </a:pathLst>
            </a:custGeom>
            <a:solidFill>
              <a:srgbClr val="D0DFB3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0"/>
              <a:ext cx="327914" cy="327914"/>
            </a:xfrm>
            <a:custGeom>
              <a:avLst/>
              <a:gdLst/>
              <a:ahLst/>
              <a:cxnLst/>
              <a:rect l="l" t="t" r="r" b="b"/>
              <a:pathLst>
                <a:path w="327914" h="327914">
                  <a:moveTo>
                    <a:pt x="0" y="163957"/>
                  </a:moveTo>
                  <a:cubicBezTo>
                    <a:pt x="0" y="73406"/>
                    <a:pt x="73406" y="0"/>
                    <a:pt x="163957" y="0"/>
                  </a:cubicBezTo>
                  <a:lnTo>
                    <a:pt x="163957" y="50800"/>
                  </a:lnTo>
                  <a:lnTo>
                    <a:pt x="163957" y="0"/>
                  </a:lnTo>
                  <a:cubicBezTo>
                    <a:pt x="254508" y="0"/>
                    <a:pt x="327914" y="73406"/>
                    <a:pt x="327914" y="163957"/>
                  </a:cubicBezTo>
                  <a:lnTo>
                    <a:pt x="277114" y="163957"/>
                  </a:lnTo>
                  <a:lnTo>
                    <a:pt x="327914" y="163957"/>
                  </a:lnTo>
                  <a:cubicBezTo>
                    <a:pt x="327914" y="254508"/>
                    <a:pt x="254508" y="327914"/>
                    <a:pt x="163957" y="327914"/>
                  </a:cubicBezTo>
                  <a:lnTo>
                    <a:pt x="163957" y="277114"/>
                  </a:lnTo>
                  <a:lnTo>
                    <a:pt x="163957" y="327914"/>
                  </a:lnTo>
                  <a:cubicBezTo>
                    <a:pt x="73406" y="327787"/>
                    <a:pt x="0" y="254508"/>
                    <a:pt x="0" y="163957"/>
                  </a:cubicBezTo>
                  <a:lnTo>
                    <a:pt x="50800" y="163957"/>
                  </a:lnTo>
                  <a:lnTo>
                    <a:pt x="101600" y="163957"/>
                  </a:lnTo>
                  <a:lnTo>
                    <a:pt x="50800" y="163957"/>
                  </a:lnTo>
                  <a:lnTo>
                    <a:pt x="0" y="163957"/>
                  </a:lnTo>
                  <a:moveTo>
                    <a:pt x="101600" y="163957"/>
                  </a:moveTo>
                  <a:cubicBezTo>
                    <a:pt x="101600" y="192024"/>
                    <a:pt x="78867" y="214757"/>
                    <a:pt x="50800" y="214757"/>
                  </a:cubicBezTo>
                  <a:cubicBezTo>
                    <a:pt x="22733" y="214757"/>
                    <a:pt x="0" y="192024"/>
                    <a:pt x="0" y="163957"/>
                  </a:cubicBezTo>
                  <a:cubicBezTo>
                    <a:pt x="0" y="135890"/>
                    <a:pt x="22733" y="113157"/>
                    <a:pt x="50800" y="113157"/>
                  </a:cubicBezTo>
                  <a:cubicBezTo>
                    <a:pt x="78867" y="113157"/>
                    <a:pt x="101600" y="135890"/>
                    <a:pt x="101600" y="163957"/>
                  </a:cubicBezTo>
                  <a:cubicBezTo>
                    <a:pt x="101600" y="198374"/>
                    <a:pt x="129540" y="226314"/>
                    <a:pt x="163957" y="226314"/>
                  </a:cubicBezTo>
                  <a:cubicBezTo>
                    <a:pt x="198374" y="226314"/>
                    <a:pt x="226314" y="198374"/>
                    <a:pt x="226314" y="163957"/>
                  </a:cubicBezTo>
                  <a:cubicBezTo>
                    <a:pt x="226314" y="129540"/>
                    <a:pt x="198374" y="101600"/>
                    <a:pt x="163957" y="101600"/>
                  </a:cubicBezTo>
                  <a:lnTo>
                    <a:pt x="163957" y="50800"/>
                  </a:lnTo>
                  <a:lnTo>
                    <a:pt x="163957" y="101600"/>
                  </a:lnTo>
                  <a:cubicBezTo>
                    <a:pt x="129540" y="101600"/>
                    <a:pt x="101600" y="129540"/>
                    <a:pt x="101600" y="163957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</p:grpSp>
      <p:sp>
        <p:nvSpPr>
          <p:cNvPr id="41" name="AutoShape 41"/>
          <p:cNvSpPr/>
          <p:nvPr/>
        </p:nvSpPr>
        <p:spPr>
          <a:xfrm rot="158580">
            <a:off x="9209351" y="8222199"/>
            <a:ext cx="82612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2" name="Group 42"/>
          <p:cNvGrpSpPr/>
          <p:nvPr/>
        </p:nvGrpSpPr>
        <p:grpSpPr>
          <a:xfrm>
            <a:off x="10015976" y="7309418"/>
            <a:ext cx="1581550" cy="1581550"/>
            <a:chOff x="0" y="0"/>
            <a:chExt cx="2108733" cy="2108733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108708" cy="2108708"/>
            </a:xfrm>
            <a:custGeom>
              <a:avLst/>
              <a:gdLst/>
              <a:ahLst/>
              <a:cxnLst/>
              <a:rect l="l" t="t" r="r" b="b"/>
              <a:pathLst>
                <a:path w="2108708" h="2108708">
                  <a:moveTo>
                    <a:pt x="0" y="0"/>
                  </a:moveTo>
                  <a:lnTo>
                    <a:pt x="2108708" y="0"/>
                  </a:lnTo>
                  <a:lnTo>
                    <a:pt x="2108708" y="2108708"/>
                  </a:lnTo>
                  <a:lnTo>
                    <a:pt x="0" y="2108708"/>
                  </a:lnTo>
                  <a:close/>
                </a:path>
              </a:pathLst>
            </a:custGeom>
            <a:solidFill>
              <a:srgbClr val="D0DFB3"/>
            </a:solidFill>
          </p:spPr>
        </p:sp>
      </p:grpSp>
      <p:sp>
        <p:nvSpPr>
          <p:cNvPr id="44" name="TextBox 44"/>
          <p:cNvSpPr txBox="1"/>
          <p:nvPr/>
        </p:nvSpPr>
        <p:spPr>
          <a:xfrm>
            <a:off x="11966953" y="7477144"/>
            <a:ext cx="4098171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80808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API CRUD complète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966953" y="8074333"/>
            <a:ext cx="5326523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Construire pas à pas une véritable API REST : quatre verbes HTTP, un fichier JSON en guise de base, une logique métier propre.</a:t>
            </a:r>
          </a:p>
        </p:txBody>
      </p:sp>
      <p:sp>
        <p:nvSpPr>
          <p:cNvPr id="46" name="AutoShape 46"/>
          <p:cNvSpPr/>
          <p:nvPr/>
        </p:nvSpPr>
        <p:spPr>
          <a:xfrm rot="5335020">
            <a:off x="8136074" y="9288780"/>
            <a:ext cx="201585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7" name="Freeform 47"/>
          <p:cNvSpPr/>
          <p:nvPr/>
        </p:nvSpPr>
        <p:spPr>
          <a:xfrm>
            <a:off x="7138873" y="1657617"/>
            <a:ext cx="649205" cy="648719"/>
          </a:xfrm>
          <a:custGeom>
            <a:avLst/>
            <a:gdLst/>
            <a:ahLst/>
            <a:cxnLst/>
            <a:rect l="l" t="t" r="r" b="b"/>
            <a:pathLst>
              <a:path w="649205" h="648719">
                <a:moveTo>
                  <a:pt x="0" y="0"/>
                </a:moveTo>
                <a:lnTo>
                  <a:pt x="649205" y="0"/>
                </a:lnTo>
                <a:lnTo>
                  <a:pt x="649205" y="648719"/>
                </a:lnTo>
                <a:lnTo>
                  <a:pt x="0" y="6487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10490921" y="3749459"/>
            <a:ext cx="631660" cy="624897"/>
          </a:xfrm>
          <a:custGeom>
            <a:avLst/>
            <a:gdLst/>
            <a:ahLst/>
            <a:cxnLst/>
            <a:rect l="l" t="t" r="r" b="b"/>
            <a:pathLst>
              <a:path w="631660" h="624897">
                <a:moveTo>
                  <a:pt x="0" y="0"/>
                </a:moveTo>
                <a:lnTo>
                  <a:pt x="631660" y="0"/>
                </a:lnTo>
                <a:lnTo>
                  <a:pt x="631660" y="624897"/>
                </a:lnTo>
                <a:lnTo>
                  <a:pt x="0" y="6248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7131015" y="5942152"/>
            <a:ext cx="671208" cy="504111"/>
          </a:xfrm>
          <a:custGeom>
            <a:avLst/>
            <a:gdLst/>
            <a:ahLst/>
            <a:cxnLst/>
            <a:rect l="l" t="t" r="r" b="b"/>
            <a:pathLst>
              <a:path w="671208" h="504111">
                <a:moveTo>
                  <a:pt x="0" y="0"/>
                </a:moveTo>
                <a:lnTo>
                  <a:pt x="671208" y="0"/>
                </a:lnTo>
                <a:lnTo>
                  <a:pt x="671208" y="504111"/>
                </a:lnTo>
                <a:lnTo>
                  <a:pt x="0" y="5041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10533345" y="7850038"/>
            <a:ext cx="552526" cy="735092"/>
          </a:xfrm>
          <a:custGeom>
            <a:avLst/>
            <a:gdLst/>
            <a:ahLst/>
            <a:cxnLst/>
            <a:rect l="l" t="t" r="r" b="b"/>
            <a:pathLst>
              <a:path w="552526" h="735092">
                <a:moveTo>
                  <a:pt x="0" y="0"/>
                </a:moveTo>
                <a:lnTo>
                  <a:pt x="552526" y="0"/>
                </a:lnTo>
                <a:lnTo>
                  <a:pt x="552526" y="735092"/>
                </a:lnTo>
                <a:lnTo>
                  <a:pt x="0" y="73509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51" name="Group 51"/>
          <p:cNvGrpSpPr/>
          <p:nvPr/>
        </p:nvGrpSpPr>
        <p:grpSpPr>
          <a:xfrm>
            <a:off x="6672701" y="2670724"/>
            <a:ext cx="1581550" cy="130302"/>
            <a:chOff x="0" y="0"/>
            <a:chExt cx="2108733" cy="173736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108708" cy="173736"/>
            </a:xfrm>
            <a:custGeom>
              <a:avLst/>
              <a:gdLst/>
              <a:ahLst/>
              <a:cxnLst/>
              <a:rect l="l" t="t" r="r" b="b"/>
              <a:pathLst>
                <a:path w="2108708" h="173736">
                  <a:moveTo>
                    <a:pt x="0" y="0"/>
                  </a:moveTo>
                  <a:lnTo>
                    <a:pt x="2108708" y="0"/>
                  </a:lnTo>
                  <a:lnTo>
                    <a:pt x="2108708" y="173736"/>
                  </a:lnTo>
                  <a:lnTo>
                    <a:pt x="0" y="173736"/>
                  </a:lnTo>
                  <a:close/>
                </a:path>
              </a:pathLst>
            </a:custGeom>
            <a:solidFill>
              <a:srgbClr val="87A946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10012347" y="4750660"/>
            <a:ext cx="1581550" cy="130302"/>
            <a:chOff x="0" y="0"/>
            <a:chExt cx="2108733" cy="173736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108708" cy="173736"/>
            </a:xfrm>
            <a:custGeom>
              <a:avLst/>
              <a:gdLst/>
              <a:ahLst/>
              <a:cxnLst/>
              <a:rect l="l" t="t" r="r" b="b"/>
              <a:pathLst>
                <a:path w="2108708" h="173736">
                  <a:moveTo>
                    <a:pt x="0" y="0"/>
                  </a:moveTo>
                  <a:lnTo>
                    <a:pt x="2108708" y="0"/>
                  </a:lnTo>
                  <a:lnTo>
                    <a:pt x="2108708" y="173736"/>
                  </a:lnTo>
                  <a:lnTo>
                    <a:pt x="0" y="173736"/>
                  </a:lnTo>
                  <a:close/>
                </a:path>
              </a:pathLst>
            </a:custGeom>
            <a:solidFill>
              <a:srgbClr val="596E2D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6672701" y="6812251"/>
            <a:ext cx="1581550" cy="130302"/>
            <a:chOff x="0" y="0"/>
            <a:chExt cx="2108733" cy="173736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108708" cy="173736"/>
            </a:xfrm>
            <a:custGeom>
              <a:avLst/>
              <a:gdLst/>
              <a:ahLst/>
              <a:cxnLst/>
              <a:rect l="l" t="t" r="r" b="b"/>
              <a:pathLst>
                <a:path w="2108708" h="173736">
                  <a:moveTo>
                    <a:pt x="0" y="0"/>
                  </a:moveTo>
                  <a:lnTo>
                    <a:pt x="2108708" y="0"/>
                  </a:lnTo>
                  <a:lnTo>
                    <a:pt x="2108708" y="173736"/>
                  </a:lnTo>
                  <a:lnTo>
                    <a:pt x="0" y="173736"/>
                  </a:lnTo>
                  <a:close/>
                </a:path>
              </a:pathLst>
            </a:custGeom>
            <a:solidFill>
              <a:srgbClr val="99B958"/>
            </a:solidFill>
          </p:spPr>
        </p:sp>
      </p:grpSp>
      <p:grpSp>
        <p:nvGrpSpPr>
          <p:cNvPr id="57" name="Group 57"/>
          <p:cNvGrpSpPr/>
          <p:nvPr/>
        </p:nvGrpSpPr>
        <p:grpSpPr>
          <a:xfrm>
            <a:off x="10012347" y="8890968"/>
            <a:ext cx="1581550" cy="130302"/>
            <a:chOff x="0" y="0"/>
            <a:chExt cx="2108733" cy="173736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108708" cy="173736"/>
            </a:xfrm>
            <a:custGeom>
              <a:avLst/>
              <a:gdLst/>
              <a:ahLst/>
              <a:cxnLst/>
              <a:rect l="l" t="t" r="r" b="b"/>
              <a:pathLst>
                <a:path w="2108708" h="173736">
                  <a:moveTo>
                    <a:pt x="0" y="0"/>
                  </a:moveTo>
                  <a:lnTo>
                    <a:pt x="2108708" y="0"/>
                  </a:lnTo>
                  <a:lnTo>
                    <a:pt x="2108708" y="173736"/>
                  </a:lnTo>
                  <a:lnTo>
                    <a:pt x="0" y="173736"/>
                  </a:lnTo>
                  <a:close/>
                </a:path>
              </a:pathLst>
            </a:custGeom>
            <a:solidFill>
              <a:srgbClr val="A4C16C"/>
            </a:solidFill>
          </p:spPr>
        </p:sp>
      </p:grpSp>
      <p:sp>
        <p:nvSpPr>
          <p:cNvPr id="59" name="Freeform 59"/>
          <p:cNvSpPr/>
          <p:nvPr/>
        </p:nvSpPr>
        <p:spPr>
          <a:xfrm>
            <a:off x="7153018" y="1568449"/>
            <a:ext cx="649205" cy="648719"/>
          </a:xfrm>
          <a:custGeom>
            <a:avLst/>
            <a:gdLst/>
            <a:ahLst/>
            <a:cxnLst/>
            <a:rect l="l" t="t" r="r" b="b"/>
            <a:pathLst>
              <a:path w="649205" h="648719">
                <a:moveTo>
                  <a:pt x="0" y="0"/>
                </a:moveTo>
                <a:lnTo>
                  <a:pt x="649205" y="0"/>
                </a:lnTo>
                <a:lnTo>
                  <a:pt x="649205" y="648719"/>
                </a:lnTo>
                <a:lnTo>
                  <a:pt x="0" y="64871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60" name="AutoShape 60"/>
          <p:cNvSpPr/>
          <p:nvPr/>
        </p:nvSpPr>
        <p:spPr>
          <a:xfrm flipV="1">
            <a:off x="9144000" y="0"/>
            <a:ext cx="0" cy="10306051"/>
          </a:xfrm>
          <a:prstGeom prst="line">
            <a:avLst/>
          </a:prstGeom>
          <a:ln w="19050" cap="rnd">
            <a:solidFill>
              <a:srgbClr val="84BDE4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61" name="AutoShape 61"/>
          <p:cNvSpPr/>
          <p:nvPr/>
        </p:nvSpPr>
        <p:spPr>
          <a:xfrm>
            <a:off x="8226848" y="2036043"/>
            <a:ext cx="936208" cy="136981"/>
          </a:xfrm>
          <a:prstGeom prst="line">
            <a:avLst/>
          </a:prstGeom>
          <a:ln w="19050" cap="rnd">
            <a:solidFill>
              <a:srgbClr val="84BDE4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62" name="AutoShape 62"/>
          <p:cNvSpPr/>
          <p:nvPr/>
        </p:nvSpPr>
        <p:spPr>
          <a:xfrm>
            <a:off x="9124949" y="4061908"/>
            <a:ext cx="891026" cy="28289"/>
          </a:xfrm>
          <a:prstGeom prst="line">
            <a:avLst/>
          </a:prstGeom>
          <a:ln w="19050" cap="rnd">
            <a:solidFill>
              <a:srgbClr val="84BDE4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63" name="AutoShape 63"/>
          <p:cNvSpPr/>
          <p:nvPr/>
        </p:nvSpPr>
        <p:spPr>
          <a:xfrm>
            <a:off x="8332461" y="5942152"/>
            <a:ext cx="691539" cy="154531"/>
          </a:xfrm>
          <a:prstGeom prst="line">
            <a:avLst/>
          </a:prstGeom>
          <a:ln w="19050" cap="rnd">
            <a:solidFill>
              <a:srgbClr val="84BDE4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64" name="AutoShape 64"/>
          <p:cNvSpPr/>
          <p:nvPr/>
        </p:nvSpPr>
        <p:spPr>
          <a:xfrm>
            <a:off x="9266842" y="8209691"/>
            <a:ext cx="807806" cy="41080"/>
          </a:xfrm>
          <a:prstGeom prst="line">
            <a:avLst/>
          </a:prstGeom>
          <a:ln w="19050" cap="rnd">
            <a:solidFill>
              <a:srgbClr val="84BDE4"/>
            </a:solidFill>
            <a:prstDash val="solid"/>
            <a:headEnd type="none" w="sm" len="sm"/>
            <a:tailEnd type="oval" w="lg" len="lg"/>
          </a:ln>
        </p:spPr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7431750" y="455790"/>
            <a:ext cx="416319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</a:t>
            </a:r>
          </a:p>
        </p:txBody>
      </p:sp>
      <p:sp>
        <p:nvSpPr>
          <p:cNvPr id="7" name="Freeform 7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 rot="110880">
            <a:off x="819388" y="9779260"/>
            <a:ext cx="590855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9163056" y="0"/>
            <a:ext cx="0" cy="1981782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1736693" y="1217457"/>
            <a:ext cx="4646609" cy="1095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3600" b="1">
                <a:solidFill>
                  <a:srgbClr val="80808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Concepts​ importants​</a:t>
            </a:r>
          </a:p>
          <a:p>
            <a:pPr algn="r">
              <a:lnSpc>
                <a:spcPts val="4320"/>
              </a:lnSpc>
            </a:pPr>
            <a:endParaRPr lang="en-US" sz="3600" b="1">
              <a:solidFill>
                <a:srgbClr val="808080"/>
              </a:solidFill>
              <a:latin typeface="Source Sans Pro Bold"/>
              <a:ea typeface="Source Sans Pro Bold"/>
              <a:cs typeface="Source Sans Pro Bold"/>
              <a:sym typeface="Source Sans Pro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156026" y="1814646"/>
            <a:ext cx="5227277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Construire et envoyer des réponses : texte, HTML, JSON. Le contrat Content-Type et les bons réflexes.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021061" y="1859032"/>
            <a:ext cx="245878" cy="245878"/>
            <a:chOff x="0" y="0"/>
            <a:chExt cx="327838" cy="327838"/>
          </a:xfrm>
        </p:grpSpPr>
        <p:sp>
          <p:nvSpPr>
            <p:cNvPr id="14" name="Freeform 14"/>
            <p:cNvSpPr/>
            <p:nvPr/>
          </p:nvSpPr>
          <p:spPr>
            <a:xfrm>
              <a:off x="50800" y="50800"/>
              <a:ext cx="226314" cy="226314"/>
            </a:xfrm>
            <a:custGeom>
              <a:avLst/>
              <a:gdLst/>
              <a:ahLst/>
              <a:cxnLst/>
              <a:rect l="l" t="t" r="r" b="b"/>
              <a:pathLst>
                <a:path w="226314" h="226314">
                  <a:moveTo>
                    <a:pt x="0" y="113157"/>
                  </a:moveTo>
                  <a:cubicBezTo>
                    <a:pt x="0" y="50673"/>
                    <a:pt x="50673" y="0"/>
                    <a:pt x="113157" y="0"/>
                  </a:cubicBezTo>
                  <a:cubicBezTo>
                    <a:pt x="175641" y="0"/>
                    <a:pt x="226314" y="50673"/>
                    <a:pt x="226314" y="113157"/>
                  </a:cubicBezTo>
                  <a:cubicBezTo>
                    <a:pt x="226314" y="175641"/>
                    <a:pt x="175641" y="226314"/>
                    <a:pt x="113157" y="226314"/>
                  </a:cubicBezTo>
                  <a:cubicBezTo>
                    <a:pt x="50673" y="226314"/>
                    <a:pt x="0" y="175641"/>
                    <a:pt x="0" y="113157"/>
                  </a:cubicBezTo>
                  <a:close/>
                </a:path>
              </a:pathLst>
            </a:custGeom>
            <a:solidFill>
              <a:srgbClr val="88A945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327914" cy="327914"/>
            </a:xfrm>
            <a:custGeom>
              <a:avLst/>
              <a:gdLst/>
              <a:ahLst/>
              <a:cxnLst/>
              <a:rect l="l" t="t" r="r" b="b"/>
              <a:pathLst>
                <a:path w="327914" h="327914">
                  <a:moveTo>
                    <a:pt x="0" y="163957"/>
                  </a:moveTo>
                  <a:cubicBezTo>
                    <a:pt x="0" y="73406"/>
                    <a:pt x="73406" y="0"/>
                    <a:pt x="163957" y="0"/>
                  </a:cubicBezTo>
                  <a:lnTo>
                    <a:pt x="163957" y="50800"/>
                  </a:lnTo>
                  <a:lnTo>
                    <a:pt x="163957" y="0"/>
                  </a:lnTo>
                  <a:cubicBezTo>
                    <a:pt x="254508" y="0"/>
                    <a:pt x="327914" y="73406"/>
                    <a:pt x="327914" y="163957"/>
                  </a:cubicBezTo>
                  <a:lnTo>
                    <a:pt x="277114" y="163957"/>
                  </a:lnTo>
                  <a:lnTo>
                    <a:pt x="327914" y="163957"/>
                  </a:lnTo>
                  <a:cubicBezTo>
                    <a:pt x="327914" y="254508"/>
                    <a:pt x="254508" y="327914"/>
                    <a:pt x="163957" y="327914"/>
                  </a:cubicBezTo>
                  <a:lnTo>
                    <a:pt x="163957" y="277114"/>
                  </a:lnTo>
                  <a:lnTo>
                    <a:pt x="163957" y="327914"/>
                  </a:lnTo>
                  <a:cubicBezTo>
                    <a:pt x="73406" y="327787"/>
                    <a:pt x="0" y="254508"/>
                    <a:pt x="0" y="163957"/>
                  </a:cubicBezTo>
                  <a:lnTo>
                    <a:pt x="50800" y="163957"/>
                  </a:lnTo>
                  <a:lnTo>
                    <a:pt x="101600" y="163957"/>
                  </a:lnTo>
                  <a:lnTo>
                    <a:pt x="50800" y="163957"/>
                  </a:lnTo>
                  <a:lnTo>
                    <a:pt x="0" y="163957"/>
                  </a:lnTo>
                  <a:moveTo>
                    <a:pt x="101600" y="163957"/>
                  </a:moveTo>
                  <a:cubicBezTo>
                    <a:pt x="101600" y="192024"/>
                    <a:pt x="78867" y="214757"/>
                    <a:pt x="50800" y="214757"/>
                  </a:cubicBezTo>
                  <a:cubicBezTo>
                    <a:pt x="22733" y="214757"/>
                    <a:pt x="0" y="192024"/>
                    <a:pt x="0" y="163957"/>
                  </a:cubicBezTo>
                  <a:cubicBezTo>
                    <a:pt x="0" y="135890"/>
                    <a:pt x="22733" y="113157"/>
                    <a:pt x="50800" y="113157"/>
                  </a:cubicBezTo>
                  <a:cubicBezTo>
                    <a:pt x="78867" y="113157"/>
                    <a:pt x="101600" y="135890"/>
                    <a:pt x="101600" y="163957"/>
                  </a:cubicBezTo>
                  <a:cubicBezTo>
                    <a:pt x="101600" y="198374"/>
                    <a:pt x="129540" y="226314"/>
                    <a:pt x="163957" y="226314"/>
                  </a:cubicBezTo>
                  <a:cubicBezTo>
                    <a:pt x="198374" y="226314"/>
                    <a:pt x="226314" y="198374"/>
                    <a:pt x="226314" y="163957"/>
                  </a:cubicBezTo>
                  <a:cubicBezTo>
                    <a:pt x="226314" y="129540"/>
                    <a:pt x="198374" y="101600"/>
                    <a:pt x="163957" y="101600"/>
                  </a:cubicBezTo>
                  <a:lnTo>
                    <a:pt x="163957" y="50800"/>
                  </a:lnTo>
                  <a:lnTo>
                    <a:pt x="163957" y="101600"/>
                  </a:lnTo>
                  <a:cubicBezTo>
                    <a:pt x="129540" y="101600"/>
                    <a:pt x="101600" y="129540"/>
                    <a:pt x="101600" y="163957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</p:grpSp>
      <p:sp>
        <p:nvSpPr>
          <p:cNvPr id="16" name="AutoShape 16"/>
          <p:cNvSpPr/>
          <p:nvPr/>
        </p:nvSpPr>
        <p:spPr>
          <a:xfrm rot="158580">
            <a:off x="8252527" y="2000726"/>
            <a:ext cx="82612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7" name="Group 17"/>
          <p:cNvGrpSpPr/>
          <p:nvPr/>
        </p:nvGrpSpPr>
        <p:grpSpPr>
          <a:xfrm>
            <a:off x="6625076" y="1228420"/>
            <a:ext cx="1676800" cy="1676800"/>
            <a:chOff x="0" y="0"/>
            <a:chExt cx="2235733" cy="2235733"/>
          </a:xfrm>
        </p:grpSpPr>
        <p:sp>
          <p:nvSpPr>
            <p:cNvPr id="18" name="Freeform 18"/>
            <p:cNvSpPr/>
            <p:nvPr/>
          </p:nvSpPr>
          <p:spPr>
            <a:xfrm>
              <a:off x="63500" y="63500"/>
              <a:ext cx="2108708" cy="2108708"/>
            </a:xfrm>
            <a:custGeom>
              <a:avLst/>
              <a:gdLst/>
              <a:ahLst/>
              <a:cxnLst/>
              <a:rect l="l" t="t" r="r" b="b"/>
              <a:pathLst>
                <a:path w="2108708" h="2108708">
                  <a:moveTo>
                    <a:pt x="0" y="0"/>
                  </a:moveTo>
                  <a:lnTo>
                    <a:pt x="2108708" y="0"/>
                  </a:lnTo>
                  <a:lnTo>
                    <a:pt x="2108708" y="2108708"/>
                  </a:lnTo>
                  <a:lnTo>
                    <a:pt x="0" y="2108708"/>
                  </a:lnTo>
                  <a:close/>
                </a:path>
              </a:pathLst>
            </a:custGeom>
            <a:solidFill>
              <a:srgbClr val="88A945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2235708" cy="2235708"/>
            </a:xfrm>
            <a:custGeom>
              <a:avLst/>
              <a:gdLst/>
              <a:ahLst/>
              <a:cxnLst/>
              <a:rect l="l" t="t" r="r" b="b"/>
              <a:pathLst>
                <a:path w="2235708" h="2235708">
                  <a:moveTo>
                    <a:pt x="63500" y="0"/>
                  </a:moveTo>
                  <a:lnTo>
                    <a:pt x="2172208" y="0"/>
                  </a:lnTo>
                  <a:cubicBezTo>
                    <a:pt x="2207260" y="0"/>
                    <a:pt x="2235708" y="28448"/>
                    <a:pt x="2235708" y="63500"/>
                  </a:cubicBezTo>
                  <a:lnTo>
                    <a:pt x="2235708" y="2172208"/>
                  </a:lnTo>
                  <a:cubicBezTo>
                    <a:pt x="2235708" y="2207260"/>
                    <a:pt x="2207260" y="2235708"/>
                    <a:pt x="2172208" y="2235708"/>
                  </a:cubicBezTo>
                  <a:lnTo>
                    <a:pt x="63500" y="2235708"/>
                  </a:lnTo>
                  <a:cubicBezTo>
                    <a:pt x="28448" y="2235708"/>
                    <a:pt x="0" y="2207260"/>
                    <a:pt x="0" y="2172208"/>
                  </a:cubicBezTo>
                  <a:lnTo>
                    <a:pt x="0" y="63500"/>
                  </a:lnTo>
                  <a:cubicBezTo>
                    <a:pt x="0" y="28448"/>
                    <a:pt x="28448" y="0"/>
                    <a:pt x="63500" y="0"/>
                  </a:cubicBezTo>
                  <a:moveTo>
                    <a:pt x="63500" y="127000"/>
                  </a:moveTo>
                  <a:lnTo>
                    <a:pt x="63500" y="63500"/>
                  </a:lnTo>
                  <a:lnTo>
                    <a:pt x="127000" y="63500"/>
                  </a:lnTo>
                  <a:lnTo>
                    <a:pt x="127000" y="2172208"/>
                  </a:lnTo>
                  <a:lnTo>
                    <a:pt x="63500" y="2172208"/>
                  </a:lnTo>
                  <a:lnTo>
                    <a:pt x="63500" y="2108708"/>
                  </a:lnTo>
                  <a:lnTo>
                    <a:pt x="2172208" y="2108708"/>
                  </a:lnTo>
                  <a:lnTo>
                    <a:pt x="2172208" y="2172208"/>
                  </a:lnTo>
                  <a:lnTo>
                    <a:pt x="2108708" y="2172208"/>
                  </a:lnTo>
                  <a:lnTo>
                    <a:pt x="2108708" y="63500"/>
                  </a:lnTo>
                  <a:lnTo>
                    <a:pt x="2172208" y="63500"/>
                  </a:lnTo>
                  <a:lnTo>
                    <a:pt x="2172208" y="127000"/>
                  </a:lnTo>
                  <a:lnTo>
                    <a:pt x="63500" y="127000"/>
                  </a:lnTo>
                  <a:close/>
                </a:path>
              </a:pathLst>
            </a:custGeom>
            <a:solidFill>
              <a:srgbClr val="D9D9D9">
                <a:alpha val="24706"/>
              </a:srgbClr>
            </a:solidFill>
          </p:spPr>
        </p:sp>
      </p:grpSp>
      <p:sp>
        <p:nvSpPr>
          <p:cNvPr id="20" name="AutoShape 20"/>
          <p:cNvSpPr/>
          <p:nvPr/>
        </p:nvSpPr>
        <p:spPr>
          <a:xfrm rot="5331480">
            <a:off x="8187880" y="3007290"/>
            <a:ext cx="1912239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1" name="Group 21"/>
          <p:cNvGrpSpPr/>
          <p:nvPr/>
        </p:nvGrpSpPr>
        <p:grpSpPr>
          <a:xfrm>
            <a:off x="9021061" y="3938969"/>
            <a:ext cx="245878" cy="245878"/>
            <a:chOff x="0" y="0"/>
            <a:chExt cx="327838" cy="327838"/>
          </a:xfrm>
        </p:grpSpPr>
        <p:sp>
          <p:nvSpPr>
            <p:cNvPr id="22" name="Freeform 22"/>
            <p:cNvSpPr/>
            <p:nvPr/>
          </p:nvSpPr>
          <p:spPr>
            <a:xfrm>
              <a:off x="50800" y="50800"/>
              <a:ext cx="226314" cy="226314"/>
            </a:xfrm>
            <a:custGeom>
              <a:avLst/>
              <a:gdLst/>
              <a:ahLst/>
              <a:cxnLst/>
              <a:rect l="l" t="t" r="r" b="b"/>
              <a:pathLst>
                <a:path w="226314" h="226314">
                  <a:moveTo>
                    <a:pt x="0" y="113157"/>
                  </a:moveTo>
                  <a:cubicBezTo>
                    <a:pt x="0" y="50673"/>
                    <a:pt x="50673" y="0"/>
                    <a:pt x="113157" y="0"/>
                  </a:cubicBezTo>
                  <a:cubicBezTo>
                    <a:pt x="175641" y="0"/>
                    <a:pt x="226314" y="50673"/>
                    <a:pt x="226314" y="113157"/>
                  </a:cubicBezTo>
                  <a:cubicBezTo>
                    <a:pt x="226314" y="175641"/>
                    <a:pt x="175641" y="226314"/>
                    <a:pt x="113157" y="226314"/>
                  </a:cubicBezTo>
                  <a:cubicBezTo>
                    <a:pt x="50673" y="226314"/>
                    <a:pt x="0" y="175641"/>
                    <a:pt x="0" y="113157"/>
                  </a:cubicBezTo>
                  <a:close/>
                </a:path>
              </a:pathLst>
            </a:custGeom>
            <a:solidFill>
              <a:srgbClr val="9BBB59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0" y="0"/>
              <a:ext cx="327914" cy="327914"/>
            </a:xfrm>
            <a:custGeom>
              <a:avLst/>
              <a:gdLst/>
              <a:ahLst/>
              <a:cxnLst/>
              <a:rect l="l" t="t" r="r" b="b"/>
              <a:pathLst>
                <a:path w="327914" h="327914">
                  <a:moveTo>
                    <a:pt x="0" y="163957"/>
                  </a:moveTo>
                  <a:cubicBezTo>
                    <a:pt x="0" y="73406"/>
                    <a:pt x="73406" y="0"/>
                    <a:pt x="163957" y="0"/>
                  </a:cubicBezTo>
                  <a:lnTo>
                    <a:pt x="163957" y="50800"/>
                  </a:lnTo>
                  <a:lnTo>
                    <a:pt x="163957" y="0"/>
                  </a:lnTo>
                  <a:cubicBezTo>
                    <a:pt x="254508" y="0"/>
                    <a:pt x="327914" y="73406"/>
                    <a:pt x="327914" y="163957"/>
                  </a:cubicBezTo>
                  <a:lnTo>
                    <a:pt x="277114" y="163957"/>
                  </a:lnTo>
                  <a:lnTo>
                    <a:pt x="327914" y="163957"/>
                  </a:lnTo>
                  <a:cubicBezTo>
                    <a:pt x="327914" y="254508"/>
                    <a:pt x="254508" y="327914"/>
                    <a:pt x="163957" y="327914"/>
                  </a:cubicBezTo>
                  <a:lnTo>
                    <a:pt x="163957" y="277114"/>
                  </a:lnTo>
                  <a:lnTo>
                    <a:pt x="163957" y="327914"/>
                  </a:lnTo>
                  <a:cubicBezTo>
                    <a:pt x="73406" y="327787"/>
                    <a:pt x="0" y="254508"/>
                    <a:pt x="0" y="163957"/>
                  </a:cubicBezTo>
                  <a:lnTo>
                    <a:pt x="50800" y="163957"/>
                  </a:lnTo>
                  <a:lnTo>
                    <a:pt x="101600" y="163957"/>
                  </a:lnTo>
                  <a:lnTo>
                    <a:pt x="50800" y="163957"/>
                  </a:lnTo>
                  <a:lnTo>
                    <a:pt x="0" y="163957"/>
                  </a:lnTo>
                  <a:moveTo>
                    <a:pt x="101600" y="163957"/>
                  </a:moveTo>
                  <a:cubicBezTo>
                    <a:pt x="101600" y="192024"/>
                    <a:pt x="78867" y="214757"/>
                    <a:pt x="50800" y="214757"/>
                  </a:cubicBezTo>
                  <a:cubicBezTo>
                    <a:pt x="22733" y="214757"/>
                    <a:pt x="0" y="192024"/>
                    <a:pt x="0" y="163957"/>
                  </a:cubicBezTo>
                  <a:cubicBezTo>
                    <a:pt x="0" y="135890"/>
                    <a:pt x="22733" y="113157"/>
                    <a:pt x="50800" y="113157"/>
                  </a:cubicBezTo>
                  <a:cubicBezTo>
                    <a:pt x="78867" y="113157"/>
                    <a:pt x="101600" y="135890"/>
                    <a:pt x="101600" y="163957"/>
                  </a:cubicBezTo>
                  <a:cubicBezTo>
                    <a:pt x="101600" y="198374"/>
                    <a:pt x="129540" y="226314"/>
                    <a:pt x="163957" y="226314"/>
                  </a:cubicBezTo>
                  <a:cubicBezTo>
                    <a:pt x="198374" y="226314"/>
                    <a:pt x="226314" y="198374"/>
                    <a:pt x="226314" y="163957"/>
                  </a:cubicBezTo>
                  <a:cubicBezTo>
                    <a:pt x="226314" y="129540"/>
                    <a:pt x="198374" y="101600"/>
                    <a:pt x="163957" y="101600"/>
                  </a:cubicBezTo>
                  <a:lnTo>
                    <a:pt x="163957" y="50800"/>
                  </a:lnTo>
                  <a:lnTo>
                    <a:pt x="163957" y="101600"/>
                  </a:lnTo>
                  <a:cubicBezTo>
                    <a:pt x="129540" y="101600"/>
                    <a:pt x="101600" y="129540"/>
                    <a:pt x="101600" y="163957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</p:grpSp>
      <p:sp>
        <p:nvSpPr>
          <p:cNvPr id="24" name="AutoShape 24"/>
          <p:cNvSpPr/>
          <p:nvPr/>
        </p:nvSpPr>
        <p:spPr>
          <a:xfrm rot="158580">
            <a:off x="9209351" y="4080672"/>
            <a:ext cx="82612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5" name="Group 25"/>
          <p:cNvGrpSpPr/>
          <p:nvPr/>
        </p:nvGrpSpPr>
        <p:grpSpPr>
          <a:xfrm>
            <a:off x="9938371" y="3251797"/>
            <a:ext cx="1676800" cy="1676800"/>
            <a:chOff x="0" y="0"/>
            <a:chExt cx="2235733" cy="2235733"/>
          </a:xfrm>
        </p:grpSpPr>
        <p:sp>
          <p:nvSpPr>
            <p:cNvPr id="26" name="Freeform 26"/>
            <p:cNvSpPr/>
            <p:nvPr/>
          </p:nvSpPr>
          <p:spPr>
            <a:xfrm>
              <a:off x="63500" y="63500"/>
              <a:ext cx="2108708" cy="2108708"/>
            </a:xfrm>
            <a:custGeom>
              <a:avLst/>
              <a:gdLst/>
              <a:ahLst/>
              <a:cxnLst/>
              <a:rect l="l" t="t" r="r" b="b"/>
              <a:pathLst>
                <a:path w="2108708" h="2108708">
                  <a:moveTo>
                    <a:pt x="0" y="0"/>
                  </a:moveTo>
                  <a:lnTo>
                    <a:pt x="2108708" y="0"/>
                  </a:lnTo>
                  <a:lnTo>
                    <a:pt x="2108708" y="2108708"/>
                  </a:lnTo>
                  <a:lnTo>
                    <a:pt x="0" y="2108708"/>
                  </a:lnTo>
                  <a:close/>
                </a:path>
              </a:pathLst>
            </a:custGeom>
            <a:solidFill>
              <a:srgbClr val="9BBB59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0"/>
              <a:ext cx="2235708" cy="2235708"/>
            </a:xfrm>
            <a:custGeom>
              <a:avLst/>
              <a:gdLst/>
              <a:ahLst/>
              <a:cxnLst/>
              <a:rect l="l" t="t" r="r" b="b"/>
              <a:pathLst>
                <a:path w="2235708" h="2235708">
                  <a:moveTo>
                    <a:pt x="63500" y="0"/>
                  </a:moveTo>
                  <a:lnTo>
                    <a:pt x="2172208" y="0"/>
                  </a:lnTo>
                  <a:cubicBezTo>
                    <a:pt x="2207260" y="0"/>
                    <a:pt x="2235708" y="28448"/>
                    <a:pt x="2235708" y="63500"/>
                  </a:cubicBezTo>
                  <a:lnTo>
                    <a:pt x="2235708" y="2172208"/>
                  </a:lnTo>
                  <a:cubicBezTo>
                    <a:pt x="2235708" y="2207260"/>
                    <a:pt x="2207260" y="2235708"/>
                    <a:pt x="2172208" y="2235708"/>
                  </a:cubicBezTo>
                  <a:lnTo>
                    <a:pt x="63500" y="2235708"/>
                  </a:lnTo>
                  <a:cubicBezTo>
                    <a:pt x="28448" y="2235708"/>
                    <a:pt x="0" y="2207260"/>
                    <a:pt x="0" y="2172208"/>
                  </a:cubicBezTo>
                  <a:lnTo>
                    <a:pt x="0" y="63500"/>
                  </a:lnTo>
                  <a:cubicBezTo>
                    <a:pt x="0" y="28448"/>
                    <a:pt x="28448" y="0"/>
                    <a:pt x="63500" y="0"/>
                  </a:cubicBezTo>
                  <a:moveTo>
                    <a:pt x="63500" y="127000"/>
                  </a:moveTo>
                  <a:lnTo>
                    <a:pt x="63500" y="63500"/>
                  </a:lnTo>
                  <a:lnTo>
                    <a:pt x="127000" y="63500"/>
                  </a:lnTo>
                  <a:lnTo>
                    <a:pt x="127000" y="2172208"/>
                  </a:lnTo>
                  <a:lnTo>
                    <a:pt x="63500" y="2172208"/>
                  </a:lnTo>
                  <a:lnTo>
                    <a:pt x="63500" y="2108708"/>
                  </a:lnTo>
                  <a:lnTo>
                    <a:pt x="2172208" y="2108708"/>
                  </a:lnTo>
                  <a:lnTo>
                    <a:pt x="2172208" y="2172208"/>
                  </a:lnTo>
                  <a:lnTo>
                    <a:pt x="2108708" y="2172208"/>
                  </a:lnTo>
                  <a:lnTo>
                    <a:pt x="2108708" y="63500"/>
                  </a:lnTo>
                  <a:lnTo>
                    <a:pt x="2172208" y="63500"/>
                  </a:lnTo>
                  <a:lnTo>
                    <a:pt x="2172208" y="127000"/>
                  </a:lnTo>
                  <a:lnTo>
                    <a:pt x="63500" y="127000"/>
                  </a:lnTo>
                  <a:close/>
                </a:path>
              </a:pathLst>
            </a:custGeom>
            <a:solidFill>
              <a:srgbClr val="D9D9D9">
                <a:alpha val="24706"/>
              </a:srgbClr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11782381" y="3345142"/>
            <a:ext cx="5115860" cy="1689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1"/>
              </a:lnSpc>
            </a:pPr>
            <a:r>
              <a:rPr lang="en-US" sz="3734" b="1">
                <a:solidFill>
                  <a:srgbClr val="80808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Codes de​ statut HTTP</a:t>
            </a:r>
          </a:p>
          <a:p>
            <a:pPr algn="l">
              <a:lnSpc>
                <a:spcPts val="4481"/>
              </a:lnSpc>
            </a:pPr>
            <a:endParaRPr lang="en-US" sz="3734" b="1">
              <a:solidFill>
                <a:srgbClr val="808080"/>
              </a:solidFill>
              <a:latin typeface="Source Sans Pro Bold"/>
              <a:ea typeface="Source Sans Pro Bold"/>
              <a:cs typeface="Source Sans Pro Bold"/>
              <a:sym typeface="Source Sans Pro Bold"/>
            </a:endParaRPr>
          </a:p>
          <a:p>
            <a:pPr algn="l">
              <a:lnSpc>
                <a:spcPts val="4481"/>
              </a:lnSpc>
            </a:pPr>
            <a:endParaRPr lang="en-US" sz="3734" b="1">
              <a:solidFill>
                <a:srgbClr val="808080"/>
              </a:solidFill>
              <a:latin typeface="Source Sans Pro Bold"/>
              <a:ea typeface="Source Sans Pro Bold"/>
              <a:cs typeface="Source Sans Pro Bold"/>
              <a:sym typeface="Source Sans Pro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1966953" y="3932806"/>
            <a:ext cx="4325013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Chaque réponse porte un code. Bien l’utiliser, c’est parler le même langage que tous les clients HTTP du monde.</a:t>
            </a:r>
          </a:p>
        </p:txBody>
      </p:sp>
      <p:sp>
        <p:nvSpPr>
          <p:cNvPr id="30" name="AutoShape 30"/>
          <p:cNvSpPr/>
          <p:nvPr/>
        </p:nvSpPr>
        <p:spPr>
          <a:xfrm flipV="1">
            <a:off x="9144000" y="6034345"/>
            <a:ext cx="19056" cy="4957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TextBox 31"/>
          <p:cNvSpPr txBox="1"/>
          <p:nvPr/>
        </p:nvSpPr>
        <p:spPr>
          <a:xfrm>
            <a:off x="1736693" y="5358994"/>
            <a:ext cx="4646609" cy="163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3600" b="1">
                <a:solidFill>
                  <a:srgbClr val="80808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Usages,​avantages,</a:t>
            </a:r>
          </a:p>
          <a:p>
            <a:pPr algn="r">
              <a:lnSpc>
                <a:spcPts val="4320"/>
              </a:lnSpc>
            </a:pPr>
            <a:r>
              <a:rPr lang="en-US" sz="3600" b="1">
                <a:solidFill>
                  <a:srgbClr val="80808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limites</a:t>
            </a:r>
          </a:p>
          <a:p>
            <a:pPr algn="r">
              <a:lnSpc>
                <a:spcPts val="4320"/>
              </a:lnSpc>
            </a:pPr>
            <a:endParaRPr lang="en-US" sz="3600" b="1">
              <a:solidFill>
                <a:srgbClr val="808080"/>
              </a:solidFill>
              <a:latin typeface="Source Sans Pro Bold"/>
              <a:ea typeface="Source Sans Pro Bold"/>
              <a:cs typeface="Source Sans Pro Bold"/>
              <a:sym typeface="Source Sans Pro Bold"/>
            </a:endParaRPr>
          </a:p>
        </p:txBody>
      </p:sp>
      <p:grpSp>
        <p:nvGrpSpPr>
          <p:cNvPr id="32" name="Group 32"/>
          <p:cNvGrpSpPr/>
          <p:nvPr/>
        </p:nvGrpSpPr>
        <p:grpSpPr>
          <a:xfrm>
            <a:off x="9021061" y="6000560"/>
            <a:ext cx="245878" cy="245878"/>
            <a:chOff x="0" y="0"/>
            <a:chExt cx="327838" cy="327838"/>
          </a:xfrm>
        </p:grpSpPr>
        <p:sp>
          <p:nvSpPr>
            <p:cNvPr id="33" name="Freeform 33"/>
            <p:cNvSpPr/>
            <p:nvPr/>
          </p:nvSpPr>
          <p:spPr>
            <a:xfrm>
              <a:off x="50800" y="50800"/>
              <a:ext cx="226314" cy="226314"/>
            </a:xfrm>
            <a:custGeom>
              <a:avLst/>
              <a:gdLst/>
              <a:ahLst/>
              <a:cxnLst/>
              <a:rect l="l" t="t" r="r" b="b"/>
              <a:pathLst>
                <a:path w="226314" h="226314">
                  <a:moveTo>
                    <a:pt x="0" y="113157"/>
                  </a:moveTo>
                  <a:cubicBezTo>
                    <a:pt x="0" y="50673"/>
                    <a:pt x="50673" y="0"/>
                    <a:pt x="113157" y="0"/>
                  </a:cubicBezTo>
                  <a:cubicBezTo>
                    <a:pt x="175641" y="0"/>
                    <a:pt x="226314" y="50673"/>
                    <a:pt x="226314" y="113157"/>
                  </a:cubicBezTo>
                  <a:cubicBezTo>
                    <a:pt x="226314" y="175641"/>
                    <a:pt x="175641" y="226314"/>
                    <a:pt x="113157" y="226314"/>
                  </a:cubicBezTo>
                  <a:cubicBezTo>
                    <a:pt x="50673" y="226314"/>
                    <a:pt x="0" y="175641"/>
                    <a:pt x="0" y="113157"/>
                  </a:cubicBezTo>
                  <a:close/>
                </a:path>
              </a:pathLst>
            </a:custGeom>
            <a:solidFill>
              <a:srgbClr val="ACC777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327914" cy="327914"/>
            </a:xfrm>
            <a:custGeom>
              <a:avLst/>
              <a:gdLst/>
              <a:ahLst/>
              <a:cxnLst/>
              <a:rect l="l" t="t" r="r" b="b"/>
              <a:pathLst>
                <a:path w="327914" h="327914">
                  <a:moveTo>
                    <a:pt x="0" y="163957"/>
                  </a:moveTo>
                  <a:cubicBezTo>
                    <a:pt x="0" y="73406"/>
                    <a:pt x="73406" y="0"/>
                    <a:pt x="163957" y="0"/>
                  </a:cubicBezTo>
                  <a:lnTo>
                    <a:pt x="163957" y="50800"/>
                  </a:lnTo>
                  <a:lnTo>
                    <a:pt x="163957" y="0"/>
                  </a:lnTo>
                  <a:cubicBezTo>
                    <a:pt x="254508" y="0"/>
                    <a:pt x="327914" y="73406"/>
                    <a:pt x="327914" y="163957"/>
                  </a:cubicBezTo>
                  <a:lnTo>
                    <a:pt x="277114" y="163957"/>
                  </a:lnTo>
                  <a:lnTo>
                    <a:pt x="327914" y="163957"/>
                  </a:lnTo>
                  <a:cubicBezTo>
                    <a:pt x="327914" y="254508"/>
                    <a:pt x="254508" y="327914"/>
                    <a:pt x="163957" y="327914"/>
                  </a:cubicBezTo>
                  <a:lnTo>
                    <a:pt x="163957" y="277114"/>
                  </a:lnTo>
                  <a:lnTo>
                    <a:pt x="163957" y="327914"/>
                  </a:lnTo>
                  <a:cubicBezTo>
                    <a:pt x="73406" y="327787"/>
                    <a:pt x="0" y="254508"/>
                    <a:pt x="0" y="163957"/>
                  </a:cubicBezTo>
                  <a:lnTo>
                    <a:pt x="50800" y="163957"/>
                  </a:lnTo>
                  <a:lnTo>
                    <a:pt x="101600" y="163957"/>
                  </a:lnTo>
                  <a:lnTo>
                    <a:pt x="50800" y="163957"/>
                  </a:lnTo>
                  <a:lnTo>
                    <a:pt x="0" y="163957"/>
                  </a:lnTo>
                  <a:moveTo>
                    <a:pt x="101600" y="163957"/>
                  </a:moveTo>
                  <a:cubicBezTo>
                    <a:pt x="101600" y="192024"/>
                    <a:pt x="78867" y="214757"/>
                    <a:pt x="50800" y="214757"/>
                  </a:cubicBezTo>
                  <a:cubicBezTo>
                    <a:pt x="22733" y="214757"/>
                    <a:pt x="0" y="192024"/>
                    <a:pt x="0" y="163957"/>
                  </a:cubicBezTo>
                  <a:cubicBezTo>
                    <a:pt x="0" y="135890"/>
                    <a:pt x="22733" y="113157"/>
                    <a:pt x="50800" y="113157"/>
                  </a:cubicBezTo>
                  <a:cubicBezTo>
                    <a:pt x="78867" y="113157"/>
                    <a:pt x="101600" y="135890"/>
                    <a:pt x="101600" y="163957"/>
                  </a:cubicBezTo>
                  <a:cubicBezTo>
                    <a:pt x="101600" y="198374"/>
                    <a:pt x="129540" y="226314"/>
                    <a:pt x="163957" y="226314"/>
                  </a:cubicBezTo>
                  <a:cubicBezTo>
                    <a:pt x="198374" y="226314"/>
                    <a:pt x="226314" y="198374"/>
                    <a:pt x="226314" y="163957"/>
                  </a:cubicBezTo>
                  <a:cubicBezTo>
                    <a:pt x="226314" y="129540"/>
                    <a:pt x="198374" y="101600"/>
                    <a:pt x="163957" y="101600"/>
                  </a:cubicBezTo>
                  <a:lnTo>
                    <a:pt x="163957" y="50800"/>
                  </a:lnTo>
                  <a:lnTo>
                    <a:pt x="163957" y="101600"/>
                  </a:lnTo>
                  <a:cubicBezTo>
                    <a:pt x="129540" y="101600"/>
                    <a:pt x="101600" y="129540"/>
                    <a:pt x="101600" y="163957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</p:grpSp>
      <p:sp>
        <p:nvSpPr>
          <p:cNvPr id="35" name="AutoShape 35"/>
          <p:cNvSpPr/>
          <p:nvPr/>
        </p:nvSpPr>
        <p:spPr>
          <a:xfrm rot="158580">
            <a:off x="8252527" y="6142263"/>
            <a:ext cx="82612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6" name="Group 36"/>
          <p:cNvGrpSpPr/>
          <p:nvPr/>
        </p:nvGrpSpPr>
        <p:grpSpPr>
          <a:xfrm>
            <a:off x="6625076" y="5313388"/>
            <a:ext cx="1676800" cy="1676800"/>
            <a:chOff x="0" y="0"/>
            <a:chExt cx="2235733" cy="2235733"/>
          </a:xfrm>
        </p:grpSpPr>
        <p:sp>
          <p:nvSpPr>
            <p:cNvPr id="37" name="Freeform 37"/>
            <p:cNvSpPr/>
            <p:nvPr/>
          </p:nvSpPr>
          <p:spPr>
            <a:xfrm>
              <a:off x="63500" y="63500"/>
              <a:ext cx="2108708" cy="2108708"/>
            </a:xfrm>
            <a:custGeom>
              <a:avLst/>
              <a:gdLst/>
              <a:ahLst/>
              <a:cxnLst/>
              <a:rect l="l" t="t" r="r" b="b"/>
              <a:pathLst>
                <a:path w="2108708" h="2108708">
                  <a:moveTo>
                    <a:pt x="0" y="0"/>
                  </a:moveTo>
                  <a:lnTo>
                    <a:pt x="2108708" y="0"/>
                  </a:lnTo>
                  <a:lnTo>
                    <a:pt x="2108708" y="2108708"/>
                  </a:lnTo>
                  <a:lnTo>
                    <a:pt x="0" y="2108708"/>
                  </a:lnTo>
                  <a:close/>
                </a:path>
              </a:pathLst>
            </a:custGeom>
            <a:solidFill>
              <a:srgbClr val="ACC777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0" y="0"/>
              <a:ext cx="2235708" cy="2235708"/>
            </a:xfrm>
            <a:custGeom>
              <a:avLst/>
              <a:gdLst/>
              <a:ahLst/>
              <a:cxnLst/>
              <a:rect l="l" t="t" r="r" b="b"/>
              <a:pathLst>
                <a:path w="2235708" h="2235708">
                  <a:moveTo>
                    <a:pt x="63500" y="0"/>
                  </a:moveTo>
                  <a:lnTo>
                    <a:pt x="2172208" y="0"/>
                  </a:lnTo>
                  <a:cubicBezTo>
                    <a:pt x="2207260" y="0"/>
                    <a:pt x="2235708" y="28448"/>
                    <a:pt x="2235708" y="63500"/>
                  </a:cubicBezTo>
                  <a:lnTo>
                    <a:pt x="2235708" y="2172208"/>
                  </a:lnTo>
                  <a:cubicBezTo>
                    <a:pt x="2235708" y="2207260"/>
                    <a:pt x="2207260" y="2235708"/>
                    <a:pt x="2172208" y="2235708"/>
                  </a:cubicBezTo>
                  <a:lnTo>
                    <a:pt x="63500" y="2235708"/>
                  </a:lnTo>
                  <a:cubicBezTo>
                    <a:pt x="28448" y="2235708"/>
                    <a:pt x="0" y="2207260"/>
                    <a:pt x="0" y="2172208"/>
                  </a:cubicBezTo>
                  <a:lnTo>
                    <a:pt x="0" y="63500"/>
                  </a:lnTo>
                  <a:cubicBezTo>
                    <a:pt x="0" y="28448"/>
                    <a:pt x="28448" y="0"/>
                    <a:pt x="63500" y="0"/>
                  </a:cubicBezTo>
                  <a:moveTo>
                    <a:pt x="63500" y="127000"/>
                  </a:moveTo>
                  <a:lnTo>
                    <a:pt x="63500" y="63500"/>
                  </a:lnTo>
                  <a:lnTo>
                    <a:pt x="127000" y="63500"/>
                  </a:lnTo>
                  <a:lnTo>
                    <a:pt x="127000" y="2172208"/>
                  </a:lnTo>
                  <a:lnTo>
                    <a:pt x="63500" y="2172208"/>
                  </a:lnTo>
                  <a:lnTo>
                    <a:pt x="63500" y="2108708"/>
                  </a:lnTo>
                  <a:lnTo>
                    <a:pt x="2172208" y="2108708"/>
                  </a:lnTo>
                  <a:lnTo>
                    <a:pt x="2172208" y="2172208"/>
                  </a:lnTo>
                  <a:lnTo>
                    <a:pt x="2108708" y="2172208"/>
                  </a:lnTo>
                  <a:lnTo>
                    <a:pt x="2108708" y="63500"/>
                  </a:lnTo>
                  <a:lnTo>
                    <a:pt x="2172208" y="63500"/>
                  </a:lnTo>
                  <a:lnTo>
                    <a:pt x="2172208" y="127000"/>
                  </a:lnTo>
                  <a:lnTo>
                    <a:pt x="63500" y="127000"/>
                  </a:lnTo>
                  <a:close/>
                </a:path>
              </a:pathLst>
            </a:custGeom>
            <a:solidFill>
              <a:srgbClr val="D9D9D9">
                <a:alpha val="24706"/>
              </a:srgbClr>
            </a:solidFill>
          </p:spPr>
        </p:sp>
      </p:grpSp>
      <p:sp>
        <p:nvSpPr>
          <p:cNvPr id="39" name="AutoShape 39"/>
          <p:cNvSpPr/>
          <p:nvPr/>
        </p:nvSpPr>
        <p:spPr>
          <a:xfrm rot="5331480">
            <a:off x="8187880" y="7148827"/>
            <a:ext cx="1912239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0" name="Group 40"/>
          <p:cNvGrpSpPr/>
          <p:nvPr/>
        </p:nvGrpSpPr>
        <p:grpSpPr>
          <a:xfrm>
            <a:off x="9021061" y="8080505"/>
            <a:ext cx="245878" cy="245878"/>
            <a:chOff x="0" y="0"/>
            <a:chExt cx="327838" cy="327838"/>
          </a:xfrm>
        </p:grpSpPr>
        <p:sp>
          <p:nvSpPr>
            <p:cNvPr id="41" name="Freeform 41"/>
            <p:cNvSpPr/>
            <p:nvPr/>
          </p:nvSpPr>
          <p:spPr>
            <a:xfrm>
              <a:off x="50800" y="50800"/>
              <a:ext cx="226314" cy="226314"/>
            </a:xfrm>
            <a:custGeom>
              <a:avLst/>
              <a:gdLst/>
              <a:ahLst/>
              <a:cxnLst/>
              <a:rect l="l" t="t" r="r" b="b"/>
              <a:pathLst>
                <a:path w="226314" h="226314">
                  <a:moveTo>
                    <a:pt x="0" y="113157"/>
                  </a:moveTo>
                  <a:cubicBezTo>
                    <a:pt x="0" y="50673"/>
                    <a:pt x="50673" y="0"/>
                    <a:pt x="113157" y="0"/>
                  </a:cubicBezTo>
                  <a:cubicBezTo>
                    <a:pt x="175641" y="0"/>
                    <a:pt x="226314" y="50673"/>
                    <a:pt x="226314" y="113157"/>
                  </a:cubicBezTo>
                  <a:cubicBezTo>
                    <a:pt x="226314" y="175641"/>
                    <a:pt x="175641" y="226314"/>
                    <a:pt x="113157" y="226314"/>
                  </a:cubicBezTo>
                  <a:cubicBezTo>
                    <a:pt x="50673" y="226314"/>
                    <a:pt x="0" y="175641"/>
                    <a:pt x="0" y="113157"/>
                  </a:cubicBezTo>
                  <a:close/>
                </a:path>
              </a:pathLst>
            </a:custGeom>
            <a:solidFill>
              <a:srgbClr val="77933C"/>
            </a:solidFill>
          </p:spPr>
        </p:sp>
        <p:sp>
          <p:nvSpPr>
            <p:cNvPr id="42" name="Freeform 42"/>
            <p:cNvSpPr/>
            <p:nvPr/>
          </p:nvSpPr>
          <p:spPr>
            <a:xfrm>
              <a:off x="0" y="0"/>
              <a:ext cx="327914" cy="327914"/>
            </a:xfrm>
            <a:custGeom>
              <a:avLst/>
              <a:gdLst/>
              <a:ahLst/>
              <a:cxnLst/>
              <a:rect l="l" t="t" r="r" b="b"/>
              <a:pathLst>
                <a:path w="327914" h="327914">
                  <a:moveTo>
                    <a:pt x="0" y="163957"/>
                  </a:moveTo>
                  <a:cubicBezTo>
                    <a:pt x="0" y="73406"/>
                    <a:pt x="73406" y="0"/>
                    <a:pt x="163957" y="0"/>
                  </a:cubicBezTo>
                  <a:lnTo>
                    <a:pt x="163957" y="50800"/>
                  </a:lnTo>
                  <a:lnTo>
                    <a:pt x="163957" y="0"/>
                  </a:lnTo>
                  <a:cubicBezTo>
                    <a:pt x="254508" y="0"/>
                    <a:pt x="327914" y="73406"/>
                    <a:pt x="327914" y="163957"/>
                  </a:cubicBezTo>
                  <a:lnTo>
                    <a:pt x="277114" y="163957"/>
                  </a:lnTo>
                  <a:lnTo>
                    <a:pt x="327914" y="163957"/>
                  </a:lnTo>
                  <a:cubicBezTo>
                    <a:pt x="327914" y="254508"/>
                    <a:pt x="254508" y="327914"/>
                    <a:pt x="163957" y="327914"/>
                  </a:cubicBezTo>
                  <a:lnTo>
                    <a:pt x="163957" y="277114"/>
                  </a:lnTo>
                  <a:lnTo>
                    <a:pt x="163957" y="327914"/>
                  </a:lnTo>
                  <a:cubicBezTo>
                    <a:pt x="73406" y="327787"/>
                    <a:pt x="0" y="254508"/>
                    <a:pt x="0" y="163957"/>
                  </a:cubicBezTo>
                  <a:lnTo>
                    <a:pt x="50800" y="163957"/>
                  </a:lnTo>
                  <a:lnTo>
                    <a:pt x="101600" y="163957"/>
                  </a:lnTo>
                  <a:lnTo>
                    <a:pt x="50800" y="163957"/>
                  </a:lnTo>
                  <a:lnTo>
                    <a:pt x="0" y="163957"/>
                  </a:lnTo>
                  <a:moveTo>
                    <a:pt x="101600" y="163957"/>
                  </a:moveTo>
                  <a:cubicBezTo>
                    <a:pt x="101600" y="192024"/>
                    <a:pt x="78867" y="214757"/>
                    <a:pt x="50800" y="214757"/>
                  </a:cubicBezTo>
                  <a:cubicBezTo>
                    <a:pt x="22733" y="214757"/>
                    <a:pt x="0" y="192024"/>
                    <a:pt x="0" y="163957"/>
                  </a:cubicBezTo>
                  <a:cubicBezTo>
                    <a:pt x="0" y="135890"/>
                    <a:pt x="22733" y="113157"/>
                    <a:pt x="50800" y="113157"/>
                  </a:cubicBezTo>
                  <a:cubicBezTo>
                    <a:pt x="78867" y="113157"/>
                    <a:pt x="101600" y="135890"/>
                    <a:pt x="101600" y="163957"/>
                  </a:cubicBezTo>
                  <a:cubicBezTo>
                    <a:pt x="101600" y="198374"/>
                    <a:pt x="129540" y="226314"/>
                    <a:pt x="163957" y="226314"/>
                  </a:cubicBezTo>
                  <a:cubicBezTo>
                    <a:pt x="198374" y="226314"/>
                    <a:pt x="226314" y="198374"/>
                    <a:pt x="226314" y="163957"/>
                  </a:cubicBezTo>
                  <a:cubicBezTo>
                    <a:pt x="226314" y="129540"/>
                    <a:pt x="198374" y="101600"/>
                    <a:pt x="163957" y="101600"/>
                  </a:cubicBezTo>
                  <a:lnTo>
                    <a:pt x="163957" y="50800"/>
                  </a:lnTo>
                  <a:lnTo>
                    <a:pt x="163957" y="101600"/>
                  </a:lnTo>
                  <a:cubicBezTo>
                    <a:pt x="129540" y="101600"/>
                    <a:pt x="101600" y="129540"/>
                    <a:pt x="101600" y="163957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</p:grpSp>
      <p:sp>
        <p:nvSpPr>
          <p:cNvPr id="43" name="AutoShape 43"/>
          <p:cNvSpPr/>
          <p:nvPr/>
        </p:nvSpPr>
        <p:spPr>
          <a:xfrm rot="158580">
            <a:off x="9209351" y="8222199"/>
            <a:ext cx="82612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4" name="Group 44"/>
          <p:cNvGrpSpPr/>
          <p:nvPr/>
        </p:nvGrpSpPr>
        <p:grpSpPr>
          <a:xfrm>
            <a:off x="9968351" y="7393324"/>
            <a:ext cx="1676800" cy="1676800"/>
            <a:chOff x="0" y="0"/>
            <a:chExt cx="2235733" cy="2235733"/>
          </a:xfrm>
        </p:grpSpPr>
        <p:sp>
          <p:nvSpPr>
            <p:cNvPr id="45" name="Freeform 45"/>
            <p:cNvSpPr/>
            <p:nvPr/>
          </p:nvSpPr>
          <p:spPr>
            <a:xfrm>
              <a:off x="63500" y="63500"/>
              <a:ext cx="2108708" cy="2108708"/>
            </a:xfrm>
            <a:custGeom>
              <a:avLst/>
              <a:gdLst/>
              <a:ahLst/>
              <a:cxnLst/>
              <a:rect l="l" t="t" r="r" b="b"/>
              <a:pathLst>
                <a:path w="2108708" h="2108708">
                  <a:moveTo>
                    <a:pt x="0" y="0"/>
                  </a:moveTo>
                  <a:lnTo>
                    <a:pt x="2108708" y="0"/>
                  </a:lnTo>
                  <a:lnTo>
                    <a:pt x="2108708" y="2108708"/>
                  </a:lnTo>
                  <a:lnTo>
                    <a:pt x="0" y="2108708"/>
                  </a:lnTo>
                  <a:close/>
                </a:path>
              </a:pathLst>
            </a:custGeom>
            <a:solidFill>
              <a:srgbClr val="77933C"/>
            </a:solidFill>
          </p:spPr>
        </p:sp>
        <p:sp>
          <p:nvSpPr>
            <p:cNvPr id="46" name="Freeform 46"/>
            <p:cNvSpPr/>
            <p:nvPr/>
          </p:nvSpPr>
          <p:spPr>
            <a:xfrm>
              <a:off x="0" y="0"/>
              <a:ext cx="2235708" cy="2235708"/>
            </a:xfrm>
            <a:custGeom>
              <a:avLst/>
              <a:gdLst/>
              <a:ahLst/>
              <a:cxnLst/>
              <a:rect l="l" t="t" r="r" b="b"/>
              <a:pathLst>
                <a:path w="2235708" h="2235708">
                  <a:moveTo>
                    <a:pt x="63500" y="0"/>
                  </a:moveTo>
                  <a:lnTo>
                    <a:pt x="2172208" y="0"/>
                  </a:lnTo>
                  <a:cubicBezTo>
                    <a:pt x="2207260" y="0"/>
                    <a:pt x="2235708" y="28448"/>
                    <a:pt x="2235708" y="63500"/>
                  </a:cubicBezTo>
                  <a:lnTo>
                    <a:pt x="2235708" y="2172208"/>
                  </a:lnTo>
                  <a:cubicBezTo>
                    <a:pt x="2235708" y="2207260"/>
                    <a:pt x="2207260" y="2235708"/>
                    <a:pt x="2172208" y="2235708"/>
                  </a:cubicBezTo>
                  <a:lnTo>
                    <a:pt x="63500" y="2235708"/>
                  </a:lnTo>
                  <a:cubicBezTo>
                    <a:pt x="28448" y="2235708"/>
                    <a:pt x="0" y="2207260"/>
                    <a:pt x="0" y="2172208"/>
                  </a:cubicBezTo>
                  <a:lnTo>
                    <a:pt x="0" y="63500"/>
                  </a:lnTo>
                  <a:cubicBezTo>
                    <a:pt x="0" y="28448"/>
                    <a:pt x="28448" y="0"/>
                    <a:pt x="63500" y="0"/>
                  </a:cubicBezTo>
                  <a:moveTo>
                    <a:pt x="63500" y="127000"/>
                  </a:moveTo>
                  <a:lnTo>
                    <a:pt x="63500" y="63500"/>
                  </a:lnTo>
                  <a:lnTo>
                    <a:pt x="127000" y="63500"/>
                  </a:lnTo>
                  <a:lnTo>
                    <a:pt x="127000" y="2172208"/>
                  </a:lnTo>
                  <a:lnTo>
                    <a:pt x="63500" y="2172208"/>
                  </a:lnTo>
                  <a:lnTo>
                    <a:pt x="63500" y="2108708"/>
                  </a:lnTo>
                  <a:lnTo>
                    <a:pt x="2172208" y="2108708"/>
                  </a:lnTo>
                  <a:lnTo>
                    <a:pt x="2172208" y="2172208"/>
                  </a:lnTo>
                  <a:lnTo>
                    <a:pt x="2108708" y="2172208"/>
                  </a:lnTo>
                  <a:lnTo>
                    <a:pt x="2108708" y="63500"/>
                  </a:lnTo>
                  <a:lnTo>
                    <a:pt x="2172208" y="63500"/>
                  </a:lnTo>
                  <a:lnTo>
                    <a:pt x="2172208" y="127000"/>
                  </a:lnTo>
                  <a:lnTo>
                    <a:pt x="63500" y="127000"/>
                  </a:lnTo>
                  <a:close/>
                </a:path>
              </a:pathLst>
            </a:custGeom>
            <a:solidFill>
              <a:srgbClr val="D9D9D9">
                <a:alpha val="24706"/>
              </a:srgbClr>
            </a:solidFill>
          </p:spPr>
        </p:sp>
      </p:grpSp>
      <p:sp>
        <p:nvSpPr>
          <p:cNvPr id="47" name="TextBox 47"/>
          <p:cNvSpPr txBox="1"/>
          <p:nvPr/>
        </p:nvSpPr>
        <p:spPr>
          <a:xfrm>
            <a:off x="11966953" y="7477144"/>
            <a:ext cx="4461914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80808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Conclusion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966953" y="8074333"/>
            <a:ext cx="4461914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Synthèse, critères de choix, et la suite du chemin pour approfondir.</a:t>
            </a:r>
          </a:p>
        </p:txBody>
      </p:sp>
      <p:sp>
        <p:nvSpPr>
          <p:cNvPr id="49" name="AutoShape 49"/>
          <p:cNvSpPr/>
          <p:nvPr/>
        </p:nvSpPr>
        <p:spPr>
          <a:xfrm rot="5335020">
            <a:off x="8136074" y="9288780"/>
            <a:ext cx="201585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0" name="Freeform 50"/>
          <p:cNvSpPr/>
          <p:nvPr/>
        </p:nvSpPr>
        <p:spPr>
          <a:xfrm>
            <a:off x="7176954" y="1762077"/>
            <a:ext cx="573053" cy="496348"/>
          </a:xfrm>
          <a:custGeom>
            <a:avLst/>
            <a:gdLst/>
            <a:ahLst/>
            <a:cxnLst/>
            <a:rect l="l" t="t" r="r" b="b"/>
            <a:pathLst>
              <a:path w="573053" h="496348">
                <a:moveTo>
                  <a:pt x="0" y="0"/>
                </a:moveTo>
                <a:lnTo>
                  <a:pt x="573053" y="0"/>
                </a:lnTo>
                <a:lnTo>
                  <a:pt x="573053" y="496348"/>
                </a:lnTo>
                <a:lnTo>
                  <a:pt x="0" y="4963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7227389" y="5918730"/>
            <a:ext cx="497138" cy="466125"/>
          </a:xfrm>
          <a:custGeom>
            <a:avLst/>
            <a:gdLst/>
            <a:ahLst/>
            <a:cxnLst/>
            <a:rect l="l" t="t" r="r" b="b"/>
            <a:pathLst>
              <a:path w="497138" h="466125">
                <a:moveTo>
                  <a:pt x="0" y="0"/>
                </a:moveTo>
                <a:lnTo>
                  <a:pt x="497138" y="0"/>
                </a:lnTo>
                <a:lnTo>
                  <a:pt x="497138" y="466125"/>
                </a:lnTo>
                <a:lnTo>
                  <a:pt x="0" y="4661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>
            <a:off x="10554014" y="3809105"/>
            <a:ext cx="505473" cy="505616"/>
          </a:xfrm>
          <a:custGeom>
            <a:avLst/>
            <a:gdLst/>
            <a:ahLst/>
            <a:cxnLst/>
            <a:rect l="l" t="t" r="r" b="b"/>
            <a:pathLst>
              <a:path w="505473" h="505616">
                <a:moveTo>
                  <a:pt x="0" y="0"/>
                </a:moveTo>
                <a:lnTo>
                  <a:pt x="505473" y="0"/>
                </a:lnTo>
                <a:lnTo>
                  <a:pt x="505473" y="505615"/>
                </a:lnTo>
                <a:lnTo>
                  <a:pt x="0" y="5056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10546290" y="7975159"/>
            <a:ext cx="499062" cy="498662"/>
          </a:xfrm>
          <a:custGeom>
            <a:avLst/>
            <a:gdLst/>
            <a:ahLst/>
            <a:cxnLst/>
            <a:rect l="l" t="t" r="r" b="b"/>
            <a:pathLst>
              <a:path w="499062" h="498662">
                <a:moveTo>
                  <a:pt x="0" y="0"/>
                </a:moveTo>
                <a:lnTo>
                  <a:pt x="499062" y="0"/>
                </a:lnTo>
                <a:lnTo>
                  <a:pt x="499062" y="498662"/>
                </a:lnTo>
                <a:lnTo>
                  <a:pt x="0" y="4986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54" name="Group 54"/>
          <p:cNvGrpSpPr/>
          <p:nvPr/>
        </p:nvGrpSpPr>
        <p:grpSpPr>
          <a:xfrm rot="-10800000">
            <a:off x="8974621" y="9604591"/>
            <a:ext cx="376870" cy="339810"/>
            <a:chOff x="0" y="0"/>
            <a:chExt cx="527901" cy="475989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527939" cy="476027"/>
            </a:xfrm>
            <a:custGeom>
              <a:avLst/>
              <a:gdLst/>
              <a:ahLst/>
              <a:cxnLst/>
              <a:rect l="l" t="t" r="r" b="b"/>
              <a:pathLst>
                <a:path w="527939" h="476027">
                  <a:moveTo>
                    <a:pt x="527939" y="0"/>
                  </a:moveTo>
                  <a:lnTo>
                    <a:pt x="263906" y="4760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sp>
        <p:nvSpPr>
          <p:cNvPr id="56" name="Freeform 56"/>
          <p:cNvSpPr/>
          <p:nvPr/>
        </p:nvSpPr>
        <p:spPr>
          <a:xfrm>
            <a:off x="10432407" y="7949817"/>
            <a:ext cx="726828" cy="681484"/>
          </a:xfrm>
          <a:custGeom>
            <a:avLst/>
            <a:gdLst/>
            <a:ahLst/>
            <a:cxnLst/>
            <a:rect l="l" t="t" r="r" b="b"/>
            <a:pathLst>
              <a:path w="726828" h="681484">
                <a:moveTo>
                  <a:pt x="0" y="0"/>
                </a:moveTo>
                <a:lnTo>
                  <a:pt x="726828" y="0"/>
                </a:lnTo>
                <a:lnTo>
                  <a:pt x="726828" y="681484"/>
                </a:lnTo>
                <a:lnTo>
                  <a:pt x="0" y="68148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grpSp>
        <p:nvGrpSpPr>
          <p:cNvPr id="57" name="Group 57"/>
          <p:cNvGrpSpPr/>
          <p:nvPr/>
        </p:nvGrpSpPr>
        <p:grpSpPr>
          <a:xfrm>
            <a:off x="10012347" y="4750660"/>
            <a:ext cx="1581550" cy="130302"/>
            <a:chOff x="0" y="0"/>
            <a:chExt cx="2108733" cy="173736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108708" cy="173736"/>
            </a:xfrm>
            <a:custGeom>
              <a:avLst/>
              <a:gdLst/>
              <a:ahLst/>
              <a:cxnLst/>
              <a:rect l="l" t="t" r="r" b="b"/>
              <a:pathLst>
                <a:path w="2108708" h="173736">
                  <a:moveTo>
                    <a:pt x="0" y="0"/>
                  </a:moveTo>
                  <a:lnTo>
                    <a:pt x="2108708" y="0"/>
                  </a:lnTo>
                  <a:lnTo>
                    <a:pt x="2108708" y="173736"/>
                  </a:lnTo>
                  <a:lnTo>
                    <a:pt x="0" y="173736"/>
                  </a:lnTo>
                  <a:close/>
                </a:path>
              </a:pathLst>
            </a:custGeom>
            <a:solidFill>
              <a:srgbClr val="596E2D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6671416" y="2840069"/>
            <a:ext cx="1581550" cy="130302"/>
            <a:chOff x="0" y="0"/>
            <a:chExt cx="2108733" cy="173736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2108708" cy="173736"/>
            </a:xfrm>
            <a:custGeom>
              <a:avLst/>
              <a:gdLst/>
              <a:ahLst/>
              <a:cxnLst/>
              <a:rect l="l" t="t" r="r" b="b"/>
              <a:pathLst>
                <a:path w="2108708" h="173736">
                  <a:moveTo>
                    <a:pt x="0" y="0"/>
                  </a:moveTo>
                  <a:lnTo>
                    <a:pt x="2108708" y="0"/>
                  </a:lnTo>
                  <a:lnTo>
                    <a:pt x="2108708" y="173736"/>
                  </a:lnTo>
                  <a:lnTo>
                    <a:pt x="0" y="173736"/>
                  </a:lnTo>
                  <a:close/>
                </a:path>
              </a:pathLst>
            </a:custGeom>
            <a:solidFill>
              <a:srgbClr val="596E2D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6671416" y="6872335"/>
            <a:ext cx="1581550" cy="130302"/>
            <a:chOff x="0" y="0"/>
            <a:chExt cx="2108733" cy="173736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108708" cy="173736"/>
            </a:xfrm>
            <a:custGeom>
              <a:avLst/>
              <a:gdLst/>
              <a:ahLst/>
              <a:cxnLst/>
              <a:rect l="l" t="t" r="r" b="b"/>
              <a:pathLst>
                <a:path w="2108708" h="173736">
                  <a:moveTo>
                    <a:pt x="0" y="0"/>
                  </a:moveTo>
                  <a:lnTo>
                    <a:pt x="2108708" y="0"/>
                  </a:lnTo>
                  <a:lnTo>
                    <a:pt x="2108708" y="173736"/>
                  </a:lnTo>
                  <a:lnTo>
                    <a:pt x="0" y="173736"/>
                  </a:lnTo>
                  <a:close/>
                </a:path>
              </a:pathLst>
            </a:custGeom>
            <a:solidFill>
              <a:srgbClr val="596E2D"/>
            </a:solidFill>
          </p:spPr>
        </p:sp>
      </p:grpSp>
      <p:grpSp>
        <p:nvGrpSpPr>
          <p:cNvPr id="63" name="Group 63"/>
          <p:cNvGrpSpPr/>
          <p:nvPr/>
        </p:nvGrpSpPr>
        <p:grpSpPr>
          <a:xfrm>
            <a:off x="10035034" y="8939822"/>
            <a:ext cx="1581550" cy="130302"/>
            <a:chOff x="0" y="0"/>
            <a:chExt cx="2108733" cy="173736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2108708" cy="173736"/>
            </a:xfrm>
            <a:custGeom>
              <a:avLst/>
              <a:gdLst/>
              <a:ahLst/>
              <a:cxnLst/>
              <a:rect l="l" t="t" r="r" b="b"/>
              <a:pathLst>
                <a:path w="2108708" h="173736">
                  <a:moveTo>
                    <a:pt x="0" y="0"/>
                  </a:moveTo>
                  <a:lnTo>
                    <a:pt x="2108708" y="0"/>
                  </a:lnTo>
                  <a:lnTo>
                    <a:pt x="2108708" y="173736"/>
                  </a:lnTo>
                  <a:lnTo>
                    <a:pt x="0" y="173736"/>
                  </a:lnTo>
                  <a:close/>
                </a:path>
              </a:pathLst>
            </a:custGeom>
            <a:solidFill>
              <a:srgbClr val="596E2D"/>
            </a:solidFill>
          </p:spPr>
        </p:sp>
      </p:grpSp>
      <p:sp>
        <p:nvSpPr>
          <p:cNvPr id="65" name="TextBox 65"/>
          <p:cNvSpPr txBox="1"/>
          <p:nvPr/>
        </p:nvSpPr>
        <p:spPr>
          <a:xfrm>
            <a:off x="1736693" y="6499914"/>
            <a:ext cx="4646609" cy="502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20"/>
              </a:lnSpc>
            </a:pPr>
            <a:r>
              <a:rPr lang="en-US" sz="16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Où Node brille, où il est moins adapté, et les cas d'usage réels qu'onrencontre en production.</a:t>
            </a:r>
          </a:p>
        </p:txBody>
      </p:sp>
      <p:sp>
        <p:nvSpPr>
          <p:cNvPr id="66" name="Freeform 66"/>
          <p:cNvSpPr/>
          <p:nvPr/>
        </p:nvSpPr>
        <p:spPr>
          <a:xfrm>
            <a:off x="7022754" y="5855025"/>
            <a:ext cx="727253" cy="555431"/>
          </a:xfrm>
          <a:custGeom>
            <a:avLst/>
            <a:gdLst/>
            <a:ahLst/>
            <a:cxnLst/>
            <a:rect l="l" t="t" r="r" b="b"/>
            <a:pathLst>
              <a:path w="727253" h="555431">
                <a:moveTo>
                  <a:pt x="0" y="0"/>
                </a:moveTo>
                <a:lnTo>
                  <a:pt x="727253" y="0"/>
                </a:lnTo>
                <a:lnTo>
                  <a:pt x="727253" y="555431"/>
                </a:lnTo>
                <a:lnTo>
                  <a:pt x="0" y="55543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67" name="AutoShape 67"/>
          <p:cNvSpPr/>
          <p:nvPr/>
        </p:nvSpPr>
        <p:spPr>
          <a:xfrm flipV="1">
            <a:off x="9144000" y="0"/>
            <a:ext cx="0" cy="9898250"/>
          </a:xfrm>
          <a:prstGeom prst="line">
            <a:avLst/>
          </a:prstGeom>
          <a:ln w="19050" cap="rnd">
            <a:solidFill>
              <a:srgbClr val="84BDE4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68" name="AutoShape 68"/>
          <p:cNvSpPr/>
          <p:nvPr/>
        </p:nvSpPr>
        <p:spPr>
          <a:xfrm>
            <a:off x="8301876" y="1929919"/>
            <a:ext cx="719417" cy="44468"/>
          </a:xfrm>
          <a:prstGeom prst="line">
            <a:avLst/>
          </a:prstGeom>
          <a:ln w="19050" cap="rnd">
            <a:solidFill>
              <a:srgbClr val="84BDE4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69" name="AutoShape 69"/>
          <p:cNvSpPr/>
          <p:nvPr/>
        </p:nvSpPr>
        <p:spPr>
          <a:xfrm>
            <a:off x="9163056" y="4071150"/>
            <a:ext cx="775315" cy="19047"/>
          </a:xfrm>
          <a:prstGeom prst="line">
            <a:avLst/>
          </a:prstGeom>
          <a:ln w="19050" cap="rnd">
            <a:solidFill>
              <a:srgbClr val="84BDE4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70" name="AutoShape 70"/>
          <p:cNvSpPr/>
          <p:nvPr/>
        </p:nvSpPr>
        <p:spPr>
          <a:xfrm>
            <a:off x="8402864" y="6034345"/>
            <a:ext cx="619068" cy="74469"/>
          </a:xfrm>
          <a:prstGeom prst="line">
            <a:avLst/>
          </a:prstGeom>
          <a:ln w="19050" cap="rnd">
            <a:solidFill>
              <a:srgbClr val="84BDE4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71" name="AutoShape 71"/>
          <p:cNvSpPr/>
          <p:nvPr/>
        </p:nvSpPr>
        <p:spPr>
          <a:xfrm>
            <a:off x="9048253" y="8137910"/>
            <a:ext cx="920097" cy="93814"/>
          </a:xfrm>
          <a:prstGeom prst="line">
            <a:avLst/>
          </a:prstGeom>
          <a:ln w="19050" cap="rnd">
            <a:solidFill>
              <a:srgbClr val="84BDE4"/>
            </a:solidFill>
            <a:prstDash val="solid"/>
            <a:headEnd type="none" w="sm" len="sm"/>
            <a:tailEnd type="oval" w="lg" len="lg"/>
          </a:ln>
        </p:spPr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4007653" y="8198653"/>
            <a:ext cx="1128703" cy="3048000"/>
            <a:chOff x="0" y="0"/>
            <a:chExt cx="1504937" cy="406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77933C"/>
            </a:solidFill>
          </p:spPr>
        </p:sp>
      </p:grpSp>
      <p:grpSp>
        <p:nvGrpSpPr>
          <p:cNvPr id="4" name="Group 4"/>
          <p:cNvGrpSpPr/>
          <p:nvPr/>
        </p:nvGrpSpPr>
        <p:grpSpPr>
          <a:xfrm rot="-5400000">
            <a:off x="7055653" y="8198644"/>
            <a:ext cx="1128703" cy="3048000"/>
            <a:chOff x="0" y="0"/>
            <a:chExt cx="1504937" cy="406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6" name="Group 6"/>
          <p:cNvGrpSpPr/>
          <p:nvPr/>
        </p:nvGrpSpPr>
        <p:grpSpPr>
          <a:xfrm rot="-5400000">
            <a:off x="10103644" y="8198644"/>
            <a:ext cx="1128703" cy="3048000"/>
            <a:chOff x="0" y="0"/>
            <a:chExt cx="1504937" cy="4064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9BBB59"/>
            </a:solidFill>
          </p:spPr>
        </p:sp>
      </p:grpSp>
      <p:grpSp>
        <p:nvGrpSpPr>
          <p:cNvPr id="8" name="Group 8"/>
          <p:cNvGrpSpPr/>
          <p:nvPr/>
        </p:nvGrpSpPr>
        <p:grpSpPr>
          <a:xfrm rot="-5400000">
            <a:off x="13151644" y="8198644"/>
            <a:ext cx="1128712" cy="3048000"/>
            <a:chOff x="0" y="0"/>
            <a:chExt cx="1504950" cy="4064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ACC777"/>
            </a:solidFill>
          </p:spPr>
        </p:sp>
      </p:grpSp>
      <p:grpSp>
        <p:nvGrpSpPr>
          <p:cNvPr id="10" name="Group 10"/>
          <p:cNvGrpSpPr/>
          <p:nvPr/>
        </p:nvGrpSpPr>
        <p:grpSpPr>
          <a:xfrm rot="-5400000">
            <a:off x="16199653" y="8198653"/>
            <a:ext cx="1128703" cy="3048000"/>
            <a:chOff x="0" y="0"/>
            <a:chExt cx="1504937" cy="4064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C0D498"/>
            </a:solidFill>
          </p:spPr>
        </p:sp>
      </p:grpSp>
      <p:grpSp>
        <p:nvGrpSpPr>
          <p:cNvPr id="12" name="Group 12"/>
          <p:cNvGrpSpPr/>
          <p:nvPr/>
        </p:nvGrpSpPr>
        <p:grpSpPr>
          <a:xfrm rot="-5400000">
            <a:off x="959644" y="8198644"/>
            <a:ext cx="1128712" cy="3048000"/>
            <a:chOff x="0" y="0"/>
            <a:chExt cx="1504950" cy="4064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D0DFB3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2" y="1010493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1"/>
                </a:lnTo>
                <a:lnTo>
                  <a:pt x="0" y="201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6096005" y="3438582"/>
            <a:ext cx="6095990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Introduction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282506" y="4772416"/>
            <a:ext cx="11722989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88A94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_____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7431750" y="455790"/>
            <a:ext cx="416319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</a:t>
            </a:r>
          </a:p>
        </p:txBody>
      </p:sp>
      <p:sp>
        <p:nvSpPr>
          <p:cNvPr id="7" name="Freeform 7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 rot="110880">
            <a:off x="819388" y="9779260"/>
            <a:ext cx="590855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5246630" y="667607"/>
            <a:ext cx="6990636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C'est quoi Node.js ?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29016" y="2002213"/>
            <a:ext cx="10496265" cy="463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0"/>
              </a:lnSpc>
            </a:pPr>
            <a:r>
              <a:rPr lang="en-US" sz="3041" i="1">
                <a:solidFill>
                  <a:srgbClr val="8080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Node.js est un </a:t>
            </a:r>
            <a:r>
              <a:rPr lang="en-US" sz="3041" i="1">
                <a:solidFill>
                  <a:srgbClr val="CC2D2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environnement d'exécution open-source</a:t>
            </a:r>
            <a:r>
              <a:rPr lang="en-US" sz="3041" i="1">
                <a:solidFill>
                  <a:srgbClr val="8080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3041" i="1">
                <a:solidFill>
                  <a:srgbClr val="006FB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JavaScript </a:t>
            </a:r>
            <a:r>
              <a:rPr lang="en-US" sz="3041" i="1">
                <a:solidFill>
                  <a:srgbClr val="8080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côté serveur, créé en 2009 par </a:t>
            </a:r>
            <a:r>
              <a:rPr lang="en-US" sz="3041" i="1">
                <a:gradFill>
                  <a:gsLst>
                    <a:gs pos="0">
                      <a:srgbClr val="0E3466">
                        <a:alpha val="100000"/>
                      </a:srgbClr>
                    </a:gs>
                    <a:gs pos="52000">
                      <a:srgbClr val="0E3466">
                        <a:alpha val="100000"/>
                      </a:srgbClr>
                    </a:gs>
                    <a:gs pos="100000">
                      <a:srgbClr val="144990">
                        <a:alpha val="100000"/>
                      </a:srgbClr>
                    </a:gs>
                  </a:gsLst>
                  <a:lin ang="5400000"/>
                </a:gradFill>
                <a:latin typeface="Calibri (MS) Italics"/>
                <a:ea typeface="Calibri (MS) Italics"/>
                <a:cs typeface="Calibri (MS) Italics"/>
                <a:sym typeface="Calibri (MS) Italics"/>
              </a:rPr>
              <a:t>Ryan Dahl</a:t>
            </a:r>
            <a:r>
              <a:rPr lang="en-US" sz="3041" i="1">
                <a:solidFill>
                  <a:srgbClr val="8080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. Avant Node.js, JavaScript ne fonctionnait que dans le </a:t>
            </a:r>
            <a:r>
              <a:rPr lang="en-US" sz="3041" i="1">
                <a:solidFill>
                  <a:srgbClr val="9518B5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navigateur</a:t>
            </a:r>
            <a:r>
              <a:rPr lang="en-US" sz="3041" i="1">
                <a:solidFill>
                  <a:srgbClr val="8080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. Ryan Dahl a eu l'idée révolutionnaire de faire </a:t>
            </a:r>
            <a:r>
              <a:rPr lang="en-US" sz="3041" i="1">
                <a:solidFill>
                  <a:srgbClr val="44552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tourner</a:t>
            </a:r>
            <a:r>
              <a:rPr lang="en-US" sz="3041" i="1">
                <a:solidFill>
                  <a:srgbClr val="8080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JavaScript directement sur un </a:t>
            </a:r>
            <a:r>
              <a:rPr lang="en-US" sz="3041" i="1">
                <a:solidFill>
                  <a:srgbClr val="CC2D2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serveur</a:t>
            </a:r>
            <a:r>
              <a:rPr lang="en-US" sz="3041" i="1">
                <a:solidFill>
                  <a:srgbClr val="8080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, en utilisant le </a:t>
            </a:r>
            <a:r>
              <a:rPr lang="en-US" sz="3041" i="1">
                <a:solidFill>
                  <a:srgbClr val="9518B5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moteur V8</a:t>
            </a:r>
            <a:r>
              <a:rPr lang="en-US" sz="3041" i="1">
                <a:solidFill>
                  <a:srgbClr val="8080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de </a:t>
            </a:r>
            <a:r>
              <a:rPr lang="en-US" sz="3041" i="1">
                <a:solidFill>
                  <a:srgbClr val="2961D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Google Chrome</a:t>
            </a:r>
            <a:r>
              <a:rPr lang="en-US" sz="3041" i="1">
                <a:solidFill>
                  <a:srgbClr val="8080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.</a:t>
            </a:r>
          </a:p>
          <a:p>
            <a:pPr algn="l">
              <a:lnSpc>
                <a:spcPts val="3650"/>
              </a:lnSpc>
            </a:pPr>
            <a:r>
              <a:rPr lang="en-US" sz="3041" i="1">
                <a:solidFill>
                  <a:srgbClr val="8080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En d'autres termes :</a:t>
            </a:r>
          </a:p>
          <a:p>
            <a:pPr marL="656700" lvl="1" indent="-328350" algn="l">
              <a:lnSpc>
                <a:spcPts val="3650"/>
              </a:lnSpc>
              <a:buFont typeface="Arial"/>
              <a:buChar char="•"/>
            </a:pPr>
            <a:r>
              <a:rPr lang="en-US" sz="3041" i="1">
                <a:solidFill>
                  <a:srgbClr val="5A712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Avant Node.js</a:t>
            </a:r>
            <a:r>
              <a:rPr lang="en-US" sz="3041" i="1">
                <a:solidFill>
                  <a:srgbClr val="8080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: </a:t>
            </a:r>
            <a:r>
              <a:rPr lang="en-US" sz="3041" i="1">
                <a:solidFill>
                  <a:srgbClr val="006FB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JavaScript</a:t>
            </a:r>
            <a:r>
              <a:rPr lang="en-US" sz="3041" i="1">
                <a:solidFill>
                  <a:srgbClr val="8080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= uniquement dans le </a:t>
            </a:r>
            <a:r>
              <a:rPr lang="en-US" sz="3041" i="1">
                <a:solidFill>
                  <a:srgbClr val="5E17E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navigateur</a:t>
            </a:r>
          </a:p>
          <a:p>
            <a:pPr marL="656700" lvl="1" indent="-328350" algn="l">
              <a:lnSpc>
                <a:spcPts val="3650"/>
              </a:lnSpc>
              <a:buFont typeface="Arial"/>
              <a:buChar char="•"/>
            </a:pPr>
            <a:r>
              <a:rPr lang="en-US" sz="3041" i="1">
                <a:solidFill>
                  <a:srgbClr val="5A712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Après Node.js</a:t>
            </a:r>
            <a:r>
              <a:rPr lang="en-US" sz="3041" i="1">
                <a:solidFill>
                  <a:srgbClr val="8080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: </a:t>
            </a:r>
            <a:r>
              <a:rPr lang="en-US" sz="3041" i="1">
                <a:solidFill>
                  <a:srgbClr val="006FB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JavaScript</a:t>
            </a:r>
            <a:r>
              <a:rPr lang="en-US" sz="3041" i="1">
                <a:solidFill>
                  <a:srgbClr val="8080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= partout, aussi bien </a:t>
            </a:r>
            <a:r>
              <a:rPr lang="en-US" sz="3041" i="1">
                <a:solidFill>
                  <a:srgbClr val="5E17E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côté client</a:t>
            </a:r>
            <a:r>
              <a:rPr lang="en-US" sz="3041" i="1">
                <a:solidFill>
                  <a:srgbClr val="8080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que </a:t>
            </a:r>
            <a:r>
              <a:rPr lang="en-US" sz="3041" i="1">
                <a:solidFill>
                  <a:srgbClr val="5E17E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serveur</a:t>
            </a:r>
          </a:p>
          <a:p>
            <a:pPr algn="l">
              <a:lnSpc>
                <a:spcPts val="3650"/>
              </a:lnSpc>
            </a:pPr>
            <a:endParaRPr lang="en-US" sz="3041" i="1">
              <a:solidFill>
                <a:srgbClr val="5E17EB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</p:txBody>
      </p:sp>
      <p:grpSp>
        <p:nvGrpSpPr>
          <p:cNvPr id="12" name="Group 12"/>
          <p:cNvGrpSpPr/>
          <p:nvPr/>
        </p:nvGrpSpPr>
        <p:grpSpPr>
          <a:xfrm rot="-5400000">
            <a:off x="4130126" y="8321116"/>
            <a:ext cx="883758" cy="3048000"/>
            <a:chOff x="0" y="0"/>
            <a:chExt cx="1178344" cy="4064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78306" cy="4064000"/>
            </a:xfrm>
            <a:custGeom>
              <a:avLst/>
              <a:gdLst/>
              <a:ahLst/>
              <a:cxnLst/>
              <a:rect l="l" t="t" r="r" b="b"/>
              <a:pathLst>
                <a:path w="1178306" h="4064000">
                  <a:moveTo>
                    <a:pt x="0" y="0"/>
                  </a:moveTo>
                  <a:lnTo>
                    <a:pt x="1178306" y="0"/>
                  </a:lnTo>
                  <a:lnTo>
                    <a:pt x="1178306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77933C"/>
            </a:solidFill>
          </p:spPr>
        </p:sp>
      </p:grpSp>
      <p:grpSp>
        <p:nvGrpSpPr>
          <p:cNvPr id="14" name="Group 14"/>
          <p:cNvGrpSpPr/>
          <p:nvPr/>
        </p:nvGrpSpPr>
        <p:grpSpPr>
          <a:xfrm rot="-5400000">
            <a:off x="6273146" y="7416146"/>
            <a:ext cx="2693708" cy="3048000"/>
            <a:chOff x="0" y="0"/>
            <a:chExt cx="3591611" cy="4064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591560" cy="4064000"/>
            </a:xfrm>
            <a:custGeom>
              <a:avLst/>
              <a:gdLst/>
              <a:ahLst/>
              <a:cxnLst/>
              <a:rect l="l" t="t" r="r" b="b"/>
              <a:pathLst>
                <a:path w="3591560" h="4064000">
                  <a:moveTo>
                    <a:pt x="0" y="0"/>
                  </a:moveTo>
                  <a:lnTo>
                    <a:pt x="3591560" y="0"/>
                  </a:lnTo>
                  <a:lnTo>
                    <a:pt x="359156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16" name="Group 16"/>
          <p:cNvGrpSpPr/>
          <p:nvPr/>
        </p:nvGrpSpPr>
        <p:grpSpPr>
          <a:xfrm rot="-5400000">
            <a:off x="9907962" y="8002962"/>
            <a:ext cx="1520076" cy="3048000"/>
            <a:chOff x="0" y="0"/>
            <a:chExt cx="2026768" cy="4064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26793" cy="4064000"/>
            </a:xfrm>
            <a:custGeom>
              <a:avLst/>
              <a:gdLst/>
              <a:ahLst/>
              <a:cxnLst/>
              <a:rect l="l" t="t" r="r" b="b"/>
              <a:pathLst>
                <a:path w="2026793" h="4064000">
                  <a:moveTo>
                    <a:pt x="0" y="0"/>
                  </a:moveTo>
                  <a:lnTo>
                    <a:pt x="2026793" y="0"/>
                  </a:lnTo>
                  <a:lnTo>
                    <a:pt x="2026793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9BBB59"/>
            </a:solidFill>
          </p:spPr>
        </p:sp>
      </p:grpSp>
      <p:grpSp>
        <p:nvGrpSpPr>
          <p:cNvPr id="18" name="Group 18"/>
          <p:cNvGrpSpPr/>
          <p:nvPr/>
        </p:nvGrpSpPr>
        <p:grpSpPr>
          <a:xfrm rot="-5400000">
            <a:off x="12659020" y="7706020"/>
            <a:ext cx="2113959" cy="3048000"/>
            <a:chOff x="0" y="0"/>
            <a:chExt cx="2818613" cy="4064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818638" cy="4064000"/>
            </a:xfrm>
            <a:custGeom>
              <a:avLst/>
              <a:gdLst/>
              <a:ahLst/>
              <a:cxnLst/>
              <a:rect l="l" t="t" r="r" b="b"/>
              <a:pathLst>
                <a:path w="2818638" h="4064000">
                  <a:moveTo>
                    <a:pt x="0" y="0"/>
                  </a:moveTo>
                  <a:lnTo>
                    <a:pt x="2818638" y="0"/>
                  </a:lnTo>
                  <a:lnTo>
                    <a:pt x="2818638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ACC777"/>
            </a:solidFill>
          </p:spPr>
        </p:sp>
      </p:grpSp>
      <p:grpSp>
        <p:nvGrpSpPr>
          <p:cNvPr id="20" name="Group 20"/>
          <p:cNvGrpSpPr/>
          <p:nvPr/>
        </p:nvGrpSpPr>
        <p:grpSpPr>
          <a:xfrm rot="-5400000">
            <a:off x="16272624" y="8271624"/>
            <a:ext cx="982742" cy="3048000"/>
            <a:chOff x="0" y="0"/>
            <a:chExt cx="1310322" cy="4064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10386" cy="4064000"/>
            </a:xfrm>
            <a:custGeom>
              <a:avLst/>
              <a:gdLst/>
              <a:ahLst/>
              <a:cxnLst/>
              <a:rect l="l" t="t" r="r" b="b"/>
              <a:pathLst>
                <a:path w="1310386" h="4064000">
                  <a:moveTo>
                    <a:pt x="0" y="0"/>
                  </a:moveTo>
                  <a:lnTo>
                    <a:pt x="1310386" y="0"/>
                  </a:lnTo>
                  <a:lnTo>
                    <a:pt x="1310386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C0D498"/>
            </a:solidFill>
          </p:spPr>
        </p:sp>
      </p:grpSp>
      <p:grpSp>
        <p:nvGrpSpPr>
          <p:cNvPr id="22" name="Group 22"/>
          <p:cNvGrpSpPr/>
          <p:nvPr/>
        </p:nvGrpSpPr>
        <p:grpSpPr>
          <a:xfrm rot="-5400000">
            <a:off x="877091" y="8116081"/>
            <a:ext cx="1293828" cy="3048000"/>
            <a:chOff x="0" y="0"/>
            <a:chExt cx="1725104" cy="4064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725168" cy="4064000"/>
            </a:xfrm>
            <a:custGeom>
              <a:avLst/>
              <a:gdLst/>
              <a:ahLst/>
              <a:cxnLst/>
              <a:rect l="l" t="t" r="r" b="b"/>
              <a:pathLst>
                <a:path w="1725168" h="4064000">
                  <a:moveTo>
                    <a:pt x="0" y="0"/>
                  </a:moveTo>
                  <a:lnTo>
                    <a:pt x="1725168" y="0"/>
                  </a:lnTo>
                  <a:lnTo>
                    <a:pt x="1725168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D0DFB3"/>
            </a:solidFill>
          </p:spPr>
        </p:sp>
      </p:grpSp>
      <p:sp>
        <p:nvSpPr>
          <p:cNvPr id="24" name="Freeform 24"/>
          <p:cNvSpPr/>
          <p:nvPr/>
        </p:nvSpPr>
        <p:spPr>
          <a:xfrm>
            <a:off x="2" y="1010493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1"/>
                </a:lnTo>
                <a:lnTo>
                  <a:pt x="0" y="201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7041128" y="8434530"/>
            <a:ext cx="1157754" cy="1001392"/>
          </a:xfrm>
          <a:custGeom>
            <a:avLst/>
            <a:gdLst/>
            <a:ahLst/>
            <a:cxnLst/>
            <a:rect l="l" t="t" r="r" b="b"/>
            <a:pathLst>
              <a:path w="1157754" h="1001392">
                <a:moveTo>
                  <a:pt x="0" y="0"/>
                </a:moveTo>
                <a:lnTo>
                  <a:pt x="1157754" y="0"/>
                </a:lnTo>
                <a:lnTo>
                  <a:pt x="1157754" y="1001392"/>
                </a:lnTo>
                <a:lnTo>
                  <a:pt x="0" y="1001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6" name="AutoShape 26"/>
          <p:cNvSpPr/>
          <p:nvPr/>
        </p:nvSpPr>
        <p:spPr>
          <a:xfrm rot="12360">
            <a:off x="992029" y="6273489"/>
            <a:ext cx="6627333" cy="0"/>
          </a:xfrm>
          <a:prstGeom prst="line">
            <a:avLst/>
          </a:prstGeom>
          <a:ln w="9525" cap="rnd">
            <a:solidFill>
              <a:srgbClr val="88A94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AutoShape 27"/>
          <p:cNvSpPr/>
          <p:nvPr/>
        </p:nvSpPr>
        <p:spPr>
          <a:xfrm rot="5338860">
            <a:off x="6937896" y="6931009"/>
            <a:ext cx="1339063" cy="0"/>
          </a:xfrm>
          <a:prstGeom prst="line">
            <a:avLst/>
          </a:prstGeom>
          <a:ln w="9525" cap="rnd">
            <a:solidFill>
              <a:srgbClr val="88A94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28"/>
          <p:cNvSpPr/>
          <p:nvPr/>
        </p:nvSpPr>
        <p:spPr>
          <a:xfrm rot="5383740">
            <a:off x="-1517866" y="3763604"/>
            <a:ext cx="5043640" cy="0"/>
          </a:xfrm>
          <a:prstGeom prst="line">
            <a:avLst/>
          </a:prstGeom>
          <a:ln w="9525" cap="rnd">
            <a:solidFill>
              <a:srgbClr val="88A945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29" name="Group 29"/>
          <p:cNvGrpSpPr/>
          <p:nvPr/>
        </p:nvGrpSpPr>
        <p:grpSpPr>
          <a:xfrm>
            <a:off x="13961793" y="2518849"/>
            <a:ext cx="3886276" cy="1883665"/>
            <a:chOff x="0" y="0"/>
            <a:chExt cx="5181702" cy="251155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181727" cy="2511566"/>
            </a:xfrm>
            <a:custGeom>
              <a:avLst/>
              <a:gdLst/>
              <a:ahLst/>
              <a:cxnLst/>
              <a:rect l="l" t="t" r="r" b="b"/>
              <a:pathLst>
                <a:path w="5181727" h="2511566">
                  <a:moveTo>
                    <a:pt x="0" y="0"/>
                  </a:moveTo>
                  <a:lnTo>
                    <a:pt x="5181727" y="0"/>
                  </a:lnTo>
                  <a:lnTo>
                    <a:pt x="5181727" y="2511566"/>
                  </a:lnTo>
                  <a:lnTo>
                    <a:pt x="0" y="25115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4147" b="-4147"/>
              </a:stretch>
            </a:blipFill>
          </p:spPr>
        </p:sp>
      </p:grp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7431750" y="455790"/>
            <a:ext cx="416319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</a:t>
            </a:r>
          </a:p>
        </p:txBody>
      </p:sp>
      <p:sp>
        <p:nvSpPr>
          <p:cNvPr id="7" name="Freeform 7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 rot="110880">
            <a:off x="819388" y="9779260"/>
            <a:ext cx="590855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8252965" y="4285755"/>
            <a:ext cx="1782080" cy="462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-Dona Doni-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08074" y="2166937"/>
            <a:ext cx="15054205" cy="5810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4679"/>
              </a:lnSpc>
              <a:buFont typeface="Arial"/>
              <a:buChar char="•"/>
            </a:pPr>
            <a:r>
              <a:rPr lang="en-US" sz="2599" b="1" dirty="0">
                <a:solidFill>
                  <a:srgbClr val="596E2D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2009 : </a:t>
            </a:r>
            <a:r>
              <a:rPr lang="en-US" sz="2599" dirty="0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Naissance de</a:t>
            </a:r>
            <a:r>
              <a:rPr lang="en-US" sz="2599" dirty="0">
                <a:solidFill>
                  <a:srgbClr val="2961D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Node.js</a:t>
            </a:r>
            <a:r>
              <a:rPr lang="en-US" sz="2599" dirty="0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par </a:t>
            </a:r>
            <a:r>
              <a:rPr lang="en-US" sz="2599" dirty="0">
                <a:solidFill>
                  <a:srgbClr val="CC2D2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Ryan Dahl</a:t>
            </a:r>
          </a:p>
          <a:p>
            <a:pPr marL="561337" lvl="1" indent="-280669" algn="l">
              <a:lnSpc>
                <a:spcPts val="4679"/>
              </a:lnSpc>
              <a:buFont typeface="Arial"/>
              <a:buChar char="•"/>
            </a:pPr>
            <a:r>
              <a:rPr lang="en-US" sz="2599" b="1" dirty="0">
                <a:solidFill>
                  <a:srgbClr val="596E2D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2010 : </a:t>
            </a:r>
            <a:r>
              <a:rPr lang="en-US" sz="2599" dirty="0" err="1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Création</a:t>
            </a:r>
            <a:r>
              <a:rPr lang="en-US" sz="2599" dirty="0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de </a:t>
            </a:r>
            <a:r>
              <a:rPr lang="en-US" sz="2599" dirty="0" err="1">
                <a:solidFill>
                  <a:srgbClr val="9518B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npm</a:t>
            </a:r>
            <a:r>
              <a:rPr lang="en-US" sz="2599" dirty="0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,partage de </a:t>
            </a:r>
            <a:r>
              <a:rPr lang="en-US" sz="2599" dirty="0">
                <a:solidFill>
                  <a:srgbClr val="2961D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packages</a:t>
            </a:r>
          </a:p>
          <a:p>
            <a:pPr marL="561337" lvl="1" indent="-280669" algn="l">
              <a:lnSpc>
                <a:spcPts val="4679"/>
              </a:lnSpc>
              <a:buFont typeface="Arial"/>
              <a:buChar char="•"/>
            </a:pPr>
            <a:r>
              <a:rPr lang="en-US" sz="2599" b="1" dirty="0">
                <a:solidFill>
                  <a:srgbClr val="596E2D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2011 : </a:t>
            </a:r>
            <a:r>
              <a:rPr lang="en-US" sz="2599" dirty="0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Adoption par </a:t>
            </a:r>
            <a:r>
              <a:rPr lang="en-US" sz="2599" dirty="0" err="1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grandes</a:t>
            </a:r>
            <a:r>
              <a:rPr lang="en-US" sz="2599" dirty="0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599" dirty="0" err="1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entreprises</a:t>
            </a:r>
            <a:r>
              <a:rPr lang="en-US" sz="2599" dirty="0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(</a:t>
            </a:r>
            <a:r>
              <a:rPr lang="en-US" sz="2599" dirty="0">
                <a:solidFill>
                  <a:srgbClr val="006FB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LinkedIn</a:t>
            </a:r>
            <a:r>
              <a:rPr lang="en-US" sz="2599" dirty="0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</a:t>
            </a:r>
            <a:r>
              <a:rPr lang="en-US" sz="2599" dirty="0">
                <a:solidFill>
                  <a:srgbClr val="CC2D2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Netflix</a:t>
            </a:r>
            <a:r>
              <a:rPr lang="en-US" sz="2599" dirty="0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…)</a:t>
            </a:r>
          </a:p>
          <a:p>
            <a:pPr marL="561337" lvl="1" indent="-280669" algn="l">
              <a:lnSpc>
                <a:spcPts val="4679"/>
              </a:lnSpc>
              <a:buFont typeface="Arial"/>
              <a:buChar char="•"/>
            </a:pPr>
            <a:r>
              <a:rPr lang="en-US" sz="2599" b="1" dirty="0">
                <a:solidFill>
                  <a:srgbClr val="596E2D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2013 : </a:t>
            </a:r>
            <a:r>
              <a:rPr lang="en-US" sz="2599" dirty="0">
                <a:gradFill>
                  <a:gsLst>
                    <a:gs pos="0">
                      <a:srgbClr val="0E3466">
                        <a:alpha val="100000"/>
                      </a:srgbClr>
                    </a:gs>
                    <a:gs pos="52000">
                      <a:srgbClr val="0E3466">
                        <a:alpha val="100000"/>
                      </a:srgbClr>
                    </a:gs>
                    <a:gs pos="100000">
                      <a:srgbClr val="144990">
                        <a:alpha val="100000"/>
                      </a:srgbClr>
                    </a:gs>
                  </a:gsLst>
                  <a:lin ang="5400000"/>
                </a:gradFill>
                <a:latin typeface="Source Sans Pro"/>
                <a:ea typeface="Source Sans Pro"/>
                <a:cs typeface="Source Sans Pro"/>
                <a:sym typeface="Source Sans Pro"/>
              </a:rPr>
              <a:t>Express.js </a:t>
            </a:r>
            <a:r>
              <a:rPr lang="en-US" sz="2599" dirty="0" err="1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devient</a:t>
            </a:r>
            <a:r>
              <a:rPr lang="en-US" sz="2599" dirty="0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le </a:t>
            </a:r>
            <a:r>
              <a:rPr lang="en-US" sz="2599" dirty="0">
                <a:solidFill>
                  <a:srgbClr val="44552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framework</a:t>
            </a:r>
            <a:r>
              <a:rPr lang="en-US" sz="2599" dirty="0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principal</a:t>
            </a:r>
          </a:p>
          <a:p>
            <a:pPr marL="561337" lvl="1" indent="-280669" algn="l">
              <a:lnSpc>
                <a:spcPts val="4679"/>
              </a:lnSpc>
              <a:buFont typeface="Arial"/>
              <a:buChar char="•"/>
            </a:pPr>
            <a:r>
              <a:rPr lang="en-US" sz="2599" b="1" dirty="0">
                <a:solidFill>
                  <a:srgbClr val="596E2D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2014 : </a:t>
            </a:r>
            <a:r>
              <a:rPr lang="en-US" sz="2599" dirty="0">
                <a:solidFill>
                  <a:srgbClr val="73492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Fork io.js </a:t>
            </a:r>
            <a:r>
              <a:rPr lang="en-US" sz="2599" dirty="0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(division de la </a:t>
            </a:r>
            <a:r>
              <a:rPr lang="en-US" sz="2599" dirty="0" err="1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communauté</a:t>
            </a:r>
            <a:r>
              <a:rPr lang="en-US" sz="2599" dirty="0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)</a:t>
            </a:r>
          </a:p>
          <a:p>
            <a:pPr marL="561337" lvl="1" indent="-280669" algn="l">
              <a:lnSpc>
                <a:spcPts val="4679"/>
              </a:lnSpc>
              <a:buFont typeface="Arial"/>
              <a:buChar char="•"/>
            </a:pPr>
            <a:r>
              <a:rPr lang="en-US" sz="2599" b="1" dirty="0">
                <a:solidFill>
                  <a:srgbClr val="596E2D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2015 : </a:t>
            </a:r>
            <a:r>
              <a:rPr lang="en-US" sz="2599" dirty="0" err="1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Réunification</a:t>
            </a:r>
            <a:r>
              <a:rPr lang="en-US" sz="2599" dirty="0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+ </a:t>
            </a:r>
            <a:r>
              <a:rPr lang="en-US" sz="2599" dirty="0" err="1">
                <a:solidFill>
                  <a:srgbClr val="006FB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création</a:t>
            </a:r>
            <a:r>
              <a:rPr lang="en-US" sz="2599" dirty="0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de la</a:t>
            </a:r>
            <a:r>
              <a:rPr lang="en-US" sz="2599" dirty="0">
                <a:solidFill>
                  <a:srgbClr val="67803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Node.js</a:t>
            </a:r>
            <a:r>
              <a:rPr lang="en-US" sz="2599" dirty="0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Foundation</a:t>
            </a:r>
          </a:p>
          <a:p>
            <a:pPr marL="561337" lvl="1" indent="-280669" algn="l">
              <a:lnSpc>
                <a:spcPts val="4679"/>
              </a:lnSpc>
              <a:buFont typeface="Arial"/>
              <a:buChar char="•"/>
            </a:pPr>
            <a:r>
              <a:rPr lang="en-US" sz="2599" b="1" dirty="0">
                <a:solidFill>
                  <a:srgbClr val="596E2D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2018 :</a:t>
            </a:r>
            <a:r>
              <a:rPr lang="en-US" sz="2599" b="1" dirty="0">
                <a:solidFill>
                  <a:srgbClr val="2961D6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 </a:t>
            </a:r>
            <a:r>
              <a:rPr lang="en-US" sz="2599" dirty="0" err="1">
                <a:solidFill>
                  <a:srgbClr val="2961D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Création</a:t>
            </a:r>
            <a:r>
              <a:rPr lang="en-US" sz="2599" dirty="0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de </a:t>
            </a:r>
            <a:r>
              <a:rPr lang="en-US" sz="2599" dirty="0">
                <a:solidFill>
                  <a:srgbClr val="667F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Deno</a:t>
            </a:r>
            <a:r>
              <a:rPr lang="en-US" sz="2599" dirty="0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par </a:t>
            </a:r>
            <a:r>
              <a:rPr lang="en-US" sz="2599" dirty="0">
                <a:solidFill>
                  <a:srgbClr val="CC2D2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Ryan Dahl</a:t>
            </a:r>
          </a:p>
          <a:p>
            <a:pPr marL="561337" lvl="1" indent="-280669" algn="l">
              <a:lnSpc>
                <a:spcPts val="4679"/>
              </a:lnSpc>
              <a:buFont typeface="Arial"/>
              <a:buChar char="•"/>
            </a:pPr>
            <a:r>
              <a:rPr lang="en-US" sz="2599" b="1" dirty="0">
                <a:solidFill>
                  <a:srgbClr val="596E2D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2020 : </a:t>
            </a:r>
            <a:r>
              <a:rPr lang="en-US" sz="2599" dirty="0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Support des </a:t>
            </a:r>
            <a:r>
              <a:rPr lang="en-US" sz="2599" dirty="0">
                <a:solidFill>
                  <a:srgbClr val="006FB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 Modules</a:t>
            </a:r>
            <a:r>
              <a:rPr lang="en-US" sz="2599" dirty="0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599" dirty="0">
                <a:solidFill>
                  <a:srgbClr val="667F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(Node.js 14)</a:t>
            </a:r>
          </a:p>
          <a:p>
            <a:pPr marL="561337" lvl="1" indent="-280669" algn="l">
              <a:lnSpc>
                <a:spcPts val="4679"/>
              </a:lnSpc>
              <a:buFont typeface="Arial"/>
              <a:buChar char="•"/>
            </a:pPr>
            <a:r>
              <a:rPr lang="en-US" sz="2599" b="1" dirty="0">
                <a:solidFill>
                  <a:srgbClr val="596E2D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2023 : </a:t>
            </a:r>
            <a:r>
              <a:rPr lang="en-US" sz="2599" dirty="0">
                <a:solidFill>
                  <a:srgbClr val="667F3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Node.js</a:t>
            </a:r>
            <a:r>
              <a:rPr lang="en-US" sz="2599" dirty="0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très </a:t>
            </a:r>
            <a:r>
              <a:rPr lang="en-US" sz="2599" dirty="0" err="1">
                <a:solidFill>
                  <a:srgbClr val="2961D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utilisé</a:t>
            </a:r>
            <a:r>
              <a:rPr lang="en-US" sz="2599" dirty="0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dans le monde </a:t>
            </a:r>
            <a:r>
              <a:rPr lang="en-US" sz="2599" dirty="0" err="1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entier</a:t>
            </a:r>
            <a:endParaRPr lang="en-US" sz="2599" dirty="0">
              <a:solidFill>
                <a:srgbClr val="66686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algn="ctr">
              <a:lnSpc>
                <a:spcPts val="4319"/>
              </a:lnSpc>
            </a:pPr>
            <a:endParaRPr lang="en-US" sz="2599" dirty="0">
              <a:solidFill>
                <a:srgbClr val="66686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246630" y="667607"/>
            <a:ext cx="9307570" cy="952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6300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FRISE CHRONOLOGIQUE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19542" y="8311073"/>
            <a:ext cx="16439758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5E17EB"/>
                </a:solidFill>
                <a:latin typeface="Agbalumo"/>
                <a:ea typeface="Agbalumo"/>
                <a:cs typeface="Agbalumo"/>
                <a:sym typeface="Agbalumo"/>
              </a:rPr>
              <a:t>"Vous pouvez écrire un serveur entier en quelques lignes de JavaScript. C'est ça la magie de Node.js." — </a:t>
            </a:r>
            <a:r>
              <a:rPr lang="en-US" sz="2100">
                <a:solidFill>
                  <a:srgbClr val="0CC0DF"/>
                </a:solidFill>
                <a:latin typeface="Agbalumo"/>
                <a:ea typeface="Agbalumo"/>
                <a:cs typeface="Agbalumo"/>
                <a:sym typeface="Agbalumo"/>
              </a:rPr>
              <a:t>Ryan Dahl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 rot="110880">
            <a:off x="819388" y="9779260"/>
            <a:ext cx="590855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3734217" y="503415"/>
            <a:ext cx="10210383" cy="10843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553"/>
              </a:lnSpc>
            </a:pPr>
            <a:r>
              <a:rPr lang="en-US" sz="7127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LE CONTEXTE TECHNIQUE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435" y="1640597"/>
            <a:ext cx="16402040" cy="8932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39"/>
              </a:lnSpc>
            </a:pP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Avant </a:t>
            </a:r>
            <a:r>
              <a:rPr lang="en-US" sz="2799" dirty="0">
                <a:solidFill>
                  <a:srgbClr val="87A94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Node.js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l'</a:t>
            </a:r>
            <a:r>
              <a:rPr lang="en-US" sz="2799" dirty="0" err="1">
                <a:solidFill>
                  <a:srgbClr val="5E17E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architecture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dominante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des</a:t>
            </a:r>
            <a:r>
              <a:rPr lang="en-US" sz="2799" dirty="0">
                <a:solidFill>
                  <a:srgbClr val="2961D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 err="1">
                <a:solidFill>
                  <a:srgbClr val="2961D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serveurs</a:t>
            </a:r>
            <a:r>
              <a:rPr lang="en-US" sz="2799" dirty="0">
                <a:solidFill>
                  <a:srgbClr val="2961D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web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reposait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sur le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modèle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>
                <a:solidFill>
                  <a:srgbClr val="9518B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Apache + PHP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ou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>
                <a:solidFill>
                  <a:srgbClr val="37241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Java EE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Ces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serveurs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utilisaient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un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modèle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>
                <a:solidFill>
                  <a:srgbClr val="CC2D2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multi-threaded </a:t>
            </a:r>
            <a:r>
              <a:rPr lang="en-US" sz="2799" dirty="0" err="1">
                <a:solidFill>
                  <a:srgbClr val="CC2D2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synchrone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: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chaque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 err="1">
                <a:solidFill>
                  <a:srgbClr val="006FB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requête</a:t>
            </a:r>
            <a:r>
              <a:rPr lang="en-US" sz="2799" dirty="0">
                <a:solidFill>
                  <a:srgbClr val="006FB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HTTP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entrante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 err="1">
                <a:solidFill>
                  <a:srgbClr val="CC2D2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déclenchait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la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création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d'un nouveau </a:t>
            </a:r>
            <a:r>
              <a:rPr lang="en-US" sz="2799" dirty="0">
                <a:solidFill>
                  <a:srgbClr val="0CC0D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thread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système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alloué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par le </a:t>
            </a:r>
            <a:r>
              <a:rPr lang="en-US" sz="2799" dirty="0" err="1">
                <a:solidFill>
                  <a:srgbClr val="2961D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système</a:t>
            </a:r>
            <a:r>
              <a:rPr lang="en-US" sz="2799" dirty="0">
                <a:solidFill>
                  <a:srgbClr val="2961D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 err="1">
                <a:solidFill>
                  <a:srgbClr val="2961D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d'exploitation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</a:p>
          <a:p>
            <a:pPr marL="604515" lvl="1" indent="-302257" algn="l">
              <a:lnSpc>
                <a:spcPts val="5039"/>
              </a:lnSpc>
              <a:buFont typeface="Arial"/>
              <a:buChar char="•"/>
            </a:pP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Un</a:t>
            </a:r>
            <a:r>
              <a:rPr lang="en-US" sz="2799" dirty="0">
                <a:solidFill>
                  <a:srgbClr val="0CC0D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thread 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(fil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d'exécution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)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est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l'</a:t>
            </a:r>
            <a:r>
              <a:rPr lang="en-US" sz="2799" dirty="0" err="1">
                <a:solidFill>
                  <a:srgbClr val="CC2D2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unité</a:t>
            </a:r>
            <a:r>
              <a:rPr lang="en-US" sz="2799" dirty="0">
                <a:solidFill>
                  <a:srgbClr val="CC2D2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 err="1">
                <a:solidFill>
                  <a:srgbClr val="CC2D2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minimale</a:t>
            </a:r>
            <a:r>
              <a:rPr lang="en-US" sz="2799" dirty="0">
                <a:solidFill>
                  <a:srgbClr val="CC2D2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traitement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que le </a:t>
            </a:r>
            <a:r>
              <a:rPr lang="en-US" sz="2799" dirty="0" err="1">
                <a:solidFill>
                  <a:srgbClr val="2961D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système</a:t>
            </a:r>
            <a:r>
              <a:rPr lang="en-US" sz="2799" dirty="0">
                <a:solidFill>
                  <a:srgbClr val="2961D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 err="1">
                <a:solidFill>
                  <a:srgbClr val="2961D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d'exploitation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peut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planifier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sur un </a:t>
            </a:r>
            <a:r>
              <a:rPr lang="en-US" sz="2799" dirty="0" err="1">
                <a:solidFill>
                  <a:srgbClr val="CC2D2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cœur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du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processeur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Chaque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>
                <a:solidFill>
                  <a:srgbClr val="0CC0D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thread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possède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son propre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espace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de </a:t>
            </a:r>
            <a:r>
              <a:rPr lang="en-US" sz="2799" dirty="0">
                <a:solidFill>
                  <a:srgbClr val="9B653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pile </a:t>
            </a:r>
            <a:r>
              <a:rPr lang="en-US" sz="2799" dirty="0" err="1">
                <a:solidFill>
                  <a:srgbClr val="9B653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mémoire</a:t>
            </a:r>
            <a:r>
              <a:rPr lang="en-US" sz="2799" dirty="0">
                <a:solidFill>
                  <a:srgbClr val="9B653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(stack),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typiquement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entre </a:t>
            </a:r>
            <a:r>
              <a:rPr lang="en-US" sz="2799" dirty="0">
                <a:solidFill>
                  <a:srgbClr val="728D3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512 Ko 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et</a:t>
            </a:r>
            <a:r>
              <a:rPr lang="en-US" sz="2799" dirty="0">
                <a:solidFill>
                  <a:srgbClr val="728D3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8 Mo 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 RAM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selon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le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système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Créer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et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détruire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des threads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est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une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opération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coûteuse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en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temps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processeur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(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opération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dite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de </a:t>
            </a:r>
            <a:r>
              <a:rPr lang="en-US" sz="2799" dirty="0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Source Sans Pro"/>
                <a:ea typeface="Source Sans Pro"/>
                <a:cs typeface="Source Sans Pro"/>
                <a:sym typeface="Source Sans Pro"/>
              </a:rPr>
              <a:t>context switch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— </a:t>
            </a:r>
            <a:r>
              <a:rPr lang="en-US" sz="2799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Source Sans Pro"/>
                <a:ea typeface="Source Sans Pro"/>
                <a:cs typeface="Source Sans Pro"/>
                <a:sym typeface="Source Sans Pro"/>
              </a:rPr>
              <a:t>commutation de </a:t>
            </a:r>
            <a:r>
              <a:rPr lang="en-US" sz="2799" dirty="0" err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Source Sans Pro"/>
                <a:ea typeface="Source Sans Pro"/>
                <a:cs typeface="Source Sans Pro"/>
                <a:sym typeface="Source Sans Pro"/>
              </a:rPr>
              <a:t>contexte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) car le </a:t>
            </a:r>
            <a:r>
              <a:rPr lang="en-US" sz="2799" dirty="0" err="1">
                <a:solidFill>
                  <a:srgbClr val="004AA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système</a:t>
            </a:r>
            <a:r>
              <a:rPr lang="en-US" sz="2799" dirty="0">
                <a:solidFill>
                  <a:srgbClr val="004AA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 err="1">
                <a:solidFill>
                  <a:srgbClr val="004AA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d'exploitation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doit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sauvegarder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et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restaurer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l'état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complet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de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chaque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>
                <a:solidFill>
                  <a:srgbClr val="0CC0D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thread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à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chaque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changement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</a:p>
          <a:p>
            <a:pPr algn="just">
              <a:lnSpc>
                <a:spcPts val="5039"/>
              </a:lnSpc>
            </a:pPr>
            <a:r>
              <a:rPr lang="en-US" sz="2799" u="sng" dirty="0">
                <a:solidFill>
                  <a:srgbClr val="CC2D2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Concrètement 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: un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serveur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>
                <a:solidFill>
                  <a:srgbClr val="006FB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Apache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recevant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>
                <a:solidFill>
                  <a:srgbClr val="7E5027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10 000 </a:t>
            </a:r>
            <a:r>
              <a:rPr lang="en-US" sz="2799" dirty="0" err="1">
                <a:solidFill>
                  <a:srgbClr val="7E5027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connexions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 err="1">
                <a:solidFill>
                  <a:srgbClr val="9518B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simultanées</a:t>
            </a:r>
            <a:r>
              <a:rPr lang="en-US" sz="2799" dirty="0">
                <a:solidFill>
                  <a:srgbClr val="9518B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devait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maintenir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>
                <a:solidFill>
                  <a:srgbClr val="7E5027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10 000 threads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actifs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consommant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entre 5 et 80 Go de RAM rien que pour les stacks.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C'est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le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problème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connu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sous le nom de C10K problem (le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défi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des 10 000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connexions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simultanées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),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formalisé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799" dirty="0">
                <a:solidFill>
                  <a:srgbClr val="99B95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par Dan Kegel </a:t>
            </a:r>
            <a:r>
              <a:rPr lang="en-US" sz="2799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en</a:t>
            </a:r>
            <a:r>
              <a:rPr lang="en-US" sz="2799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1999.</a:t>
            </a:r>
          </a:p>
          <a:p>
            <a:pPr algn="just">
              <a:lnSpc>
                <a:spcPts val="5219"/>
              </a:lnSpc>
            </a:pPr>
            <a:endParaRPr lang="en-US" sz="2799" dirty="0">
              <a:solidFill>
                <a:srgbClr val="80808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algn="just">
              <a:lnSpc>
                <a:spcPts val="5399"/>
              </a:lnSpc>
            </a:pPr>
            <a:endParaRPr lang="en-US" sz="2799" dirty="0">
              <a:solidFill>
                <a:srgbClr val="80808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7431750" y="455790"/>
            <a:ext cx="416319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9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 rot="110880">
            <a:off x="819388" y="9779260"/>
            <a:ext cx="590855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3439589" y="410318"/>
            <a:ext cx="10906881" cy="2168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53"/>
              </a:lnSpc>
            </a:pPr>
            <a:r>
              <a:rPr lang="en-US" sz="7127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LE PROBLÈME QU'IL RÉSOUT</a:t>
            </a:r>
          </a:p>
          <a:p>
            <a:pPr algn="ctr">
              <a:lnSpc>
                <a:spcPts val="8553"/>
              </a:lnSpc>
            </a:pPr>
            <a:endParaRPr lang="en-US" sz="7127">
              <a:solidFill>
                <a:srgbClr val="80808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21132" y="868442"/>
            <a:ext cx="16402040" cy="9848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399"/>
              </a:lnSpc>
            </a:pPr>
            <a:endParaRPr/>
          </a:p>
          <a:p>
            <a:pPr algn="just">
              <a:lnSpc>
                <a:spcPts val="5399"/>
              </a:lnSpc>
            </a:pPr>
            <a:r>
              <a:rPr lang="en-US" sz="2999">
                <a:solidFill>
                  <a:srgbClr val="FF313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Ryan Dahl</a:t>
            </a:r>
            <a:r>
              <a:rPr lang="en-US" sz="2999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a observé ce problème et s'est posé une </a:t>
            </a:r>
            <a:r>
              <a:rPr lang="en-US" sz="2999">
                <a:solidFill>
                  <a:srgbClr val="38B6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question </a:t>
            </a:r>
            <a:r>
              <a:rPr lang="en-US" sz="2999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simple :</a:t>
            </a:r>
          </a:p>
          <a:p>
            <a:pPr algn="just">
              <a:lnSpc>
                <a:spcPts val="5219"/>
              </a:lnSpc>
            </a:pPr>
            <a:r>
              <a:rPr lang="en-US" sz="2899" b="1">
                <a:solidFill>
                  <a:srgbClr val="FF3131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"Et si un serveur pouvait gérer des milliers de connexions sans jamais se bloquer ?"</a:t>
            </a:r>
          </a:p>
          <a:p>
            <a:pPr algn="just">
              <a:lnSpc>
                <a:spcPts val="5219"/>
              </a:lnSpc>
            </a:pPr>
            <a:r>
              <a:rPr lang="en-US" sz="2899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En 2009, </a:t>
            </a:r>
            <a:r>
              <a:rPr lang="en-US" sz="2899">
                <a:solidFill>
                  <a:srgbClr val="006FB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Ryan Dahl </a:t>
            </a:r>
            <a:r>
              <a:rPr lang="en-US" sz="2899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constate que la majorité du </a:t>
            </a:r>
            <a:r>
              <a:rPr lang="en-US" sz="2899">
                <a:solidFill>
                  <a:srgbClr val="2961D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temps d'attente </a:t>
            </a:r>
            <a:r>
              <a:rPr lang="en-US" sz="2899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d'un </a:t>
            </a:r>
            <a:r>
              <a:rPr lang="en-US" sz="2899">
                <a:solidFill>
                  <a:srgbClr val="38B6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serveur web </a:t>
            </a:r>
            <a:r>
              <a:rPr lang="en-US" sz="2899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est du temps </a:t>
            </a:r>
            <a:r>
              <a:rPr lang="en-US" sz="2899">
                <a:solidFill>
                  <a:srgbClr val="48B54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d'I/O</a:t>
            </a:r>
            <a:r>
              <a:rPr lang="en-US" sz="2899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899">
                <a:solidFill>
                  <a:srgbClr val="F8952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bloquant </a:t>
            </a:r>
            <a:r>
              <a:rPr lang="en-US" sz="2899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— le </a:t>
            </a:r>
            <a:r>
              <a:rPr lang="en-US" sz="2899">
                <a:solidFill>
                  <a:srgbClr val="0CC0D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thread</a:t>
            </a:r>
            <a:r>
              <a:rPr lang="en-US" sz="2899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est </a:t>
            </a:r>
            <a:r>
              <a:rPr lang="en-US" sz="2899">
                <a:solidFill>
                  <a:srgbClr val="48B54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actif</a:t>
            </a:r>
            <a:r>
              <a:rPr lang="en-US" sz="2899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en mémoire mais ne fait rien, il </a:t>
            </a:r>
            <a:r>
              <a:rPr lang="en-US" sz="2899">
                <a:solidFill>
                  <a:srgbClr val="33333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attend</a:t>
            </a:r>
            <a:r>
              <a:rPr lang="en-US" sz="2899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simplement une </a:t>
            </a:r>
            <a:r>
              <a:rPr lang="en-US" sz="2899">
                <a:solidFill>
                  <a:srgbClr val="37241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réponse</a:t>
            </a:r>
            <a:r>
              <a:rPr lang="en-US" sz="2899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du disque dur ou de la </a:t>
            </a:r>
            <a:r>
              <a:rPr lang="en-US" sz="2899">
                <a:solidFill>
                  <a:srgbClr val="006FB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base de données</a:t>
            </a:r>
            <a:r>
              <a:rPr lang="en-US" sz="2899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 Cette ressource CPU est </a:t>
            </a:r>
            <a:r>
              <a:rPr lang="en-US" sz="2899">
                <a:solidFill>
                  <a:srgbClr val="B77E4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gaspillée</a:t>
            </a:r>
            <a:r>
              <a:rPr lang="en-US" sz="2899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</a:p>
          <a:p>
            <a:pPr algn="just">
              <a:lnSpc>
                <a:spcPts val="5219"/>
              </a:lnSpc>
            </a:pPr>
            <a:r>
              <a:rPr lang="en-US" sz="2899" u="sng">
                <a:solidFill>
                  <a:srgbClr val="CC2D2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Sa solution</a:t>
            </a:r>
            <a:r>
              <a:rPr lang="en-US" sz="2899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: utiliser un modèle </a:t>
            </a:r>
            <a:r>
              <a:rPr lang="en-US" sz="2899">
                <a:solidFill>
                  <a:srgbClr val="F5B46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single-threaded</a:t>
            </a:r>
            <a:r>
              <a:rPr lang="en-US" sz="2899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</a:t>
            </a:r>
            <a:r>
              <a:rPr lang="en-US" sz="2899">
                <a:solidFill>
                  <a:srgbClr val="F8952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event-driven</a:t>
            </a:r>
            <a:r>
              <a:rPr lang="en-US" sz="2899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</a:t>
            </a:r>
            <a:r>
              <a:rPr lang="en-US" sz="2899">
                <a:solidFill>
                  <a:srgbClr val="94AA2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non-blocking I/O</a:t>
            </a:r>
            <a:r>
              <a:rPr lang="en-US" sz="2899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 Un </a:t>
            </a:r>
            <a:r>
              <a:rPr lang="en-US" sz="2899">
                <a:solidFill>
                  <a:srgbClr val="0CC0D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seul thread</a:t>
            </a:r>
            <a:r>
              <a:rPr lang="en-US" sz="2899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principal gère toutes les </a:t>
            </a:r>
            <a:r>
              <a:rPr lang="en-US" sz="2899">
                <a:solidFill>
                  <a:srgbClr val="48B54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connexions</a:t>
            </a:r>
            <a:r>
              <a:rPr lang="en-US" sz="2899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mais ne se </a:t>
            </a:r>
            <a:r>
              <a:rPr lang="en-US" sz="2899">
                <a:solidFill>
                  <a:srgbClr val="CC2D2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bloque </a:t>
            </a:r>
            <a:r>
              <a:rPr lang="en-US" sz="2899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jamais sur les opérations</a:t>
            </a:r>
            <a:r>
              <a:rPr lang="en-US" sz="2899">
                <a:solidFill>
                  <a:srgbClr val="FB44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I/O lentes</a:t>
            </a:r>
            <a:r>
              <a:rPr lang="en-US" sz="2899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 Les opérations sont déléguées au système d'exploitation de façon asynchrone, et leur résultat est traité via des </a:t>
            </a:r>
            <a:r>
              <a:rPr lang="en-US" sz="2899">
                <a:solidFill>
                  <a:srgbClr val="9518B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callbacks </a:t>
            </a:r>
            <a:r>
              <a:rPr lang="en-US" sz="2899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quand ils sont disponibles.</a:t>
            </a:r>
          </a:p>
          <a:p>
            <a:pPr algn="just">
              <a:lnSpc>
                <a:spcPts val="5219"/>
              </a:lnSpc>
            </a:pPr>
            <a:r>
              <a:rPr lang="en-US" sz="2899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Pour </a:t>
            </a:r>
            <a:r>
              <a:rPr lang="en-US" sz="2899">
                <a:solidFill>
                  <a:srgbClr val="77933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implémenter</a:t>
            </a:r>
            <a:r>
              <a:rPr lang="en-US" sz="2899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ce modèle, il choisit </a:t>
            </a:r>
            <a:r>
              <a:rPr lang="en-US" sz="2899">
                <a:solidFill>
                  <a:srgbClr val="006FB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JavaScript</a:t>
            </a:r>
            <a:r>
              <a:rPr lang="en-US" sz="2899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— un langage déjà </a:t>
            </a:r>
            <a:r>
              <a:rPr lang="en-US" sz="2899">
                <a:solidFill>
                  <a:srgbClr val="87A94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event-driven</a:t>
            </a:r>
            <a:r>
              <a:rPr lang="en-US" sz="2899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par nature dans le </a:t>
            </a:r>
            <a:r>
              <a:rPr lang="en-US" sz="2899">
                <a:solidFill>
                  <a:srgbClr val="004AA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navigateur</a:t>
            </a:r>
            <a:r>
              <a:rPr lang="en-US" sz="2899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— et le </a:t>
            </a:r>
            <a:r>
              <a:rPr lang="en-US" sz="2899">
                <a:solidFill>
                  <a:srgbClr val="F8952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moteur V8 de Google</a:t>
            </a:r>
            <a:r>
              <a:rPr lang="en-US" sz="2899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pour l'exécuter </a:t>
            </a:r>
            <a:r>
              <a:rPr lang="en-US" sz="2899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côté serveur</a:t>
            </a:r>
            <a:r>
              <a:rPr lang="en-US" sz="2899">
                <a:solidFill>
                  <a:srgbClr val="66686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</a:p>
          <a:p>
            <a:pPr algn="just">
              <a:lnSpc>
                <a:spcPts val="5219"/>
              </a:lnSpc>
            </a:pPr>
            <a:endParaRPr lang="en-US" sz="2899">
              <a:solidFill>
                <a:srgbClr val="66686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algn="just">
              <a:lnSpc>
                <a:spcPts val="5219"/>
              </a:lnSpc>
            </a:pPr>
            <a:endParaRPr lang="en-US" sz="2899">
              <a:solidFill>
                <a:srgbClr val="66686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algn="just">
              <a:lnSpc>
                <a:spcPts val="5399"/>
              </a:lnSpc>
            </a:pPr>
            <a:endParaRPr lang="en-US" sz="2899">
              <a:solidFill>
                <a:srgbClr val="66686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4701273" y="357136"/>
            <a:ext cx="2221899" cy="2221899"/>
          </a:xfrm>
          <a:custGeom>
            <a:avLst/>
            <a:gdLst/>
            <a:ahLst/>
            <a:cxnLst/>
            <a:rect l="l" t="t" r="r" b="b"/>
            <a:pathLst>
              <a:path w="2221899" h="2221899">
                <a:moveTo>
                  <a:pt x="0" y="0"/>
                </a:moveTo>
                <a:lnTo>
                  <a:pt x="2221899" y="0"/>
                </a:lnTo>
                <a:lnTo>
                  <a:pt x="2221899" y="2221899"/>
                </a:lnTo>
                <a:lnTo>
                  <a:pt x="0" y="22218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107810" y="8241749"/>
            <a:ext cx="2180190" cy="2033101"/>
          </a:xfrm>
          <a:custGeom>
            <a:avLst/>
            <a:gdLst/>
            <a:ahLst/>
            <a:cxnLst/>
            <a:rect l="l" t="t" r="r" b="b"/>
            <a:pathLst>
              <a:path w="2180190" h="2033101">
                <a:moveTo>
                  <a:pt x="0" y="0"/>
                </a:moveTo>
                <a:lnTo>
                  <a:pt x="2180190" y="0"/>
                </a:lnTo>
                <a:lnTo>
                  <a:pt x="2180190" y="2033102"/>
                </a:lnTo>
                <a:lnTo>
                  <a:pt x="0" y="20331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1476" t="-34227" r="-25172" b="-23029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7431750" y="455790"/>
            <a:ext cx="416319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9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4007653" y="8198653"/>
            <a:ext cx="1128703" cy="3048000"/>
            <a:chOff x="0" y="0"/>
            <a:chExt cx="1504937" cy="406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77933C"/>
            </a:solidFill>
          </p:spPr>
        </p:sp>
      </p:grpSp>
      <p:grpSp>
        <p:nvGrpSpPr>
          <p:cNvPr id="4" name="Group 4"/>
          <p:cNvGrpSpPr/>
          <p:nvPr/>
        </p:nvGrpSpPr>
        <p:grpSpPr>
          <a:xfrm rot="-5400000">
            <a:off x="7055653" y="8198644"/>
            <a:ext cx="1128703" cy="3048000"/>
            <a:chOff x="0" y="0"/>
            <a:chExt cx="1504937" cy="406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6" name="Group 6"/>
          <p:cNvGrpSpPr/>
          <p:nvPr/>
        </p:nvGrpSpPr>
        <p:grpSpPr>
          <a:xfrm rot="-5400000">
            <a:off x="10103644" y="8198644"/>
            <a:ext cx="1128703" cy="3048000"/>
            <a:chOff x="0" y="0"/>
            <a:chExt cx="1504937" cy="4064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9BBB59"/>
            </a:solidFill>
          </p:spPr>
        </p:sp>
      </p:grpSp>
      <p:grpSp>
        <p:nvGrpSpPr>
          <p:cNvPr id="8" name="Group 8"/>
          <p:cNvGrpSpPr/>
          <p:nvPr/>
        </p:nvGrpSpPr>
        <p:grpSpPr>
          <a:xfrm rot="-5400000">
            <a:off x="13151644" y="8198644"/>
            <a:ext cx="1128712" cy="3048000"/>
            <a:chOff x="0" y="0"/>
            <a:chExt cx="1504950" cy="4064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ACC777"/>
            </a:solidFill>
          </p:spPr>
        </p:sp>
      </p:grpSp>
      <p:grpSp>
        <p:nvGrpSpPr>
          <p:cNvPr id="10" name="Group 10"/>
          <p:cNvGrpSpPr/>
          <p:nvPr/>
        </p:nvGrpSpPr>
        <p:grpSpPr>
          <a:xfrm rot="-5400000">
            <a:off x="16199653" y="8198653"/>
            <a:ext cx="1128703" cy="3048000"/>
            <a:chOff x="0" y="0"/>
            <a:chExt cx="1504937" cy="4064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C0D498"/>
            </a:solidFill>
          </p:spPr>
        </p:sp>
      </p:grpSp>
      <p:grpSp>
        <p:nvGrpSpPr>
          <p:cNvPr id="12" name="Group 12"/>
          <p:cNvGrpSpPr/>
          <p:nvPr/>
        </p:nvGrpSpPr>
        <p:grpSpPr>
          <a:xfrm rot="-5400000">
            <a:off x="273844" y="7512844"/>
            <a:ext cx="2500312" cy="3048000"/>
            <a:chOff x="0" y="0"/>
            <a:chExt cx="3333750" cy="4064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333750" cy="4064000"/>
            </a:xfrm>
            <a:custGeom>
              <a:avLst/>
              <a:gdLst/>
              <a:ahLst/>
              <a:cxnLst/>
              <a:rect l="l" t="t" r="r" b="b"/>
              <a:pathLst>
                <a:path w="3333750" h="4064000">
                  <a:moveTo>
                    <a:pt x="0" y="0"/>
                  </a:moveTo>
                  <a:lnTo>
                    <a:pt x="3333750" y="0"/>
                  </a:lnTo>
                  <a:lnTo>
                    <a:pt x="33337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D0DFB3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2" y="1010493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1"/>
                </a:lnTo>
                <a:lnTo>
                  <a:pt x="0" y="201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970502" y="8449732"/>
            <a:ext cx="1106995" cy="1106453"/>
          </a:xfrm>
          <a:custGeom>
            <a:avLst/>
            <a:gdLst/>
            <a:ahLst/>
            <a:cxnLst/>
            <a:rect l="l" t="t" r="r" b="b"/>
            <a:pathLst>
              <a:path w="1106995" h="1106453">
                <a:moveTo>
                  <a:pt x="0" y="0"/>
                </a:moveTo>
                <a:lnTo>
                  <a:pt x="1106996" y="0"/>
                </a:lnTo>
                <a:lnTo>
                  <a:pt x="1106996" y="1106453"/>
                </a:lnTo>
                <a:lnTo>
                  <a:pt x="0" y="11064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AutoShape 16"/>
          <p:cNvSpPr/>
          <p:nvPr/>
        </p:nvSpPr>
        <p:spPr>
          <a:xfrm rot="10680">
            <a:off x="1502302" y="7124109"/>
            <a:ext cx="7653623" cy="0"/>
          </a:xfrm>
          <a:prstGeom prst="line">
            <a:avLst/>
          </a:prstGeom>
          <a:ln w="9525" cap="rnd">
            <a:solidFill>
              <a:srgbClr val="D0DFB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 rot="5279820">
            <a:off x="1173509" y="7453312"/>
            <a:ext cx="681457" cy="0"/>
          </a:xfrm>
          <a:prstGeom prst="line">
            <a:avLst/>
          </a:prstGeom>
          <a:ln w="9525" cap="rnd">
            <a:solidFill>
              <a:srgbClr val="D0DFB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 rot="5333880">
            <a:off x="8525056" y="6531473"/>
            <a:ext cx="1237888" cy="0"/>
          </a:xfrm>
          <a:prstGeom prst="line">
            <a:avLst/>
          </a:prstGeom>
          <a:ln w="9525" cap="rnd">
            <a:solidFill>
              <a:srgbClr val="D0DFB3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9" name="Freeform 19"/>
          <p:cNvSpPr/>
          <p:nvPr/>
        </p:nvSpPr>
        <p:spPr>
          <a:xfrm>
            <a:off x="684952" y="8134470"/>
            <a:ext cx="1634751" cy="1588174"/>
          </a:xfrm>
          <a:custGeom>
            <a:avLst/>
            <a:gdLst/>
            <a:ahLst/>
            <a:cxnLst/>
            <a:rect l="l" t="t" r="r" b="b"/>
            <a:pathLst>
              <a:path w="1634751" h="1588174">
                <a:moveTo>
                  <a:pt x="0" y="0"/>
                </a:moveTo>
                <a:lnTo>
                  <a:pt x="1634751" y="0"/>
                </a:lnTo>
                <a:lnTo>
                  <a:pt x="1634751" y="1588174"/>
                </a:lnTo>
                <a:lnTo>
                  <a:pt x="0" y="15881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2932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4077972" y="4220873"/>
            <a:ext cx="10523220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Fonctionnement de Node.js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7431750" y="455790"/>
            <a:ext cx="416319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11</a:t>
            </a:r>
          </a:p>
        </p:txBody>
      </p:sp>
      <p:sp>
        <p:nvSpPr>
          <p:cNvPr id="7" name="Freeform 7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 rot="110880">
            <a:off x="819388" y="9779260"/>
            <a:ext cx="590855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5514260" y="1233740"/>
            <a:ext cx="5694908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445523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LE MOTEUR V8 — Compilation JIT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42515" y="128840"/>
            <a:ext cx="1858685" cy="1104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63735" y="1697069"/>
            <a:ext cx="15360529" cy="824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V8 est le </a:t>
            </a:r>
            <a:r>
              <a:rPr lang="en-US" sz="2700">
                <a:solidFill>
                  <a:srgbClr val="006FBD"/>
                </a:solidFill>
                <a:latin typeface="Calibri (MS)"/>
                <a:ea typeface="Calibri (MS)"/>
                <a:cs typeface="Calibri (MS)"/>
                <a:sym typeface="Calibri (MS)"/>
              </a:rPr>
              <a:t>moteur </a:t>
            </a:r>
            <a:r>
              <a:rPr lang="en-US" sz="2700">
                <a:solidFill>
                  <a:srgbClr val="5E17EB"/>
                </a:solidFill>
                <a:latin typeface="Calibri (MS)"/>
                <a:ea typeface="Calibri (MS)"/>
                <a:cs typeface="Calibri (MS)"/>
                <a:sym typeface="Calibri (MS)"/>
              </a:rPr>
              <a:t>JavaScript</a:t>
            </a:r>
            <a:r>
              <a:rPr lang="en-US" sz="2700">
                <a:solidFill>
                  <a:srgbClr val="48B54C"/>
                </a:solidFill>
                <a:latin typeface="Calibri (MS)"/>
                <a:ea typeface="Calibri (MS)"/>
                <a:cs typeface="Calibri (MS)"/>
                <a:sym typeface="Calibri (MS)"/>
              </a:rPr>
              <a:t> open-source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développé par </a:t>
            </a:r>
            <a:r>
              <a:rPr lang="en-US" sz="2700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Calibri (MS)"/>
                <a:ea typeface="Calibri (MS)"/>
                <a:cs typeface="Calibri (MS)"/>
                <a:sym typeface="Calibri (MS)"/>
              </a:rPr>
              <a:t>Google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, écrit en</a:t>
            </a:r>
            <a:r>
              <a:rPr lang="en-US" sz="2700">
                <a:solidFill>
                  <a:srgbClr val="CB6CE6"/>
                </a:solidFill>
                <a:latin typeface="Calibri (MS)"/>
                <a:ea typeface="Calibri (MS)"/>
                <a:cs typeface="Calibri (MS)"/>
                <a:sym typeface="Calibri (MS)"/>
              </a:rPr>
              <a:t> C++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, utilisé dans </a:t>
            </a:r>
            <a:r>
              <a:rPr lang="en-US" sz="2700">
                <a:solidFill>
                  <a:srgbClr val="FF3131"/>
                </a:solidFill>
                <a:latin typeface="Calibri (MS)"/>
                <a:ea typeface="Calibri (MS)"/>
                <a:cs typeface="Calibri (MS)"/>
                <a:sym typeface="Calibri (MS)"/>
              </a:rPr>
              <a:t>Chrome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et </a:t>
            </a:r>
            <a:r>
              <a:rPr lang="en-US" sz="2700">
                <a:solidFill>
                  <a:srgbClr val="8BC501"/>
                </a:solidFill>
                <a:latin typeface="Calibri (MS)"/>
                <a:ea typeface="Calibri (MS)"/>
                <a:cs typeface="Calibri (MS)"/>
                <a:sym typeface="Calibri (MS)"/>
              </a:rPr>
              <a:t>Node.js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. Son </a:t>
            </a:r>
            <a:r>
              <a:rPr lang="en-US" sz="2700">
                <a:solidFill>
                  <a:srgbClr val="B46B4C"/>
                </a:solidFill>
                <a:latin typeface="Calibri (MS)"/>
                <a:ea typeface="Calibri (MS)"/>
                <a:cs typeface="Calibri (MS)"/>
                <a:sym typeface="Calibri (MS)"/>
              </a:rPr>
              <a:t>rôle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est de </a:t>
            </a:r>
            <a:r>
              <a:rPr lang="en-US" sz="2700">
                <a:solidFill>
                  <a:srgbClr val="FF751F"/>
                </a:solidFill>
                <a:latin typeface="Calibri (MS)"/>
                <a:ea typeface="Calibri (MS)"/>
                <a:cs typeface="Calibri (MS)"/>
                <a:sym typeface="Calibri (MS)"/>
              </a:rPr>
              <a:t>parser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2700">
                <a:solidFill>
                  <a:srgbClr val="004AAD"/>
                </a:solidFill>
                <a:latin typeface="Calibri (MS)"/>
                <a:ea typeface="Calibri (MS)"/>
                <a:cs typeface="Calibri (MS)"/>
                <a:sym typeface="Calibri (MS)"/>
              </a:rPr>
              <a:t>compiler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et </a:t>
            </a:r>
            <a:r>
              <a:rPr lang="en-US" sz="2700">
                <a:solidFill>
                  <a:srgbClr val="FF5757"/>
                </a:solidFill>
                <a:latin typeface="Calibri (MS)"/>
                <a:ea typeface="Calibri (MS)"/>
                <a:cs typeface="Calibri (MS)"/>
                <a:sym typeface="Calibri (MS)"/>
              </a:rPr>
              <a:t>exécuter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le code </a:t>
            </a:r>
            <a:r>
              <a:rPr lang="en-US" sz="2700">
                <a:solidFill>
                  <a:srgbClr val="13489A"/>
                </a:solidFill>
                <a:latin typeface="Calibri (MS)"/>
                <a:ea typeface="Calibri (MS)"/>
                <a:cs typeface="Calibri (MS)"/>
                <a:sym typeface="Calibri (MS)"/>
              </a:rPr>
              <a:t>JavaScript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V8 n'</a:t>
            </a:r>
            <a:r>
              <a:rPr lang="en-US" sz="2700">
                <a:solidFill>
                  <a:srgbClr val="372415"/>
                </a:solidFill>
                <a:latin typeface="Calibri (MS)"/>
                <a:ea typeface="Calibri (MS)"/>
                <a:cs typeface="Calibri (MS)"/>
                <a:sym typeface="Calibri (MS)"/>
              </a:rPr>
              <a:t>interprète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pas le </a:t>
            </a:r>
            <a:r>
              <a:rPr lang="en-US" sz="2700">
                <a:solidFill>
                  <a:srgbClr val="38B6FF"/>
                </a:solidFill>
                <a:latin typeface="Calibri (MS)"/>
                <a:ea typeface="Calibri (MS)"/>
                <a:cs typeface="Calibri (MS)"/>
                <a:sym typeface="Calibri (MS)"/>
              </a:rPr>
              <a:t>JavaScript 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ligne par ligne comme les </a:t>
            </a:r>
            <a:r>
              <a:rPr lang="en-US" sz="2700">
                <a:solidFill>
                  <a:srgbClr val="7E5027"/>
                </a:solidFill>
                <a:latin typeface="Calibri (MS)"/>
                <a:ea typeface="Calibri (MS)"/>
                <a:cs typeface="Calibri (MS)"/>
                <a:sym typeface="Calibri (MS)"/>
              </a:rPr>
              <a:t>anciens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moteurs. Il utilise une </a:t>
            </a:r>
            <a:r>
              <a:rPr lang="en-US" sz="2700">
                <a:solidFill>
                  <a:srgbClr val="3C4A1E"/>
                </a:solidFill>
                <a:latin typeface="Calibri (MS)"/>
                <a:ea typeface="Calibri (MS)"/>
                <a:cs typeface="Calibri (MS)"/>
                <a:sym typeface="Calibri (MS)"/>
              </a:rPr>
              <a:t>pipeline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de compilation en </a:t>
            </a:r>
            <a:r>
              <a:rPr lang="en-US" sz="2700" b="1">
                <a:solidFill>
                  <a:srgbClr val="A6A6A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 étapes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 :</a:t>
            </a: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 b="1">
                <a:solidFill>
                  <a:srgbClr val="161F2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Étape 1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— </a:t>
            </a:r>
            <a:r>
              <a:rPr lang="en-US" sz="2700">
                <a:solidFill>
                  <a:srgbClr val="13489A"/>
                </a:solidFill>
                <a:latin typeface="Calibri (MS)"/>
                <a:ea typeface="Calibri (MS)"/>
                <a:cs typeface="Calibri (MS)"/>
                <a:sym typeface="Calibri (MS)"/>
              </a:rPr>
              <a:t>Parsing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et </a:t>
            </a:r>
            <a:r>
              <a:rPr lang="en-US" sz="2700">
                <a:solidFill>
                  <a:srgbClr val="445523"/>
                </a:solidFill>
                <a:latin typeface="Calibri (MS)"/>
                <a:ea typeface="Calibri (MS)"/>
                <a:cs typeface="Calibri (MS)"/>
                <a:sym typeface="Calibri (MS)"/>
              </a:rPr>
              <a:t>génération de l'AST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:</a:t>
            </a:r>
            <a:r>
              <a:rPr lang="en-US" sz="2700">
                <a:solidFill>
                  <a:srgbClr val="8BC501"/>
                </a:solidFill>
                <a:latin typeface="Calibri (MS)"/>
                <a:ea typeface="Calibri (MS)"/>
                <a:cs typeface="Calibri (MS)"/>
                <a:sym typeface="Calibri (MS)"/>
              </a:rPr>
              <a:t>V8 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analyse le code source</a:t>
            </a:r>
            <a:r>
              <a:rPr lang="en-US" sz="2700">
                <a:solidFill>
                  <a:srgbClr val="13489A"/>
                </a:solidFill>
                <a:latin typeface="Calibri (MS)"/>
                <a:ea typeface="Calibri (MS)"/>
                <a:cs typeface="Calibri (MS)"/>
                <a:sym typeface="Calibri (MS)"/>
              </a:rPr>
              <a:t> JavaScript 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et construit un AST </a:t>
            </a:r>
            <a:r>
              <a:rPr lang="en-US" sz="2700">
                <a:solidFill>
                  <a:srgbClr val="4B321D"/>
                </a:solidFill>
                <a:latin typeface="Calibri (MS)"/>
                <a:ea typeface="Calibri (MS)"/>
                <a:cs typeface="Calibri (MS)"/>
                <a:sym typeface="Calibri (MS)"/>
              </a:rPr>
              <a:t>(Abstract Syntax Tree)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— un arbre syntaxique abstrait qui </a:t>
            </a:r>
            <a:r>
              <a:rPr lang="en-US" sz="2700">
                <a:solidFill>
                  <a:srgbClr val="7E5027"/>
                </a:solidFill>
                <a:latin typeface="Calibri (MS)"/>
                <a:ea typeface="Calibri (MS)"/>
                <a:cs typeface="Calibri (MS)"/>
                <a:sym typeface="Calibri (MS)"/>
              </a:rPr>
              <a:t>représente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la structure logique du programme sous forme d'arbre de </a:t>
            </a:r>
            <a:r>
              <a:rPr lang="en-US" sz="2700">
                <a:solidFill>
                  <a:srgbClr val="CC2D2D"/>
                </a:solidFill>
                <a:latin typeface="Calibri (MS)"/>
                <a:ea typeface="Calibri (MS)"/>
                <a:cs typeface="Calibri (MS)"/>
                <a:sym typeface="Calibri (MS)"/>
              </a:rPr>
              <a:t>nœuds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. Chaque </a:t>
            </a:r>
            <a:r>
              <a:rPr lang="en-US" sz="2700">
                <a:solidFill>
                  <a:srgbClr val="CB6CE6"/>
                </a:solidFill>
                <a:latin typeface="Calibri (MS)"/>
                <a:ea typeface="Calibri (MS)"/>
                <a:cs typeface="Calibri (MS)"/>
                <a:sym typeface="Calibri (MS)"/>
              </a:rPr>
              <a:t>expression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2700">
                <a:solidFill>
                  <a:srgbClr val="CB6CE6"/>
                </a:solidFill>
                <a:latin typeface="Calibri (MS)"/>
                <a:ea typeface="Calibri (MS)"/>
                <a:cs typeface="Calibri (MS)"/>
                <a:sym typeface="Calibri (MS)"/>
              </a:rPr>
              <a:t>déclaration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et </a:t>
            </a:r>
            <a:r>
              <a:rPr lang="en-US" sz="2700">
                <a:solidFill>
                  <a:srgbClr val="8C52FF"/>
                </a:solidFill>
                <a:latin typeface="Calibri (MS)"/>
                <a:ea typeface="Calibri (MS)"/>
                <a:cs typeface="Calibri (MS)"/>
                <a:sym typeface="Calibri (MS)"/>
              </a:rPr>
              <a:t>opération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devient un </a:t>
            </a:r>
            <a:r>
              <a:rPr lang="en-US" sz="2700">
                <a:solidFill>
                  <a:srgbClr val="CC2D2D"/>
                </a:solidFill>
                <a:latin typeface="Calibri (MS)"/>
                <a:ea typeface="Calibri (MS)"/>
                <a:cs typeface="Calibri (MS)"/>
                <a:sym typeface="Calibri (MS)"/>
              </a:rPr>
              <a:t>nœud </a:t>
            </a:r>
            <a:r>
              <a:rPr lang="en-US" sz="2700">
                <a:solidFill>
                  <a:srgbClr val="666860"/>
                </a:solidFill>
                <a:latin typeface="Calibri (MS)"/>
                <a:ea typeface="Calibri (MS)"/>
                <a:cs typeface="Calibri (MS)"/>
                <a:sym typeface="Calibri (MS)"/>
              </a:rPr>
              <a:t>dans cet arbre.</a:t>
            </a: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Étape 2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— </a:t>
            </a:r>
            <a:r>
              <a:rPr lang="en-US" sz="2700">
                <a:solidFill>
                  <a:srgbClr val="CC2D2D"/>
                </a:solidFill>
                <a:latin typeface="Calibri (MS)"/>
                <a:ea typeface="Calibri (MS)"/>
                <a:cs typeface="Calibri (MS)"/>
                <a:sym typeface="Calibri (MS)"/>
              </a:rPr>
              <a:t>Ignition (interpréteur)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:L'interpréteur Ignition </a:t>
            </a:r>
            <a:r>
              <a:rPr lang="en-US" sz="2700">
                <a:solidFill>
                  <a:srgbClr val="004AAD"/>
                </a:solidFill>
                <a:latin typeface="Calibri (MS)"/>
                <a:ea typeface="Calibri (MS)"/>
                <a:cs typeface="Calibri (MS)"/>
                <a:sym typeface="Calibri (MS)"/>
              </a:rPr>
              <a:t>parcourt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l'AST et génère du </a:t>
            </a:r>
            <a:r>
              <a:rPr lang="en-US" sz="2700" b="1">
                <a:solidFill>
                  <a:srgbClr val="67803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bytecode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— un code intermédiaire compact, plus </a:t>
            </a:r>
            <a:r>
              <a:rPr lang="en-US" sz="2700">
                <a:solidFill>
                  <a:srgbClr val="F89521"/>
                </a:solidFill>
                <a:latin typeface="Calibri (MS)"/>
                <a:ea typeface="Calibri (MS)"/>
                <a:cs typeface="Calibri (MS)"/>
                <a:sym typeface="Calibri (MS)"/>
              </a:rPr>
              <a:t>bas niveau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que </a:t>
            </a:r>
            <a:r>
              <a:rPr lang="en-US" sz="2700">
                <a:solidFill>
                  <a:srgbClr val="004AAD"/>
                </a:solidFill>
                <a:latin typeface="Calibri (MS)"/>
                <a:ea typeface="Calibri (MS)"/>
                <a:cs typeface="Calibri (MS)"/>
                <a:sym typeface="Calibri (MS)"/>
              </a:rPr>
              <a:t>JavaScript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mais encore indépendant de l'architecture CPU. Ce bytecode est exécutable immédiatement.</a:t>
            </a: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Étape 3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— </a:t>
            </a:r>
            <a:r>
              <a:rPr lang="en-US" sz="2700">
                <a:solidFill>
                  <a:srgbClr val="FF5757"/>
                </a:solidFill>
                <a:latin typeface="Calibri (MS)"/>
                <a:ea typeface="Calibri (MS)"/>
                <a:cs typeface="Calibri (MS)"/>
                <a:sym typeface="Calibri (MS)"/>
              </a:rPr>
              <a:t>TurboFan (compilateur JIT):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Le compilateur TurboFan surveille en </a:t>
            </a:r>
            <a:r>
              <a:rPr lang="en-US" sz="2700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Calibri (MS)"/>
                <a:ea typeface="Calibri (MS)"/>
                <a:cs typeface="Calibri (MS)"/>
                <a:sym typeface="Calibri (MS)"/>
              </a:rPr>
              <a:t>temps réel 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les fonctions les plus fréquemment appelées — appelées fonctions </a:t>
            </a:r>
            <a:r>
              <a:rPr lang="en-US" sz="2700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Calibri (MS)"/>
                <a:ea typeface="Calibri (MS)"/>
                <a:cs typeface="Calibri (MS)"/>
                <a:sym typeface="Calibri (MS)"/>
              </a:rPr>
              <a:t>chaudes (hot functions)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. Il les </a:t>
            </a:r>
            <a:r>
              <a:rPr lang="en-US" sz="2700">
                <a:gradFill>
                  <a:gsLst>
                    <a:gs pos="0">
                      <a:srgbClr val="0E3466">
                        <a:alpha val="100000"/>
                      </a:srgbClr>
                    </a:gs>
                    <a:gs pos="52000">
                      <a:srgbClr val="0E3466">
                        <a:alpha val="100000"/>
                      </a:srgbClr>
                    </a:gs>
                    <a:gs pos="100000">
                      <a:srgbClr val="144990">
                        <a:alpha val="100000"/>
                      </a:srgbClr>
                    </a:gs>
                  </a:gsLst>
                  <a:lin ang="5400000"/>
                </a:gradFill>
                <a:latin typeface="Calibri (MS)"/>
                <a:ea typeface="Calibri (MS)"/>
                <a:cs typeface="Calibri (MS)"/>
                <a:sym typeface="Calibri (MS)"/>
              </a:rPr>
              <a:t>recompile 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en code machine natif </a:t>
            </a:r>
            <a:r>
              <a:rPr lang="en-US" sz="2700">
                <a:solidFill>
                  <a:srgbClr val="48B54C"/>
                </a:solidFill>
                <a:latin typeface="Calibri (MS)"/>
                <a:ea typeface="Calibri (MS)"/>
                <a:cs typeface="Calibri (MS)"/>
                <a:sym typeface="Calibri (MS)"/>
              </a:rPr>
              <a:t>optimisé 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directement </a:t>
            </a:r>
            <a:r>
              <a:rPr lang="en-US" sz="2700">
                <a:solidFill>
                  <a:srgbClr val="F89521"/>
                </a:solidFill>
                <a:latin typeface="Calibri (MS)"/>
                <a:ea typeface="Calibri (MS)"/>
                <a:cs typeface="Calibri (MS)"/>
                <a:sym typeface="Calibri (MS)"/>
              </a:rPr>
              <a:t>exécutable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par le processeur, sans intermédiaire. Cette </a:t>
            </a:r>
            <a:r>
              <a:rPr lang="en-US" sz="2700">
                <a:solidFill>
                  <a:srgbClr val="84BDE4"/>
                </a:solidFill>
                <a:latin typeface="Calibri (MS)"/>
                <a:ea typeface="Calibri (MS)"/>
                <a:cs typeface="Calibri (MS)"/>
                <a:sym typeface="Calibri (MS)"/>
              </a:rPr>
              <a:t>optimisation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s'appelle </a:t>
            </a:r>
            <a:r>
              <a:rPr lang="en-US" sz="2700">
                <a:solidFill>
                  <a:srgbClr val="CB6CE6"/>
                </a:solidFill>
                <a:latin typeface="Calibri (MS)"/>
                <a:ea typeface="Calibri (MS)"/>
                <a:cs typeface="Calibri (MS)"/>
                <a:sym typeface="Calibri (MS)"/>
              </a:rPr>
              <a:t>compilation JIT (Just-In-Time)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— compilation juste au moment où le code en a besoin.</a:t>
            </a: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Si une hypothèse d'</a:t>
            </a:r>
            <a:r>
              <a:rPr lang="en-US" sz="2700">
                <a:solidFill>
                  <a:srgbClr val="4B321D"/>
                </a:solidFill>
                <a:latin typeface="Calibri (MS)"/>
                <a:ea typeface="Calibri (MS)"/>
                <a:cs typeface="Calibri (MS)"/>
                <a:sym typeface="Calibri (MS)"/>
              </a:rPr>
              <a:t>optimisation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devient </a:t>
            </a:r>
            <a:r>
              <a:rPr lang="en-US" sz="2700">
                <a:solidFill>
                  <a:srgbClr val="CC2D2D"/>
                </a:solidFill>
                <a:latin typeface="Calibri (MS)"/>
                <a:ea typeface="Calibri (MS)"/>
                <a:cs typeface="Calibri (MS)"/>
                <a:sym typeface="Calibri (MS)"/>
              </a:rPr>
              <a:t>incorrecte 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(par exemple, une variable change de type), TurboFan procède à une </a:t>
            </a:r>
            <a:r>
              <a:rPr lang="en-US" sz="2700">
                <a:solidFill>
                  <a:srgbClr val="F5B469"/>
                </a:solidFill>
                <a:latin typeface="Calibri (MS)"/>
                <a:ea typeface="Calibri (MS)"/>
                <a:cs typeface="Calibri (MS)"/>
                <a:sym typeface="Calibri (MS)"/>
              </a:rPr>
              <a:t>déoptimisation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et repasse par Ignition. C'est pourquoi écrire du </a:t>
            </a:r>
            <a:r>
              <a:rPr lang="en-US" sz="2700">
                <a:solidFill>
                  <a:srgbClr val="004AAD"/>
                </a:solidFill>
                <a:latin typeface="Calibri (MS)"/>
                <a:ea typeface="Calibri (MS)"/>
                <a:cs typeface="Calibri (MS)"/>
                <a:sym typeface="Calibri (MS)"/>
              </a:rPr>
              <a:t>JavaScript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typé de façon cohérente améliore considérablement les performances.</a:t>
            </a: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Calibri (MS)"/>
                <a:ea typeface="Calibri (MS)"/>
                <a:cs typeface="Calibri (MS)"/>
                <a:sym typeface="Calibri (MS)"/>
              </a:rPr>
              <a:t>Résultat 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: le code </a:t>
            </a:r>
            <a:r>
              <a:rPr lang="en-US" sz="2700">
                <a:solidFill>
                  <a:srgbClr val="004AAD"/>
                </a:solidFill>
                <a:latin typeface="Calibri (MS)"/>
                <a:ea typeface="Calibri (MS)"/>
                <a:cs typeface="Calibri (MS)"/>
                <a:sym typeface="Calibri (MS)"/>
              </a:rPr>
              <a:t>JavaScript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compilé par </a:t>
            </a:r>
            <a:r>
              <a:rPr lang="en-US" sz="2700">
                <a:solidFill>
                  <a:srgbClr val="8BC501"/>
                </a:solidFill>
                <a:latin typeface="Calibri (MS)"/>
                <a:ea typeface="Calibri (MS)"/>
                <a:cs typeface="Calibri (MS)"/>
                <a:sym typeface="Calibri (MS)"/>
              </a:rPr>
              <a:t>V8 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atteint des</a:t>
            </a:r>
            <a:r>
              <a:rPr lang="en-US" sz="2700">
                <a:solidFill>
                  <a:srgbClr val="CC2D2D"/>
                </a:solidFill>
                <a:latin typeface="Calibri (MS)"/>
                <a:ea typeface="Calibri (MS)"/>
                <a:cs typeface="Calibri (MS)"/>
                <a:sym typeface="Calibri (MS)"/>
              </a:rPr>
              <a:t> performances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proches du </a:t>
            </a:r>
            <a:r>
              <a:rPr lang="en-US" sz="2700">
                <a:solidFill>
                  <a:srgbClr val="7E5027"/>
                </a:solidFill>
                <a:latin typeface="Calibri (MS)"/>
                <a:ea typeface="Calibri (MS)"/>
                <a:cs typeface="Calibri (MS)"/>
                <a:sym typeface="Calibri (MS)"/>
              </a:rPr>
              <a:t>C++</a:t>
            </a:r>
            <a:r>
              <a:rPr lang="en-US" sz="27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sur les benchmarks courants.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 rot="110880">
            <a:off x="819388" y="9779260"/>
            <a:ext cx="590855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400566" y="97316"/>
            <a:ext cx="15363434" cy="1104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LE RUNTIME NODE.JS — Au-</a:t>
            </a:r>
            <a:r>
              <a:rPr lang="en-US" sz="7200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delà</a:t>
            </a:r>
            <a:r>
              <a:rPr lang="en-US" sz="7200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de V8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528762"/>
            <a:ext cx="14945563" cy="7610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8BC501"/>
                </a:solidFill>
                <a:latin typeface="Calibri (MS)"/>
                <a:ea typeface="Calibri (MS)"/>
                <a:cs typeface="Calibri (MS)"/>
                <a:sym typeface="Calibri (MS)"/>
              </a:rPr>
              <a:t>V8</a:t>
            </a:r>
            <a:r>
              <a:rPr lang="en-US" sz="29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seul ne peut qu'</a:t>
            </a:r>
            <a:r>
              <a:rPr lang="en-US" sz="2900">
                <a:solidFill>
                  <a:srgbClr val="004AAD"/>
                </a:solidFill>
                <a:latin typeface="Calibri (MS)"/>
                <a:ea typeface="Calibri (MS)"/>
                <a:cs typeface="Calibri (MS)"/>
                <a:sym typeface="Calibri (MS)"/>
              </a:rPr>
              <a:t>exécuter </a:t>
            </a:r>
            <a:r>
              <a:rPr lang="en-US" sz="29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du </a:t>
            </a:r>
            <a:r>
              <a:rPr lang="en-US" sz="2900">
                <a:solidFill>
                  <a:srgbClr val="004AAD"/>
                </a:solidFill>
                <a:latin typeface="Calibri (MS)"/>
                <a:ea typeface="Calibri (MS)"/>
                <a:cs typeface="Calibri (MS)"/>
                <a:sym typeface="Calibri (MS)"/>
              </a:rPr>
              <a:t>JavaScript</a:t>
            </a:r>
            <a:r>
              <a:rPr lang="en-US" sz="29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pur — il n'a aucun accès au </a:t>
            </a:r>
            <a:r>
              <a:rPr lang="en-US" sz="2900">
                <a:solidFill>
                  <a:srgbClr val="CC2D2D"/>
                </a:solidFill>
                <a:latin typeface="Calibri (MS)"/>
                <a:ea typeface="Calibri (MS)"/>
                <a:cs typeface="Calibri (MS)"/>
                <a:sym typeface="Calibri (MS)"/>
              </a:rPr>
              <a:t>système de fichiers</a:t>
            </a:r>
            <a:r>
              <a:rPr lang="en-US" sz="29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, au </a:t>
            </a:r>
            <a:r>
              <a:rPr lang="en-US" sz="2900">
                <a:solidFill>
                  <a:srgbClr val="CC2D2D"/>
                </a:solidFill>
                <a:latin typeface="Calibri (MS)"/>
                <a:ea typeface="Calibri (MS)"/>
                <a:cs typeface="Calibri (MS)"/>
                <a:sym typeface="Calibri (MS)"/>
              </a:rPr>
              <a:t>réseau</a:t>
            </a:r>
            <a:r>
              <a:rPr lang="en-US" sz="29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, ou aux </a:t>
            </a:r>
            <a:r>
              <a:rPr lang="en-US" sz="2900">
                <a:solidFill>
                  <a:srgbClr val="0CC0DF"/>
                </a:solidFill>
                <a:latin typeface="Calibri (MS)"/>
                <a:ea typeface="Calibri (MS)"/>
                <a:cs typeface="Calibri (MS)"/>
                <a:sym typeface="Calibri (MS)"/>
              </a:rPr>
              <a:t>ports TCP</a:t>
            </a:r>
            <a:r>
              <a:rPr lang="en-US" sz="29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. </a:t>
            </a:r>
            <a:r>
              <a:rPr lang="en-US" sz="2900">
                <a:solidFill>
                  <a:srgbClr val="8BC501"/>
                </a:solidFill>
                <a:latin typeface="Calibri (MS)"/>
                <a:ea typeface="Calibri (MS)"/>
                <a:cs typeface="Calibri (MS)"/>
                <a:sym typeface="Calibri (MS)"/>
              </a:rPr>
              <a:t>Node.js</a:t>
            </a:r>
            <a:r>
              <a:rPr lang="en-US" sz="29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construit un </a:t>
            </a:r>
            <a:r>
              <a:rPr lang="en-US" sz="2900">
                <a:solidFill>
                  <a:srgbClr val="006FBD"/>
                </a:solidFill>
                <a:latin typeface="Calibri (MS)"/>
                <a:ea typeface="Calibri (MS)"/>
                <a:cs typeface="Calibri (MS)"/>
                <a:sym typeface="Calibri (MS)"/>
              </a:rPr>
              <a:t>runtime</a:t>
            </a:r>
            <a:r>
              <a:rPr lang="en-US" sz="29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complet par-dessus </a:t>
            </a:r>
            <a:r>
              <a:rPr lang="en-US" sz="2900">
                <a:solidFill>
                  <a:srgbClr val="2961D6"/>
                </a:solidFill>
                <a:latin typeface="Calibri (MS)"/>
                <a:ea typeface="Calibri (MS)"/>
                <a:cs typeface="Calibri (MS)"/>
                <a:sym typeface="Calibri (MS)"/>
              </a:rPr>
              <a:t>V8 </a:t>
            </a:r>
            <a:r>
              <a:rPr lang="en-US" sz="29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en ajoutant :</a:t>
            </a:r>
          </a:p>
          <a:p>
            <a:pPr algn="l">
              <a:lnSpc>
                <a:spcPts val="3480"/>
              </a:lnSpc>
            </a:pPr>
            <a:r>
              <a:rPr lang="en-US" sz="2900" b="1">
                <a:solidFill>
                  <a:srgbClr val="30B6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libuv</a:t>
            </a:r>
            <a:r>
              <a:rPr lang="en-US" sz="29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— la </a:t>
            </a:r>
            <a:r>
              <a:rPr lang="en-US" sz="2900">
                <a:solidFill>
                  <a:srgbClr val="006FBD"/>
                </a:solidFill>
                <a:latin typeface="Calibri (MS)"/>
                <a:ea typeface="Calibri (MS)"/>
                <a:cs typeface="Calibri (MS)"/>
                <a:sym typeface="Calibri (MS)"/>
              </a:rPr>
              <a:t>bibliothèque</a:t>
            </a:r>
            <a:r>
              <a:rPr lang="en-US" sz="29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900">
                <a:solidFill>
                  <a:srgbClr val="80C8CC"/>
                </a:solidFill>
                <a:latin typeface="Calibri (MS)"/>
                <a:ea typeface="Calibri (MS)"/>
                <a:cs typeface="Calibri (MS)"/>
                <a:sym typeface="Calibri (MS)"/>
              </a:rPr>
              <a:t>C++</a:t>
            </a:r>
            <a:r>
              <a:rPr lang="en-US" sz="29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qui fournit :</a:t>
            </a:r>
          </a:p>
          <a:p>
            <a:pPr marL="626114" lvl="1" indent="-313057" algn="l">
              <a:lnSpc>
                <a:spcPts val="3480"/>
              </a:lnSpc>
              <a:buFont typeface="Arial"/>
              <a:buChar char="•"/>
            </a:pPr>
            <a:r>
              <a:rPr lang="en-US" sz="2900">
                <a:solidFill>
                  <a:srgbClr val="CC2D2D"/>
                </a:solidFill>
                <a:latin typeface="Calibri (MS)"/>
                <a:ea typeface="Calibri (MS)"/>
                <a:cs typeface="Calibri (MS)"/>
                <a:sym typeface="Calibri (MS)"/>
              </a:rPr>
              <a:t>L'Event Loop</a:t>
            </a:r>
            <a:r>
              <a:rPr lang="en-US" sz="29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: la boucle d'</a:t>
            </a:r>
            <a:r>
              <a:rPr lang="en-US" sz="2900">
                <a:solidFill>
                  <a:srgbClr val="9518B5"/>
                </a:solidFill>
                <a:latin typeface="Calibri (MS)"/>
                <a:ea typeface="Calibri (MS)"/>
                <a:cs typeface="Calibri (MS)"/>
                <a:sym typeface="Calibri (MS)"/>
              </a:rPr>
              <a:t>événements</a:t>
            </a:r>
            <a:r>
              <a:rPr lang="en-US" sz="29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qui </a:t>
            </a:r>
            <a:r>
              <a:rPr lang="en-US" sz="2900">
                <a:solidFill>
                  <a:srgbClr val="A26732"/>
                </a:solidFill>
                <a:latin typeface="Calibri (MS)"/>
                <a:ea typeface="Calibri (MS)"/>
                <a:cs typeface="Calibri (MS)"/>
                <a:sym typeface="Calibri (MS)"/>
              </a:rPr>
              <a:t>orchestre</a:t>
            </a:r>
            <a:r>
              <a:rPr lang="en-US" sz="29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l'</a:t>
            </a:r>
            <a:r>
              <a:rPr lang="en-US" sz="2900">
                <a:solidFill>
                  <a:srgbClr val="5E17EB"/>
                </a:solidFill>
                <a:latin typeface="Calibri (MS)"/>
                <a:ea typeface="Calibri (MS)"/>
                <a:cs typeface="Calibri (MS)"/>
                <a:sym typeface="Calibri (MS)"/>
              </a:rPr>
              <a:t>exécution</a:t>
            </a:r>
            <a:r>
              <a:rPr lang="en-US" sz="29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900">
                <a:solidFill>
                  <a:srgbClr val="FF751F"/>
                </a:solidFill>
                <a:latin typeface="Calibri (MS)"/>
                <a:ea typeface="Calibri (MS)"/>
                <a:cs typeface="Calibri (MS)"/>
                <a:sym typeface="Calibri (MS)"/>
              </a:rPr>
              <a:t>asynchrone</a:t>
            </a:r>
          </a:p>
          <a:p>
            <a:pPr marL="626114" lvl="1" indent="-313057" algn="l">
              <a:lnSpc>
                <a:spcPts val="3480"/>
              </a:lnSpc>
              <a:buFont typeface="Arial"/>
              <a:buChar char="•"/>
            </a:pPr>
            <a:r>
              <a:rPr lang="en-US" sz="2900">
                <a:solidFill>
                  <a:srgbClr val="FF751F"/>
                </a:solidFill>
                <a:latin typeface="Calibri (MS)"/>
                <a:ea typeface="Calibri (MS)"/>
                <a:cs typeface="Calibri (MS)"/>
                <a:sym typeface="Calibri (MS)"/>
              </a:rPr>
              <a:t>Le Thread Pool</a:t>
            </a:r>
            <a:r>
              <a:rPr lang="en-US" sz="29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: un pool de </a:t>
            </a:r>
            <a:r>
              <a:rPr lang="en-US" sz="2900">
                <a:solidFill>
                  <a:srgbClr val="0CC0DF"/>
                </a:solidFill>
                <a:latin typeface="Calibri (MS)"/>
                <a:ea typeface="Calibri (MS)"/>
                <a:cs typeface="Calibri (MS)"/>
                <a:sym typeface="Calibri (MS)"/>
              </a:rPr>
              <a:t>4 threads </a:t>
            </a:r>
            <a:r>
              <a:rPr lang="en-US" sz="29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(configurable via UV_THREADPOOL_SIZE) pour les </a:t>
            </a:r>
            <a:r>
              <a:rPr lang="en-US" sz="2900">
                <a:solidFill>
                  <a:srgbClr val="13489A"/>
                </a:solidFill>
                <a:latin typeface="Calibri (MS)"/>
                <a:ea typeface="Calibri (MS)"/>
                <a:cs typeface="Calibri (MS)"/>
                <a:sym typeface="Calibri (MS)"/>
              </a:rPr>
              <a:t>opérations</a:t>
            </a:r>
            <a:r>
              <a:rPr lang="en-US" sz="29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qui ne peuvent pas être rendues </a:t>
            </a:r>
            <a:r>
              <a:rPr lang="en-US" sz="2900">
                <a:solidFill>
                  <a:srgbClr val="734923"/>
                </a:solidFill>
                <a:latin typeface="Calibri (MS)"/>
                <a:ea typeface="Calibri (MS)"/>
                <a:cs typeface="Calibri (MS)"/>
                <a:sym typeface="Calibri (MS)"/>
              </a:rPr>
              <a:t>non-bloquantes</a:t>
            </a:r>
            <a:r>
              <a:rPr lang="en-US" sz="29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nativement (cryptographie, compression zlib, certaines opérations fs)</a:t>
            </a:r>
          </a:p>
          <a:p>
            <a:pPr marL="626114" lvl="1" indent="-313057" algn="l">
              <a:lnSpc>
                <a:spcPts val="3480"/>
              </a:lnSpc>
              <a:buFont typeface="Arial"/>
              <a:buChar char="•"/>
            </a:pPr>
            <a:r>
              <a:rPr lang="en-US" sz="2900">
                <a:gradFill>
                  <a:gsLst>
                    <a:gs pos="15000">
                      <a:srgbClr val="FE8356">
                        <a:alpha val="100000"/>
                      </a:srgbClr>
                    </a:gs>
                    <a:gs pos="50000">
                      <a:srgbClr val="FFEE22">
                        <a:alpha val="100000"/>
                      </a:srgbClr>
                    </a:gs>
                    <a:gs pos="85000">
                      <a:srgbClr val="A4F402">
                        <a:alpha val="100000"/>
                      </a:srgbClr>
                    </a:gs>
                  </a:gsLst>
                  <a:lin ang="18900000"/>
                </a:gradFill>
                <a:latin typeface="Calibri (MS)"/>
                <a:ea typeface="Calibri (MS)"/>
                <a:cs typeface="Calibri (MS)"/>
                <a:sym typeface="Calibri (MS)"/>
              </a:rPr>
              <a:t>Les I/O handles</a:t>
            </a:r>
            <a:r>
              <a:rPr lang="en-US" sz="29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: abstractions pour les </a:t>
            </a:r>
            <a:r>
              <a:rPr lang="en-US" sz="2900">
                <a:solidFill>
                  <a:srgbClr val="7E5027"/>
                </a:solidFill>
                <a:latin typeface="Calibri (MS)"/>
                <a:ea typeface="Calibri (MS)"/>
                <a:cs typeface="Calibri (MS)"/>
                <a:sym typeface="Calibri (MS)"/>
              </a:rPr>
              <a:t>sockets </a:t>
            </a:r>
            <a:r>
              <a:rPr lang="en-US" sz="29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TCP/UDP, les pipes, les signaux système, les timers</a:t>
            </a:r>
          </a:p>
          <a:p>
            <a:pPr marL="626114" lvl="1" indent="-313057" algn="l">
              <a:lnSpc>
                <a:spcPts val="3480"/>
              </a:lnSpc>
              <a:buFont typeface="Arial"/>
              <a:buChar char="•"/>
            </a:pPr>
            <a:r>
              <a:rPr lang="en-US" sz="2900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Calibri (MS)"/>
                <a:ea typeface="Calibri (MS)"/>
                <a:cs typeface="Calibri (MS)"/>
                <a:sym typeface="Calibri (MS)"/>
              </a:rPr>
              <a:t>L'abstraction cross-platform</a:t>
            </a:r>
            <a:r>
              <a:rPr lang="en-US" sz="29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:</a:t>
            </a:r>
            <a:r>
              <a:rPr lang="en-US" sz="2900">
                <a:solidFill>
                  <a:srgbClr val="269177"/>
                </a:solidFill>
                <a:latin typeface="Calibri (MS)"/>
                <a:ea typeface="Calibri (MS)"/>
                <a:cs typeface="Calibri (MS)"/>
                <a:sym typeface="Calibri (MS)"/>
              </a:rPr>
              <a:t> libuv</a:t>
            </a:r>
            <a:r>
              <a:rPr lang="en-US" sz="29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expose la même API que le système soit </a:t>
            </a:r>
            <a:r>
              <a:rPr lang="en-US" sz="2900">
                <a:solidFill>
                  <a:srgbClr val="5E17EB"/>
                </a:solidFill>
                <a:latin typeface="Calibri (MS)"/>
                <a:ea typeface="Calibri (MS)"/>
                <a:cs typeface="Calibri (MS)"/>
                <a:sym typeface="Calibri (MS)"/>
              </a:rPr>
              <a:t>Windows</a:t>
            </a:r>
            <a:r>
              <a:rPr lang="en-US" sz="29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 ou </a:t>
            </a:r>
            <a:r>
              <a:rPr lang="en-US" sz="2900">
                <a:solidFill>
                  <a:srgbClr val="0CC0DF"/>
                </a:solidFill>
                <a:latin typeface="Calibri (MS)"/>
                <a:ea typeface="Calibri (MS)"/>
                <a:cs typeface="Calibri (MS)"/>
                <a:sym typeface="Calibri (MS)"/>
              </a:rPr>
              <a:t>Unix </a:t>
            </a:r>
          </a:p>
          <a:p>
            <a:pPr algn="l">
              <a:lnSpc>
                <a:spcPts val="3480"/>
              </a:lnSpc>
            </a:pPr>
            <a:r>
              <a:rPr lang="en-US" sz="2900" b="1" u="sng">
                <a:solidFill>
                  <a:srgbClr val="5536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Les</a:t>
            </a:r>
            <a:r>
              <a:rPr lang="en-US" sz="29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900" b="1" u="sng">
                <a:solidFill>
                  <a:srgbClr val="5536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bindings C++</a:t>
            </a:r>
            <a:r>
              <a:rPr lang="en-US" sz="29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900" b="1">
                <a:solidFill>
                  <a:srgbClr val="5536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:</a:t>
            </a:r>
            <a:r>
              <a:rPr lang="en-US" sz="29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des </a:t>
            </a:r>
            <a:r>
              <a:rPr lang="en-US" sz="2900">
                <a:solidFill>
                  <a:srgbClr val="372415"/>
                </a:solidFill>
                <a:latin typeface="Calibri (MS)"/>
                <a:ea typeface="Calibri (MS)"/>
                <a:cs typeface="Calibri (MS)"/>
                <a:sym typeface="Calibri (MS)"/>
              </a:rPr>
              <a:t>ponts</a:t>
            </a:r>
            <a:r>
              <a:rPr lang="en-US" sz="29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compilés qui permettent au </a:t>
            </a:r>
            <a:r>
              <a:rPr lang="en-US" sz="2900">
                <a:solidFill>
                  <a:srgbClr val="004AAD"/>
                </a:solidFill>
                <a:latin typeface="Calibri (MS)"/>
                <a:ea typeface="Calibri (MS)"/>
                <a:cs typeface="Calibri (MS)"/>
                <a:sym typeface="Calibri (MS)"/>
              </a:rPr>
              <a:t>JavaScript</a:t>
            </a:r>
            <a:r>
              <a:rPr lang="en-US" sz="29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d'appeler des</a:t>
            </a:r>
            <a:r>
              <a:rPr lang="en-US" sz="2900">
                <a:solidFill>
                  <a:srgbClr val="596E2D"/>
                </a:solidFill>
                <a:latin typeface="Calibri (MS)"/>
                <a:ea typeface="Calibri (MS)"/>
                <a:cs typeface="Calibri (MS)"/>
                <a:sym typeface="Calibri (MS)"/>
              </a:rPr>
              <a:t> fonctions C++</a:t>
            </a:r>
            <a:r>
              <a:rPr lang="en-US" sz="29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de bas niveau. Par exemple, quand tu appelles </a:t>
            </a:r>
            <a:r>
              <a:rPr lang="en-US" sz="2900" u="sng">
                <a:solidFill>
                  <a:srgbClr val="CC2D2D"/>
                </a:solidFill>
                <a:latin typeface="Calibri (MS)"/>
                <a:ea typeface="Calibri (MS)"/>
                <a:cs typeface="Calibri (MS)"/>
                <a:sym typeface="Calibri (MS)"/>
              </a:rPr>
              <a:t>fs.readFile()</a:t>
            </a:r>
            <a:r>
              <a:rPr lang="en-US" sz="29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2900">
                <a:solidFill>
                  <a:srgbClr val="006FBD"/>
                </a:solidFill>
                <a:latin typeface="Calibri (MS)"/>
                <a:ea typeface="Calibri (MS)"/>
                <a:cs typeface="Calibri (MS)"/>
                <a:sym typeface="Calibri (MS)"/>
              </a:rPr>
              <a:t>JavaScript</a:t>
            </a:r>
            <a:r>
              <a:rPr lang="en-US" sz="29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appelle un </a:t>
            </a:r>
            <a:r>
              <a:rPr lang="en-US" sz="2900">
                <a:solidFill>
                  <a:srgbClr val="734923"/>
                </a:solidFill>
                <a:latin typeface="Calibri (MS)"/>
                <a:ea typeface="Calibri (MS)"/>
                <a:cs typeface="Calibri (MS)"/>
                <a:sym typeface="Calibri (MS)"/>
              </a:rPr>
              <a:t>binding C++</a:t>
            </a:r>
            <a:r>
              <a:rPr lang="en-US" sz="29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qui appelle lui-même l'API système du </a:t>
            </a:r>
            <a:r>
              <a:rPr lang="en-US" sz="2900">
                <a:solidFill>
                  <a:srgbClr val="CC2D2D"/>
                </a:solidFill>
                <a:latin typeface="Calibri (MS)"/>
                <a:ea typeface="Calibri (MS)"/>
                <a:cs typeface="Calibri (MS)"/>
                <a:sym typeface="Calibri (MS)"/>
              </a:rPr>
              <a:t>nœud</a:t>
            </a:r>
            <a:r>
              <a:rPr lang="en-US" sz="29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d'exploitation.</a:t>
            </a:r>
          </a:p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Les Core </a:t>
            </a:r>
            <a:r>
              <a:rPr lang="en-US" sz="2900">
                <a:solidFill>
                  <a:srgbClr val="80C8CC"/>
                </a:solidFill>
                <a:latin typeface="Calibri (MS)"/>
                <a:ea typeface="Calibri (MS)"/>
                <a:cs typeface="Calibri (MS)"/>
                <a:sym typeface="Calibri (MS)"/>
              </a:rPr>
              <a:t>Modules </a:t>
            </a:r>
            <a:r>
              <a:rPr lang="en-US" sz="29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— modules natifs écrits en </a:t>
            </a:r>
            <a:r>
              <a:rPr lang="en-US" sz="2900">
                <a:solidFill>
                  <a:srgbClr val="004AAD"/>
                </a:solidFill>
                <a:latin typeface="Calibri (MS)"/>
                <a:ea typeface="Calibri (MS)"/>
                <a:cs typeface="Calibri (MS)"/>
                <a:sym typeface="Calibri (MS)"/>
              </a:rPr>
              <a:t>JavaScript</a:t>
            </a:r>
            <a:r>
              <a:rPr lang="en-US" sz="29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 (qui s'appuient sur les </a:t>
            </a:r>
            <a:r>
              <a:rPr lang="en-US" sz="2900">
                <a:solidFill>
                  <a:srgbClr val="734923"/>
                </a:solidFill>
                <a:latin typeface="Calibri (MS)"/>
                <a:ea typeface="Calibri (MS)"/>
                <a:cs typeface="Calibri (MS)"/>
                <a:sym typeface="Calibri (MS)"/>
              </a:rPr>
              <a:t>bindings</a:t>
            </a:r>
            <a:r>
              <a:rPr lang="en-US" sz="2900">
                <a:solidFill>
                  <a:srgbClr val="A6A6A6"/>
                </a:solidFill>
                <a:latin typeface="Calibri (MS)"/>
                <a:ea typeface="Calibri (MS)"/>
                <a:cs typeface="Calibri (MS)"/>
                <a:sym typeface="Calibri (MS)"/>
              </a:rPr>
              <a:t>) : fs, http, net, path, crypto, stream, events, url, os...</a:t>
            </a:r>
          </a:p>
          <a:p>
            <a:pPr algn="l">
              <a:lnSpc>
                <a:spcPts val="3480"/>
              </a:lnSpc>
            </a:pPr>
            <a:endParaRPr lang="en-US" sz="2900">
              <a:solidFill>
                <a:srgbClr val="A6A6A6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just">
              <a:lnSpc>
                <a:spcPts val="4320"/>
              </a:lnSpc>
            </a:pPr>
            <a:endParaRPr lang="en-US" sz="2900">
              <a:solidFill>
                <a:srgbClr val="A6A6A6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8147389" y="7846547"/>
            <a:ext cx="4596234" cy="2585381"/>
          </a:xfrm>
          <a:custGeom>
            <a:avLst/>
            <a:gdLst/>
            <a:ahLst/>
            <a:cxnLst/>
            <a:rect l="l" t="t" r="r" b="b"/>
            <a:pathLst>
              <a:path w="4596234" h="2585381">
                <a:moveTo>
                  <a:pt x="0" y="0"/>
                </a:moveTo>
                <a:lnTo>
                  <a:pt x="4596233" y="0"/>
                </a:lnTo>
                <a:lnTo>
                  <a:pt x="4596233" y="2585381"/>
                </a:lnTo>
                <a:lnTo>
                  <a:pt x="0" y="25853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5784002" y="4360135"/>
            <a:ext cx="2202342" cy="2202342"/>
          </a:xfrm>
          <a:custGeom>
            <a:avLst/>
            <a:gdLst/>
            <a:ahLst/>
            <a:cxnLst/>
            <a:rect l="l" t="t" r="r" b="b"/>
            <a:pathLst>
              <a:path w="2202342" h="2202342">
                <a:moveTo>
                  <a:pt x="0" y="0"/>
                </a:moveTo>
                <a:lnTo>
                  <a:pt x="2202341" y="0"/>
                </a:lnTo>
                <a:lnTo>
                  <a:pt x="2202341" y="2202341"/>
                </a:lnTo>
                <a:lnTo>
                  <a:pt x="0" y="22023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7431750" y="455790"/>
            <a:ext cx="416319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12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 rot="110880">
            <a:off x="819388" y="9779260"/>
            <a:ext cx="590855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0" y="7158038"/>
            <a:ext cx="18288000" cy="3128962"/>
            <a:chOff x="0" y="0"/>
            <a:chExt cx="24384000" cy="41719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384000" cy="4171950"/>
            </a:xfrm>
            <a:custGeom>
              <a:avLst/>
              <a:gdLst/>
              <a:ahLst/>
              <a:cxnLst/>
              <a:rect l="l" t="t" r="r" b="b"/>
              <a:pathLst>
                <a:path w="24384000" h="4171950">
                  <a:moveTo>
                    <a:pt x="0" y="0"/>
                  </a:moveTo>
                  <a:lnTo>
                    <a:pt x="24384000" y="0"/>
                  </a:lnTo>
                  <a:lnTo>
                    <a:pt x="24384000" y="4171950"/>
                  </a:lnTo>
                  <a:lnTo>
                    <a:pt x="0" y="41719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1" name="Freeform 11"/>
          <p:cNvSpPr/>
          <p:nvPr/>
        </p:nvSpPr>
        <p:spPr>
          <a:xfrm>
            <a:off x="2184525" y="2064381"/>
            <a:ext cx="13430018" cy="7409904"/>
          </a:xfrm>
          <a:custGeom>
            <a:avLst/>
            <a:gdLst/>
            <a:ahLst/>
            <a:cxnLst/>
            <a:rect l="l" t="t" r="r" b="b"/>
            <a:pathLst>
              <a:path w="13430018" h="7409904">
                <a:moveTo>
                  <a:pt x="0" y="0"/>
                </a:moveTo>
                <a:lnTo>
                  <a:pt x="13430018" y="0"/>
                </a:lnTo>
                <a:lnTo>
                  <a:pt x="13430018" y="7409903"/>
                </a:lnTo>
                <a:lnTo>
                  <a:pt x="0" y="74099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710" r="-4056" b="-5025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7431750" y="455790"/>
            <a:ext cx="416319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88581" y="676527"/>
            <a:ext cx="12425961" cy="54864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L'ARCHITECTURE EN COUCHES</a:t>
            </a:r>
          </a:p>
          <a:p>
            <a:pPr algn="ctr">
              <a:lnSpc>
                <a:spcPts val="8640"/>
              </a:lnSpc>
            </a:pPr>
            <a:endParaRPr lang="en-US" sz="7200" dirty="0">
              <a:solidFill>
                <a:srgbClr val="80808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algn="ctr">
              <a:lnSpc>
                <a:spcPts val="8640"/>
              </a:lnSpc>
            </a:pPr>
            <a:endParaRPr lang="en-US" sz="7200" dirty="0">
              <a:solidFill>
                <a:srgbClr val="80808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algn="ctr">
              <a:lnSpc>
                <a:spcPts val="8640"/>
              </a:lnSpc>
            </a:pPr>
            <a:endParaRPr lang="en-US" sz="7200" dirty="0">
              <a:solidFill>
                <a:srgbClr val="80808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algn="ctr">
              <a:lnSpc>
                <a:spcPts val="8640"/>
              </a:lnSpc>
            </a:pPr>
            <a:endParaRPr lang="en-US" sz="7200" dirty="0">
              <a:solidFill>
                <a:srgbClr val="80808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4007653" y="8198653"/>
            <a:ext cx="1128703" cy="3048000"/>
            <a:chOff x="0" y="0"/>
            <a:chExt cx="1504937" cy="406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77933C"/>
            </a:solidFill>
          </p:spPr>
        </p:sp>
      </p:grpSp>
      <p:grpSp>
        <p:nvGrpSpPr>
          <p:cNvPr id="4" name="Group 4"/>
          <p:cNvGrpSpPr/>
          <p:nvPr/>
        </p:nvGrpSpPr>
        <p:grpSpPr>
          <a:xfrm rot="-5400000">
            <a:off x="7055653" y="8198644"/>
            <a:ext cx="1128703" cy="3048000"/>
            <a:chOff x="0" y="0"/>
            <a:chExt cx="1504937" cy="406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6" name="Group 6"/>
          <p:cNvGrpSpPr/>
          <p:nvPr/>
        </p:nvGrpSpPr>
        <p:grpSpPr>
          <a:xfrm rot="-5400000">
            <a:off x="10103644" y="8198644"/>
            <a:ext cx="1128703" cy="3048000"/>
            <a:chOff x="0" y="0"/>
            <a:chExt cx="1504937" cy="4064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9BBB59"/>
            </a:solidFill>
          </p:spPr>
        </p:sp>
      </p:grpSp>
      <p:grpSp>
        <p:nvGrpSpPr>
          <p:cNvPr id="8" name="Group 8"/>
          <p:cNvGrpSpPr/>
          <p:nvPr/>
        </p:nvGrpSpPr>
        <p:grpSpPr>
          <a:xfrm rot="-5400000">
            <a:off x="13151644" y="8198644"/>
            <a:ext cx="1128712" cy="3048000"/>
            <a:chOff x="0" y="0"/>
            <a:chExt cx="1504950" cy="4064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ACC777"/>
            </a:solidFill>
          </p:spPr>
        </p:sp>
      </p:grpSp>
      <p:grpSp>
        <p:nvGrpSpPr>
          <p:cNvPr id="10" name="Group 10"/>
          <p:cNvGrpSpPr/>
          <p:nvPr/>
        </p:nvGrpSpPr>
        <p:grpSpPr>
          <a:xfrm rot="-5400000">
            <a:off x="16199653" y="8198653"/>
            <a:ext cx="1128703" cy="3048000"/>
            <a:chOff x="0" y="0"/>
            <a:chExt cx="1504937" cy="4064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C0D498"/>
            </a:solidFill>
          </p:spPr>
        </p:sp>
      </p:grpSp>
      <p:grpSp>
        <p:nvGrpSpPr>
          <p:cNvPr id="12" name="Group 12"/>
          <p:cNvGrpSpPr/>
          <p:nvPr/>
        </p:nvGrpSpPr>
        <p:grpSpPr>
          <a:xfrm rot="-5400000">
            <a:off x="273844" y="7512844"/>
            <a:ext cx="2500312" cy="3048000"/>
            <a:chOff x="0" y="0"/>
            <a:chExt cx="3333750" cy="4064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333750" cy="4064000"/>
            </a:xfrm>
            <a:custGeom>
              <a:avLst/>
              <a:gdLst/>
              <a:ahLst/>
              <a:cxnLst/>
              <a:rect l="l" t="t" r="r" b="b"/>
              <a:pathLst>
                <a:path w="3333750" h="4064000">
                  <a:moveTo>
                    <a:pt x="0" y="0"/>
                  </a:moveTo>
                  <a:lnTo>
                    <a:pt x="3333750" y="0"/>
                  </a:lnTo>
                  <a:lnTo>
                    <a:pt x="33337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D0DFB3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2" y="1010493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1"/>
                </a:lnTo>
                <a:lnTo>
                  <a:pt x="0" y="201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970502" y="8449732"/>
            <a:ext cx="1106995" cy="1106453"/>
          </a:xfrm>
          <a:custGeom>
            <a:avLst/>
            <a:gdLst/>
            <a:ahLst/>
            <a:cxnLst/>
            <a:rect l="l" t="t" r="r" b="b"/>
            <a:pathLst>
              <a:path w="1106995" h="1106453">
                <a:moveTo>
                  <a:pt x="0" y="0"/>
                </a:moveTo>
                <a:lnTo>
                  <a:pt x="1106996" y="0"/>
                </a:lnTo>
                <a:lnTo>
                  <a:pt x="1106996" y="1106453"/>
                </a:lnTo>
                <a:lnTo>
                  <a:pt x="0" y="11064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AutoShape 16"/>
          <p:cNvSpPr/>
          <p:nvPr/>
        </p:nvSpPr>
        <p:spPr>
          <a:xfrm rot="10680">
            <a:off x="1502302" y="7124109"/>
            <a:ext cx="7653623" cy="0"/>
          </a:xfrm>
          <a:prstGeom prst="line">
            <a:avLst/>
          </a:prstGeom>
          <a:ln w="9525" cap="rnd">
            <a:solidFill>
              <a:srgbClr val="D0DFB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 rot="5279820">
            <a:off x="1173509" y="7453312"/>
            <a:ext cx="681457" cy="0"/>
          </a:xfrm>
          <a:prstGeom prst="line">
            <a:avLst/>
          </a:prstGeom>
          <a:ln w="9525" cap="rnd">
            <a:solidFill>
              <a:srgbClr val="D0DFB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 rot="5333880">
            <a:off x="8525056" y="6531473"/>
            <a:ext cx="1237888" cy="0"/>
          </a:xfrm>
          <a:prstGeom prst="line">
            <a:avLst/>
          </a:prstGeom>
          <a:ln w="9525" cap="rnd">
            <a:solidFill>
              <a:srgbClr val="D0DFB3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9" name="Freeform 19"/>
          <p:cNvSpPr/>
          <p:nvPr/>
        </p:nvSpPr>
        <p:spPr>
          <a:xfrm>
            <a:off x="684952" y="8134470"/>
            <a:ext cx="1634751" cy="1588174"/>
          </a:xfrm>
          <a:custGeom>
            <a:avLst/>
            <a:gdLst/>
            <a:ahLst/>
            <a:cxnLst/>
            <a:rect l="l" t="t" r="r" b="b"/>
            <a:pathLst>
              <a:path w="1634751" h="1588174">
                <a:moveTo>
                  <a:pt x="0" y="0"/>
                </a:moveTo>
                <a:lnTo>
                  <a:pt x="1634751" y="0"/>
                </a:lnTo>
                <a:lnTo>
                  <a:pt x="1634751" y="1588174"/>
                </a:lnTo>
                <a:lnTo>
                  <a:pt x="0" y="15881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2932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848625" y="4452937"/>
            <a:ext cx="16566942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Asynchronisme &amp; Event Loop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 rot="110880">
            <a:off x="819388" y="9779260"/>
            <a:ext cx="590855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655020" y="1647825"/>
            <a:ext cx="16604280" cy="6924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0"/>
              </a:lnSpc>
            </a:pPr>
            <a:endParaRPr/>
          </a:p>
          <a:p>
            <a:pPr algn="l">
              <a:lnSpc>
                <a:spcPts val="3650"/>
              </a:lnSpc>
            </a:pP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Dans un </a:t>
            </a:r>
            <a:r>
              <a:rPr lang="en-US" sz="3041" i="1">
                <a:solidFill>
                  <a:srgbClr val="CC2D2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modèle bloquant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3041" i="1">
                <a:solidFill>
                  <a:srgbClr val="55361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(synchrone)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, le </a:t>
            </a:r>
            <a:r>
              <a:rPr lang="en-US" sz="3041" i="1">
                <a:solidFill>
                  <a:srgbClr val="0CC0D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thread 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qui déclenche une </a:t>
            </a:r>
            <a:r>
              <a:rPr lang="en-US" sz="3041" i="1">
                <a:solidFill>
                  <a:srgbClr val="004AA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opération I/O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reste </a:t>
            </a:r>
            <a:r>
              <a:rPr lang="en-US" sz="3041" i="1">
                <a:solidFill>
                  <a:srgbClr val="B77E4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suspendu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— il ne </a:t>
            </a:r>
            <a:r>
              <a:rPr lang="en-US" sz="3041" i="1">
                <a:solidFill>
                  <a:srgbClr val="48B54C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consomme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pas de CPU mais occupe toujours sa mémoire</a:t>
            </a:r>
            <a:r>
              <a:rPr lang="en-US" sz="3041" i="1">
                <a:solidFill>
                  <a:srgbClr val="44552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stack 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— jusqu'à la complétion de l'opération. C'est du </a:t>
            </a:r>
            <a:r>
              <a:rPr lang="en-US" sz="3041" i="1">
                <a:solidFill>
                  <a:srgbClr val="F89521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gaspillage pur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: un thread de </a:t>
            </a:r>
            <a:r>
              <a:rPr lang="en-US" sz="3041" i="1">
                <a:solidFill>
                  <a:srgbClr val="FF5757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8 Mo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qui attend </a:t>
            </a:r>
            <a:r>
              <a:rPr lang="en-US" sz="3041" i="1">
                <a:solidFill>
                  <a:srgbClr val="FF3131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100ms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une réponse </a:t>
            </a:r>
            <a:r>
              <a:rPr lang="en-US" sz="3041" i="1">
                <a:solidFill>
                  <a:srgbClr val="004AA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base de données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ne fait strictement rien d'utile.</a:t>
            </a:r>
          </a:p>
          <a:p>
            <a:pPr algn="l">
              <a:lnSpc>
                <a:spcPts val="3650"/>
              </a:lnSpc>
            </a:pP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Dans le modèle </a:t>
            </a:r>
            <a:r>
              <a:rPr lang="en-US" sz="3041" i="1" u="sng">
                <a:solidFill>
                  <a:srgbClr val="CC2D2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non-bloquant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de </a:t>
            </a:r>
            <a:r>
              <a:rPr lang="en-US" sz="3041" i="1">
                <a:solidFill>
                  <a:srgbClr val="7E5027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Node.js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, quand une </a:t>
            </a:r>
            <a:r>
              <a:rPr lang="en-US" sz="3041" i="1">
                <a:solidFill>
                  <a:srgbClr val="004AA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opération I/O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est </a:t>
            </a:r>
            <a:r>
              <a:rPr lang="en-US" sz="3041" i="1">
                <a:solidFill>
                  <a:srgbClr val="73C2C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déclenchée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:</a:t>
            </a:r>
          </a:p>
          <a:p>
            <a:pPr marL="656700" lvl="1" indent="-328350" algn="l">
              <a:lnSpc>
                <a:spcPts val="3650"/>
              </a:lnSpc>
              <a:buAutoNum type="arabicPeriod"/>
            </a:pPr>
            <a:r>
              <a:rPr lang="en-US" sz="3041" i="1">
                <a:solidFill>
                  <a:srgbClr val="8BC501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Node.js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émet un appel système </a:t>
            </a:r>
            <a:r>
              <a:rPr lang="en-US" sz="3041" i="1">
                <a:solidFill>
                  <a:srgbClr val="CC2D2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asynchrone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vers le </a:t>
            </a:r>
            <a:r>
              <a:rPr lang="en-US" sz="3041" i="1">
                <a:solidFill>
                  <a:srgbClr val="13489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système d'exploitation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(via </a:t>
            </a:r>
            <a:r>
              <a:rPr lang="en-US" sz="3041" i="1">
                <a:solidFill>
                  <a:srgbClr val="30B695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libuv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)</a:t>
            </a:r>
          </a:p>
          <a:p>
            <a:pPr marL="656700" lvl="1" indent="-328350" algn="l">
              <a:lnSpc>
                <a:spcPts val="3650"/>
              </a:lnSpc>
              <a:buAutoNum type="arabicPeriod"/>
            </a:pP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Le </a:t>
            </a:r>
            <a:r>
              <a:rPr lang="en-US" sz="3041" i="1">
                <a:solidFill>
                  <a:srgbClr val="006FB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système d'exploitation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prend en charge l'opération en arrière-plan</a:t>
            </a:r>
          </a:p>
          <a:p>
            <a:pPr marL="656700" lvl="1" indent="-328350" algn="l">
              <a:lnSpc>
                <a:spcPts val="3650"/>
              </a:lnSpc>
              <a:buAutoNum type="arabicPeriod"/>
            </a:pP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Le </a:t>
            </a:r>
            <a:r>
              <a:rPr lang="en-US" sz="3041" i="1">
                <a:solidFill>
                  <a:srgbClr val="0CC0D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thread 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principal de </a:t>
            </a:r>
            <a:r>
              <a:rPr lang="en-US" sz="3041" i="1">
                <a:solidFill>
                  <a:srgbClr val="8BC501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Node.js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est immédiatement </a:t>
            </a:r>
            <a:r>
              <a:rPr lang="en-US" sz="3041" i="1">
                <a:solidFill>
                  <a:srgbClr val="B77E4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libéré 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pour traiter d'autres </a:t>
            </a:r>
            <a:r>
              <a:rPr lang="en-US" sz="3041" i="1">
                <a:solidFill>
                  <a:srgbClr val="4B321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requêtes</a:t>
            </a:r>
          </a:p>
          <a:p>
            <a:pPr marL="656700" lvl="1" indent="-328350" algn="l">
              <a:lnSpc>
                <a:spcPts val="3650"/>
              </a:lnSpc>
              <a:buAutoNum type="arabicPeriod"/>
            </a:pP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Quand l'</a:t>
            </a:r>
            <a:r>
              <a:rPr lang="en-US" sz="3041" i="1">
                <a:solidFill>
                  <a:srgbClr val="004AA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opération I/O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se termine, le système d'exploitation notifie </a:t>
            </a:r>
            <a:r>
              <a:rPr lang="en-US" sz="3041" i="1">
                <a:solidFill>
                  <a:srgbClr val="30B695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libuv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via un mécanisme de notification d'événements </a:t>
            </a:r>
          </a:p>
          <a:p>
            <a:pPr marL="656700" lvl="1" indent="-328350" algn="l">
              <a:lnSpc>
                <a:spcPts val="3650"/>
              </a:lnSpc>
              <a:buAutoNum type="arabicPeriod"/>
            </a:pPr>
            <a:r>
              <a:rPr lang="en-US" sz="3041" i="1">
                <a:solidFill>
                  <a:srgbClr val="30B695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libuv 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place le </a:t>
            </a:r>
            <a:r>
              <a:rPr lang="en-US" sz="3041" i="1">
                <a:solidFill>
                  <a:srgbClr val="CC2D2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callback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associé dans la queue de l'</a:t>
            </a:r>
            <a:r>
              <a:rPr lang="en-US" sz="3041" i="1">
                <a:solidFill>
                  <a:srgbClr val="9518B5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Event Loop</a:t>
            </a:r>
          </a:p>
          <a:p>
            <a:pPr marL="656700" lvl="1" indent="-328350" algn="l">
              <a:lnSpc>
                <a:spcPts val="3650"/>
              </a:lnSpc>
              <a:buAutoNum type="arabicPeriod"/>
            </a:pP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L'</a:t>
            </a:r>
            <a:r>
              <a:rPr lang="en-US" sz="3041" i="1">
                <a:solidFill>
                  <a:srgbClr val="9518B5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Event Loop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3041" i="1">
                <a:solidFill>
                  <a:srgbClr val="566B2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exécute 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le </a:t>
            </a:r>
            <a:r>
              <a:rPr lang="en-US" sz="3041" i="1">
                <a:solidFill>
                  <a:srgbClr val="CC2D2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callback 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lors de sa </a:t>
            </a:r>
            <a:r>
              <a:rPr lang="en-US" sz="3041" i="1">
                <a:solidFill>
                  <a:srgbClr val="80C8CC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prochaine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itération</a:t>
            </a:r>
          </a:p>
          <a:p>
            <a:pPr algn="l">
              <a:lnSpc>
                <a:spcPts val="3650"/>
              </a:lnSpc>
            </a:pPr>
            <a:endParaRPr lang="en-US" sz="3041" i="1">
              <a:solidFill>
                <a:srgbClr val="A6A6A6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  <a:p>
            <a:pPr algn="l">
              <a:lnSpc>
                <a:spcPts val="3650"/>
              </a:lnSpc>
            </a:pPr>
            <a:endParaRPr lang="en-US" sz="3041" i="1">
              <a:solidFill>
                <a:srgbClr val="A6A6A6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2" y="1010493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1"/>
                </a:lnTo>
                <a:lnTo>
                  <a:pt x="0" y="201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359558" y="6587979"/>
            <a:ext cx="4539005" cy="3026004"/>
          </a:xfrm>
          <a:custGeom>
            <a:avLst/>
            <a:gdLst/>
            <a:ahLst/>
            <a:cxnLst/>
            <a:rect l="l" t="t" r="r" b="b"/>
            <a:pathLst>
              <a:path w="4539005" h="3026004">
                <a:moveTo>
                  <a:pt x="0" y="0"/>
                </a:moveTo>
                <a:lnTo>
                  <a:pt x="4539006" y="0"/>
                </a:lnTo>
                <a:lnTo>
                  <a:pt x="4539006" y="3026004"/>
                </a:lnTo>
                <a:lnTo>
                  <a:pt x="0" y="30260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7431750" y="455790"/>
            <a:ext cx="416319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99026" y="410318"/>
            <a:ext cx="8635974" cy="1013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LE NON-BLOCKING I/O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 rot="110880">
            <a:off x="819388" y="9779260"/>
            <a:ext cx="590855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2595746" y="3189874"/>
            <a:ext cx="13096508" cy="5887457"/>
          </a:xfrm>
          <a:custGeom>
            <a:avLst/>
            <a:gdLst/>
            <a:ahLst/>
            <a:cxnLst/>
            <a:rect l="l" t="t" r="r" b="b"/>
            <a:pathLst>
              <a:path w="13096508" h="5887457">
                <a:moveTo>
                  <a:pt x="0" y="0"/>
                </a:moveTo>
                <a:lnTo>
                  <a:pt x="13096508" y="0"/>
                </a:lnTo>
                <a:lnTo>
                  <a:pt x="13096508" y="5887457"/>
                </a:lnTo>
                <a:lnTo>
                  <a:pt x="0" y="58874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06" r="-3538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7431750" y="455790"/>
            <a:ext cx="416319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48917" y="2535754"/>
            <a:ext cx="5088731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Lecture de fichier synchrone avec fs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9544" y="347750"/>
            <a:ext cx="16087478" cy="1943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64"/>
              </a:lnSpc>
            </a:pPr>
            <a:r>
              <a:rPr lang="en-US" sz="6387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Synchrone</a:t>
            </a:r>
            <a:r>
              <a:rPr lang="en-US" sz="6387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ne </a:t>
            </a:r>
            <a:r>
              <a:rPr lang="en-US" sz="6387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veut</a:t>
            </a:r>
            <a:r>
              <a:rPr lang="en-US" sz="6387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pas dire </a:t>
            </a:r>
            <a:r>
              <a:rPr lang="en-US" sz="6387" dirty="0" err="1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bloquant</a:t>
            </a:r>
            <a:r>
              <a:rPr lang="en-US" sz="6387" dirty="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par choix(1/2)</a:t>
            </a: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 rot="110880">
            <a:off x="819388" y="9779260"/>
            <a:ext cx="590855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2958714" y="2582358"/>
            <a:ext cx="12077212" cy="7568148"/>
          </a:xfrm>
          <a:custGeom>
            <a:avLst/>
            <a:gdLst/>
            <a:ahLst/>
            <a:cxnLst/>
            <a:rect l="l" t="t" r="r" b="b"/>
            <a:pathLst>
              <a:path w="12077212" h="7568148">
                <a:moveTo>
                  <a:pt x="0" y="0"/>
                </a:moveTo>
                <a:lnTo>
                  <a:pt x="12077213" y="0"/>
                </a:lnTo>
                <a:lnTo>
                  <a:pt x="12077213" y="7568149"/>
                </a:lnTo>
                <a:lnTo>
                  <a:pt x="0" y="75681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2" t="-2423" r="-1023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7431750" y="455790"/>
            <a:ext cx="416319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17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12621" y="2103769"/>
            <a:ext cx="726639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Lecture de fichier asynchrone avec callback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1132" y="142963"/>
            <a:ext cx="16231077" cy="1960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33"/>
              </a:lnSpc>
            </a:pPr>
            <a:r>
              <a:rPr lang="en-US" sz="6444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Synchrone ne veut pas dire bloquant par choix(2/2)</a:t>
            </a: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7431750" y="455790"/>
            <a:ext cx="416328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18</a:t>
            </a:r>
          </a:p>
        </p:txBody>
      </p:sp>
      <p:sp>
        <p:nvSpPr>
          <p:cNvPr id="7" name="Freeform 7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 rot="110880">
            <a:off x="819388" y="9779260"/>
            <a:ext cx="590855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5744309" y="260528"/>
            <a:ext cx="5977977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L'EVENT LOOP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355593"/>
            <a:ext cx="16604280" cy="11496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0"/>
              </a:lnSpc>
            </a:pP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L'</a:t>
            </a:r>
            <a:r>
              <a:rPr lang="en-US" sz="3041" i="1">
                <a:solidFill>
                  <a:srgbClr val="CC2D2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Event Loop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est </a:t>
            </a:r>
            <a:r>
              <a:rPr lang="en-US" sz="3041" i="1">
                <a:solidFill>
                  <a:srgbClr val="5E17E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implémentée 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dans l</a:t>
            </a:r>
            <a:r>
              <a:rPr lang="en-US" sz="3041" i="1">
                <a:solidFill>
                  <a:srgbClr val="269177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ibuv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en</a:t>
            </a:r>
            <a:r>
              <a:rPr lang="en-US" sz="3041" i="1">
                <a:solidFill>
                  <a:srgbClr val="44552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C++.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Ce n'est pas une structure </a:t>
            </a:r>
            <a:r>
              <a:rPr lang="en-US" sz="3041" i="1">
                <a:solidFill>
                  <a:srgbClr val="004AA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JavaScript 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— c'est le </a:t>
            </a:r>
            <a:r>
              <a:rPr lang="en-US" sz="3041" i="1">
                <a:solidFill>
                  <a:srgbClr val="B9D53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mécanisme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central qui pilote l'</a:t>
            </a:r>
            <a:r>
              <a:rPr lang="en-US" sz="3041" i="1">
                <a:solidFill>
                  <a:srgbClr val="CC2D2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exécution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du runtime </a:t>
            </a:r>
            <a:r>
              <a:rPr lang="en-US" sz="3041" i="1">
                <a:solidFill>
                  <a:srgbClr val="8BC501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Node.js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. Elle fonctionne en cycles continus appelés </a:t>
            </a:r>
            <a:r>
              <a:rPr lang="en-US" sz="3041" i="1">
                <a:solidFill>
                  <a:srgbClr val="9518B5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ticks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. À chaque </a:t>
            </a:r>
            <a:r>
              <a:rPr lang="en-US" sz="3041" i="1">
                <a:solidFill>
                  <a:srgbClr val="9518B5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tick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, elle parcourt </a:t>
            </a:r>
            <a:r>
              <a:rPr lang="en-US" sz="3041" i="1" u="sng">
                <a:solidFill>
                  <a:srgbClr val="84BDE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6 phases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dans un ordre </a:t>
            </a:r>
            <a:r>
              <a:rPr lang="en-US" sz="3041" i="1">
                <a:solidFill>
                  <a:srgbClr val="F89521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strict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et </a:t>
            </a:r>
            <a:r>
              <a:rPr lang="en-US" sz="3041" i="1">
                <a:solidFill>
                  <a:srgbClr val="73492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immuable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:backs de fermeture .</a:t>
            </a:r>
          </a:p>
          <a:p>
            <a:pPr algn="l">
              <a:lnSpc>
                <a:spcPts val="3650"/>
              </a:lnSpc>
            </a:pPr>
            <a:r>
              <a:rPr lang="en-US" sz="3041" b="1" i="1">
                <a:solidFill>
                  <a:srgbClr val="FB4438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Phase 1 :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3041" i="1">
                <a:solidFill>
                  <a:srgbClr val="48B54C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Timers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Exécute les </a:t>
            </a:r>
            <a:r>
              <a:rPr lang="en-US" sz="3041" i="1">
                <a:solidFill>
                  <a:srgbClr val="FF751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callbacks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de </a:t>
            </a:r>
            <a:r>
              <a:rPr lang="en-US" sz="3041" b="1" i="1">
                <a:solidFill>
                  <a:srgbClr val="9518B5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setTimeout() 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et </a:t>
            </a:r>
            <a:r>
              <a:rPr lang="en-US" sz="3041" b="1" i="1">
                <a:solidFill>
                  <a:srgbClr val="9518B5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setInterval()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dont le délai est </a:t>
            </a:r>
            <a:r>
              <a:rPr lang="en-US" sz="3041" i="1">
                <a:solidFill>
                  <a:srgbClr val="B46B4C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expiré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. Ce délai est un </a:t>
            </a:r>
            <a:r>
              <a:rPr lang="en-US" sz="3041" i="1">
                <a:gradFill>
                  <a:gsLst>
                    <a:gs pos="15000">
                      <a:srgbClr val="FE8356">
                        <a:alpha val="100000"/>
                      </a:srgbClr>
                    </a:gs>
                    <a:gs pos="50000">
                      <a:srgbClr val="FFEE22">
                        <a:alpha val="100000"/>
                      </a:srgbClr>
                    </a:gs>
                    <a:gs pos="85000">
                      <a:srgbClr val="A4F402">
                        <a:alpha val="100000"/>
                      </a:srgbClr>
                    </a:gs>
                  </a:gsLst>
                  <a:lin ang="18900000"/>
                </a:gradFill>
                <a:latin typeface="Calibri (MS) Italics"/>
                <a:ea typeface="Calibri (MS) Italics"/>
                <a:cs typeface="Calibri (MS) Italics"/>
                <a:sym typeface="Calibri (MS) Italics"/>
              </a:rPr>
              <a:t>minimum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garanti, pas une valeur </a:t>
            </a:r>
            <a:r>
              <a:rPr lang="en-US" sz="3041" i="1">
                <a:solidFill>
                  <a:srgbClr val="006FB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exacte 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,si </a:t>
            </a:r>
            <a:r>
              <a:rPr lang="en-US" sz="3041" i="1">
                <a:solidFill>
                  <a:srgbClr val="7E5027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l'Event Loop 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est occupée ailleurs, l'exécution sera </a:t>
            </a:r>
            <a:r>
              <a:rPr lang="en-US" sz="3041" i="1">
                <a:solidFill>
                  <a:srgbClr val="CC2D2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retardée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.</a:t>
            </a:r>
          </a:p>
          <a:p>
            <a:pPr algn="l">
              <a:lnSpc>
                <a:spcPts val="3650"/>
              </a:lnSpc>
            </a:pPr>
            <a:r>
              <a:rPr lang="en-US" sz="3041" b="1" i="1">
                <a:solidFill>
                  <a:srgbClr val="E0D32C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Phase 2 : </a:t>
            </a:r>
            <a:r>
              <a:rPr lang="en-US" sz="3041" i="1">
                <a:solidFill>
                  <a:srgbClr val="73492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Pending Callbacks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3041" i="1">
                <a:solidFill>
                  <a:srgbClr val="006FB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Exécute 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les callbacks d</a:t>
            </a:r>
            <a:r>
              <a:rPr lang="en-US" sz="3041" i="1">
                <a:solidFill>
                  <a:srgbClr val="CC2D2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'erreurs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I/O reportés au </a:t>
            </a:r>
            <a:r>
              <a:rPr lang="en-US" sz="3041" i="1">
                <a:solidFill>
                  <a:srgbClr val="9518B5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tick 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précédent par le système d'</a:t>
            </a:r>
            <a:r>
              <a:rPr lang="en-US" sz="3041" i="1">
                <a:solidFill>
                  <a:srgbClr val="5E17E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exploitation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.</a:t>
            </a:r>
          </a:p>
          <a:p>
            <a:pPr algn="l">
              <a:lnSpc>
                <a:spcPts val="3650"/>
              </a:lnSpc>
            </a:pPr>
            <a:r>
              <a:rPr lang="en-US" sz="3041" b="1" i="1">
                <a:solidFill>
                  <a:srgbClr val="F89521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Phase 3 : </a:t>
            </a:r>
            <a:r>
              <a:rPr lang="en-US" sz="3041" i="1">
                <a:solidFill>
                  <a:srgbClr val="8C52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Idle / Prepare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Phase</a:t>
            </a:r>
            <a:r>
              <a:rPr lang="en-US" sz="3041" i="1">
                <a:solidFill>
                  <a:srgbClr val="566B2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réservée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à l'usage </a:t>
            </a:r>
            <a:r>
              <a:rPr lang="en-US" sz="3041" i="1">
                <a:solidFill>
                  <a:srgbClr val="13489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interne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de </a:t>
            </a:r>
            <a:r>
              <a:rPr lang="en-US" sz="3041" i="1">
                <a:solidFill>
                  <a:srgbClr val="269177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libuv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. Elle</a:t>
            </a:r>
            <a:r>
              <a:rPr lang="en-US" sz="3041" i="1">
                <a:solidFill>
                  <a:srgbClr val="CC2D2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n'est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pas </a:t>
            </a:r>
            <a:r>
              <a:rPr lang="en-US" sz="3041" i="1">
                <a:solidFill>
                  <a:srgbClr val="22982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accessible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depuis le code </a:t>
            </a:r>
            <a:r>
              <a:rPr lang="en-US" sz="3041" i="1">
                <a:solidFill>
                  <a:srgbClr val="13489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utilisateu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 et ne nous concerne pas directement.</a:t>
            </a:r>
          </a:p>
          <a:p>
            <a:pPr algn="l">
              <a:lnSpc>
                <a:spcPts val="3650"/>
              </a:lnSpc>
            </a:pPr>
            <a:r>
              <a:rPr lang="en-US" sz="3041" b="1" i="1">
                <a:solidFill>
                  <a:srgbClr val="24AE29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Phase 4 :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3041" i="1">
                <a:solidFill>
                  <a:srgbClr val="CB6CE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Poll (la plus importante)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C'est ici que </a:t>
            </a:r>
            <a:r>
              <a:rPr lang="en-US" sz="3041" i="1">
                <a:solidFill>
                  <a:srgbClr val="8BC501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Node.js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passe la majorité de son temps. Cette </a:t>
            </a:r>
            <a:r>
              <a:rPr lang="en-US" sz="3041" i="1">
                <a:solidFill>
                  <a:srgbClr val="CC2D2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phase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fait </a:t>
            </a:r>
            <a:r>
              <a:rPr lang="en-US" sz="3041" i="1">
                <a:solidFill>
                  <a:srgbClr val="E0D32C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deux choses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: elle traite les </a:t>
            </a:r>
            <a:r>
              <a:rPr lang="en-US" sz="3041" i="1">
                <a:solidFill>
                  <a:srgbClr val="55361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callbacks I/O 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disponibles dans sa queue (</a:t>
            </a:r>
            <a:r>
              <a:rPr lang="en-US" sz="3041" i="1">
                <a:solidFill>
                  <a:srgbClr val="CC2D2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lectures fichiers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, </a:t>
            </a:r>
            <a:r>
              <a:rPr lang="en-US" sz="3041" i="1">
                <a:solidFill>
                  <a:srgbClr val="FF751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réponses réseau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, </a:t>
            </a:r>
            <a:r>
              <a:rPr lang="en-US" sz="3041" i="1">
                <a:solidFill>
                  <a:srgbClr val="F5B46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données base de données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), et si cette queue est vide, elle attend de nouveaux événements I/O ou jusqu'à l'expiration du prochain timer.</a:t>
            </a:r>
          </a:p>
          <a:p>
            <a:pPr algn="l">
              <a:lnSpc>
                <a:spcPts val="3650"/>
              </a:lnSpc>
            </a:pPr>
            <a:r>
              <a:rPr lang="en-US" sz="3041" b="1" i="1">
                <a:gradFill>
                  <a:gsLst>
                    <a:gs pos="0">
                      <a:srgbClr val="349BFF">
                        <a:alpha val="100000"/>
                      </a:srgbClr>
                    </a:gs>
                    <a:gs pos="50000">
                      <a:srgbClr val="61B1FF">
                        <a:alpha val="100000"/>
                      </a:srgbClr>
                    </a:gs>
                    <a:gs pos="100000">
                      <a:srgbClr val="1E90FF">
                        <a:alpha val="100000"/>
                      </a:srgbClr>
                    </a:gs>
                  </a:gsLst>
                  <a:lin ang="5400000"/>
                </a:gra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Phase 5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— </a:t>
            </a:r>
            <a:r>
              <a:rPr lang="en-US" sz="3041" i="1">
                <a:solidFill>
                  <a:srgbClr val="C3D69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Check </a:t>
            </a:r>
            <a:r>
              <a:rPr lang="en-US" sz="3041" i="1">
                <a:solidFill>
                  <a:srgbClr val="FB443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Exécute 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les </a:t>
            </a:r>
            <a:r>
              <a:rPr lang="en-US" sz="3041" i="1">
                <a:solidFill>
                  <a:srgbClr val="7E5027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callbacks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de </a:t>
            </a:r>
            <a:r>
              <a:rPr lang="en-US" sz="3041" b="1" i="1">
                <a:solidFill>
                  <a:srgbClr val="8C52FF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setImmediate()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. Ces </a:t>
            </a:r>
            <a:r>
              <a:rPr lang="en-US" sz="3041" i="1">
                <a:solidFill>
                  <a:srgbClr val="8C52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callbacks 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s'exécutent </a:t>
            </a:r>
            <a:r>
              <a:rPr lang="en-US" sz="3041" i="1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Calibri (MS) Italics"/>
                <a:ea typeface="Calibri (MS) Italics"/>
                <a:cs typeface="Calibri (MS) Italics"/>
                <a:sym typeface="Calibri (MS) Italics"/>
              </a:rPr>
              <a:t>toujours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après la phase Poll et avant le prochain </a:t>
            </a:r>
            <a:r>
              <a:rPr lang="en-US" sz="3041" i="1">
                <a:solidFill>
                  <a:srgbClr val="8C52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tick 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de Timers — c'est leur garantie d'ordre.</a:t>
            </a:r>
          </a:p>
          <a:p>
            <a:pPr algn="l">
              <a:lnSpc>
                <a:spcPts val="3650"/>
              </a:lnSpc>
            </a:pPr>
            <a:r>
              <a:rPr lang="en-US" sz="3041" b="1" i="1">
                <a:solidFill>
                  <a:srgbClr val="9518B5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Phase 6 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— </a:t>
            </a:r>
            <a:r>
              <a:rPr lang="en-US" sz="3041" i="1">
                <a:solidFill>
                  <a:srgbClr val="FF3131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Close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3041" i="1">
                <a:solidFill>
                  <a:srgbClr val="73492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Callbacks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Exécute les </a:t>
            </a:r>
            <a:r>
              <a:rPr lang="en-US" sz="3041" i="1">
                <a:solidFill>
                  <a:srgbClr val="7E5027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callbacks 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de fermeture de ressources ,par exemple </a:t>
            </a:r>
            <a:r>
              <a:rPr lang="en-US" sz="3041" i="1" u="sng">
                <a:gradFill>
                  <a:gsLst>
                    <a:gs pos="0">
                      <a:srgbClr val="0E3466">
                        <a:alpha val="100000"/>
                      </a:srgbClr>
                    </a:gs>
                    <a:gs pos="52000">
                      <a:srgbClr val="0E3466">
                        <a:alpha val="100000"/>
                      </a:srgbClr>
                    </a:gs>
                    <a:gs pos="100000">
                      <a:srgbClr val="144990">
                        <a:alpha val="100000"/>
                      </a:srgbClr>
                    </a:gs>
                  </a:gsLst>
                  <a:lin ang="5400000"/>
                </a:gradFill>
                <a:latin typeface="Calibri (MS) Italics"/>
                <a:ea typeface="Calibri (MS) Italics"/>
                <a:cs typeface="Calibri (MS) Italics"/>
                <a:sym typeface="Calibri (MS) Italics"/>
              </a:rPr>
              <a:t>socket.on('close', callback)</a:t>
            </a:r>
            <a:r>
              <a:rPr lang="en-US" sz="3041" i="1" u="sng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quand une connexion est </a:t>
            </a:r>
            <a:r>
              <a:rPr lang="en-US" sz="3041" i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Calibri (MS) Italics"/>
                <a:ea typeface="Calibri (MS) Italics"/>
                <a:cs typeface="Calibri (MS) Italics"/>
                <a:sym typeface="Calibri (MS) Italics"/>
              </a:rPr>
              <a:t>fermée</a:t>
            </a:r>
            <a:r>
              <a:rPr lang="en-US" sz="3041" i="1">
                <a:solidFill>
                  <a:srgbClr val="A6A6A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abruptement.</a:t>
            </a:r>
          </a:p>
          <a:p>
            <a:pPr algn="l">
              <a:lnSpc>
                <a:spcPts val="3650"/>
              </a:lnSpc>
            </a:pPr>
            <a:endParaRPr lang="en-US" sz="3041" i="1">
              <a:solidFill>
                <a:srgbClr val="A6A6A6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  <a:p>
            <a:pPr algn="l">
              <a:lnSpc>
                <a:spcPts val="3650"/>
              </a:lnSpc>
            </a:pPr>
            <a:endParaRPr lang="en-US" sz="3041" i="1">
              <a:solidFill>
                <a:srgbClr val="A6A6A6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  <a:p>
            <a:pPr algn="l">
              <a:lnSpc>
                <a:spcPts val="3650"/>
              </a:lnSpc>
            </a:pPr>
            <a:endParaRPr lang="en-US" sz="3041" i="1">
              <a:solidFill>
                <a:srgbClr val="A6A6A6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  <a:p>
            <a:pPr algn="l">
              <a:lnSpc>
                <a:spcPts val="3650"/>
              </a:lnSpc>
            </a:pPr>
            <a:endParaRPr lang="en-US" sz="3041" i="1">
              <a:solidFill>
                <a:srgbClr val="A6A6A6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  <a:p>
            <a:pPr algn="l">
              <a:lnSpc>
                <a:spcPts val="3650"/>
              </a:lnSpc>
            </a:pPr>
            <a:endParaRPr lang="en-US" sz="3041" i="1">
              <a:solidFill>
                <a:srgbClr val="A6A6A6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  <a:p>
            <a:pPr algn="l">
              <a:lnSpc>
                <a:spcPts val="3650"/>
              </a:lnSpc>
            </a:pPr>
            <a:endParaRPr lang="en-US" sz="3041" i="1">
              <a:solidFill>
                <a:srgbClr val="A6A6A6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  <a:p>
            <a:pPr algn="l">
              <a:lnSpc>
                <a:spcPts val="3650"/>
              </a:lnSpc>
            </a:pPr>
            <a:endParaRPr lang="en-US" sz="3041" i="1">
              <a:solidFill>
                <a:srgbClr val="A6A6A6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  <a:p>
            <a:pPr algn="l">
              <a:lnSpc>
                <a:spcPts val="3650"/>
              </a:lnSpc>
            </a:pPr>
            <a:endParaRPr lang="en-US" sz="3041" i="1">
              <a:solidFill>
                <a:srgbClr val="A6A6A6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 rot="110880">
            <a:off x="819388" y="9779260"/>
            <a:ext cx="590855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2592657" y="8193586"/>
            <a:ext cx="1123217" cy="232896"/>
          </a:xfrm>
          <a:custGeom>
            <a:avLst/>
            <a:gdLst/>
            <a:ahLst/>
            <a:cxnLst/>
            <a:rect l="l" t="t" r="r" b="b"/>
            <a:pathLst>
              <a:path w="1123217" h="232896">
                <a:moveTo>
                  <a:pt x="0" y="0"/>
                </a:moveTo>
                <a:lnTo>
                  <a:pt x="1123217" y="0"/>
                </a:lnTo>
                <a:lnTo>
                  <a:pt x="1123217" y="232896"/>
                </a:lnTo>
                <a:lnTo>
                  <a:pt x="0" y="2328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711472" y="1204752"/>
            <a:ext cx="11378703" cy="8053548"/>
          </a:xfrm>
          <a:custGeom>
            <a:avLst/>
            <a:gdLst/>
            <a:ahLst/>
            <a:cxnLst/>
            <a:rect l="l" t="t" r="r" b="b"/>
            <a:pathLst>
              <a:path w="11378703" h="8053548">
                <a:moveTo>
                  <a:pt x="0" y="0"/>
                </a:moveTo>
                <a:lnTo>
                  <a:pt x="11378703" y="0"/>
                </a:lnTo>
                <a:lnTo>
                  <a:pt x="11378703" y="8053548"/>
                </a:lnTo>
                <a:lnTo>
                  <a:pt x="0" y="80535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671" t="-2575" b="-12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7431750" y="455790"/>
            <a:ext cx="416328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19</a:t>
            </a: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4007653" y="8198653"/>
            <a:ext cx="1128703" cy="3048000"/>
            <a:chOff x="0" y="0"/>
            <a:chExt cx="1504937" cy="406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77933C"/>
            </a:solidFill>
          </p:spPr>
        </p:sp>
      </p:grpSp>
      <p:grpSp>
        <p:nvGrpSpPr>
          <p:cNvPr id="4" name="Group 4"/>
          <p:cNvGrpSpPr/>
          <p:nvPr/>
        </p:nvGrpSpPr>
        <p:grpSpPr>
          <a:xfrm rot="-5400000">
            <a:off x="7055653" y="8198644"/>
            <a:ext cx="1128703" cy="3048000"/>
            <a:chOff x="0" y="0"/>
            <a:chExt cx="1504937" cy="406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6" name="Group 6"/>
          <p:cNvGrpSpPr/>
          <p:nvPr/>
        </p:nvGrpSpPr>
        <p:grpSpPr>
          <a:xfrm rot="-5400000">
            <a:off x="10103644" y="8198644"/>
            <a:ext cx="1128703" cy="3048000"/>
            <a:chOff x="0" y="0"/>
            <a:chExt cx="1504937" cy="4064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9BBB59"/>
            </a:solidFill>
          </p:spPr>
        </p:sp>
      </p:grpSp>
      <p:grpSp>
        <p:nvGrpSpPr>
          <p:cNvPr id="8" name="Group 8"/>
          <p:cNvGrpSpPr/>
          <p:nvPr/>
        </p:nvGrpSpPr>
        <p:grpSpPr>
          <a:xfrm rot="-5400000">
            <a:off x="13151644" y="8198644"/>
            <a:ext cx="1128712" cy="3048000"/>
            <a:chOff x="0" y="0"/>
            <a:chExt cx="1504950" cy="4064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ACC777"/>
            </a:solidFill>
          </p:spPr>
        </p:sp>
      </p:grpSp>
      <p:grpSp>
        <p:nvGrpSpPr>
          <p:cNvPr id="10" name="Group 10"/>
          <p:cNvGrpSpPr/>
          <p:nvPr/>
        </p:nvGrpSpPr>
        <p:grpSpPr>
          <a:xfrm rot="-5400000">
            <a:off x="16199653" y="8198653"/>
            <a:ext cx="1128703" cy="3048000"/>
            <a:chOff x="0" y="0"/>
            <a:chExt cx="1504937" cy="4064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C0D498"/>
            </a:solidFill>
          </p:spPr>
        </p:sp>
      </p:grpSp>
      <p:grpSp>
        <p:nvGrpSpPr>
          <p:cNvPr id="12" name="Group 12"/>
          <p:cNvGrpSpPr/>
          <p:nvPr/>
        </p:nvGrpSpPr>
        <p:grpSpPr>
          <a:xfrm rot="-5400000">
            <a:off x="273844" y="7512844"/>
            <a:ext cx="2500312" cy="3048000"/>
            <a:chOff x="0" y="0"/>
            <a:chExt cx="3333750" cy="4064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333750" cy="4064000"/>
            </a:xfrm>
            <a:custGeom>
              <a:avLst/>
              <a:gdLst/>
              <a:ahLst/>
              <a:cxnLst/>
              <a:rect l="l" t="t" r="r" b="b"/>
              <a:pathLst>
                <a:path w="3333750" h="4064000">
                  <a:moveTo>
                    <a:pt x="0" y="0"/>
                  </a:moveTo>
                  <a:lnTo>
                    <a:pt x="3333750" y="0"/>
                  </a:lnTo>
                  <a:lnTo>
                    <a:pt x="33337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D0DFB3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2" y="1010493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1"/>
                </a:lnTo>
                <a:lnTo>
                  <a:pt x="0" y="201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970502" y="8449732"/>
            <a:ext cx="1106995" cy="1106453"/>
          </a:xfrm>
          <a:custGeom>
            <a:avLst/>
            <a:gdLst/>
            <a:ahLst/>
            <a:cxnLst/>
            <a:rect l="l" t="t" r="r" b="b"/>
            <a:pathLst>
              <a:path w="1106995" h="1106453">
                <a:moveTo>
                  <a:pt x="0" y="0"/>
                </a:moveTo>
                <a:lnTo>
                  <a:pt x="1106996" y="0"/>
                </a:lnTo>
                <a:lnTo>
                  <a:pt x="1106996" y="1106453"/>
                </a:lnTo>
                <a:lnTo>
                  <a:pt x="0" y="11064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AutoShape 16"/>
          <p:cNvSpPr/>
          <p:nvPr/>
        </p:nvSpPr>
        <p:spPr>
          <a:xfrm rot="10680">
            <a:off x="1502302" y="7124109"/>
            <a:ext cx="7653623" cy="0"/>
          </a:xfrm>
          <a:prstGeom prst="line">
            <a:avLst/>
          </a:prstGeom>
          <a:ln w="9525" cap="rnd">
            <a:solidFill>
              <a:srgbClr val="D0DFB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 rot="5279820">
            <a:off x="1173509" y="7453312"/>
            <a:ext cx="681457" cy="0"/>
          </a:xfrm>
          <a:prstGeom prst="line">
            <a:avLst/>
          </a:prstGeom>
          <a:ln w="9525" cap="rnd">
            <a:solidFill>
              <a:srgbClr val="D0DFB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 rot="5333880">
            <a:off x="8525056" y="6531473"/>
            <a:ext cx="1237888" cy="0"/>
          </a:xfrm>
          <a:prstGeom prst="line">
            <a:avLst/>
          </a:prstGeom>
          <a:ln w="9525" cap="rnd">
            <a:solidFill>
              <a:srgbClr val="D0DFB3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9" name="Freeform 19"/>
          <p:cNvSpPr/>
          <p:nvPr/>
        </p:nvSpPr>
        <p:spPr>
          <a:xfrm>
            <a:off x="684952" y="8134470"/>
            <a:ext cx="1634751" cy="1588174"/>
          </a:xfrm>
          <a:custGeom>
            <a:avLst/>
            <a:gdLst/>
            <a:ahLst/>
            <a:cxnLst/>
            <a:rect l="l" t="t" r="r" b="b"/>
            <a:pathLst>
              <a:path w="1634751" h="1588174">
                <a:moveTo>
                  <a:pt x="0" y="0"/>
                </a:moveTo>
                <a:lnTo>
                  <a:pt x="1634751" y="0"/>
                </a:lnTo>
                <a:lnTo>
                  <a:pt x="1634751" y="1588174"/>
                </a:lnTo>
                <a:lnTo>
                  <a:pt x="0" y="15881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2932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6103491" y="3905250"/>
            <a:ext cx="6104831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Modules &amp; npm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048000" y="5105400"/>
            <a:ext cx="13480159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L'organisation du code en modules (CommonJS, ESM), le rôle de package.json,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et l'écosystème npm.</a:t>
            </a: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 rot="110880">
            <a:off x="819388" y="9779260"/>
            <a:ext cx="590855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1400566" y="2240055"/>
            <a:ext cx="6033220" cy="5396549"/>
          </a:xfrm>
          <a:custGeom>
            <a:avLst/>
            <a:gdLst/>
            <a:ahLst/>
            <a:cxnLst/>
            <a:rect l="l" t="t" r="r" b="b"/>
            <a:pathLst>
              <a:path w="6033220" h="5396549">
                <a:moveTo>
                  <a:pt x="0" y="0"/>
                </a:moveTo>
                <a:lnTo>
                  <a:pt x="6033220" y="0"/>
                </a:lnTo>
                <a:lnTo>
                  <a:pt x="6033220" y="5396548"/>
                </a:lnTo>
                <a:lnTo>
                  <a:pt x="0" y="53965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144000" y="2240055"/>
            <a:ext cx="8310171" cy="5132172"/>
          </a:xfrm>
          <a:custGeom>
            <a:avLst/>
            <a:gdLst/>
            <a:ahLst/>
            <a:cxnLst/>
            <a:rect l="l" t="t" r="r" b="b"/>
            <a:pathLst>
              <a:path w="8310171" h="5132172">
                <a:moveTo>
                  <a:pt x="0" y="0"/>
                </a:moveTo>
                <a:lnTo>
                  <a:pt x="8310171" y="0"/>
                </a:lnTo>
                <a:lnTo>
                  <a:pt x="8310171" y="5132171"/>
                </a:lnTo>
                <a:lnTo>
                  <a:pt x="0" y="51321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7508506" y="504216"/>
            <a:ext cx="339563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5"/>
              </a:lnSpc>
            </a:pPr>
            <a:r>
              <a:rPr lang="en-US" sz="2612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9544" y="347750"/>
            <a:ext cx="16087478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64"/>
              </a:lnSpc>
            </a:pPr>
            <a:r>
              <a:rPr lang="en-US" sz="6387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Deux systèmes de modules.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00566" y="1508535"/>
            <a:ext cx="1989435" cy="47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i="1">
                <a:solidFill>
                  <a:srgbClr val="94AA28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COMMONJS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44000" y="1508535"/>
            <a:ext cx="2206427" cy="47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i="1">
                <a:solidFill>
                  <a:srgbClr val="94AA28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ES MODULES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7912" y="8217628"/>
            <a:ext cx="16870156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84BDE4"/>
                </a:solidFill>
                <a:latin typeface="Open Sans"/>
                <a:ea typeface="Open Sans"/>
                <a:cs typeface="Open Sans"/>
                <a:sym typeface="Open Sans"/>
              </a:rPr>
              <a:t>ES Modules</a:t>
            </a: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est le standard </a:t>
            </a:r>
            <a:r>
              <a:rPr lang="en-US" sz="2399">
                <a:solidFill>
                  <a:srgbClr val="CC2D2D"/>
                </a:solidFill>
                <a:latin typeface="Open Sans"/>
                <a:ea typeface="Open Sans"/>
                <a:cs typeface="Open Sans"/>
                <a:sym typeface="Open Sans"/>
              </a:rPr>
              <a:t>moderne </a:t>
            </a: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recommandé, tandis que </a:t>
            </a:r>
            <a:r>
              <a:rPr lang="en-US" sz="2399">
                <a:solidFill>
                  <a:srgbClr val="84BDE4"/>
                </a:solidFill>
                <a:latin typeface="Open Sans"/>
                <a:ea typeface="Open Sans"/>
                <a:cs typeface="Open Sans"/>
                <a:sym typeface="Open Sans"/>
              </a:rPr>
              <a:t>CommonJS </a:t>
            </a: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 </a:t>
            </a:r>
            <a:r>
              <a:rPr lang="en-US" sz="2399">
                <a:solidFill>
                  <a:srgbClr val="CC2D2D"/>
                </a:solidFill>
                <a:latin typeface="Open Sans"/>
                <a:ea typeface="Open Sans"/>
                <a:cs typeface="Open Sans"/>
                <a:sym typeface="Open Sans"/>
              </a:rPr>
              <a:t>l’ancien </a:t>
            </a: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système encore utilisé.</a:t>
            </a:r>
          </a:p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Aujourd’hui, </a:t>
            </a:r>
            <a:r>
              <a:rPr lang="en-US" sz="2399">
                <a:solidFill>
                  <a:srgbClr val="84BDE4"/>
                </a:solidFill>
                <a:latin typeface="Open Sans"/>
                <a:ea typeface="Open Sans"/>
                <a:cs typeface="Open Sans"/>
                <a:sym typeface="Open Sans"/>
              </a:rPr>
              <a:t>ES Modules</a:t>
            </a: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est préféré dans les nouveaux projets car il est </a:t>
            </a:r>
            <a:r>
              <a:rPr lang="en-US" sz="2399">
                <a:solidFill>
                  <a:srgbClr val="24AE29"/>
                </a:solidFill>
                <a:latin typeface="Open Sans"/>
                <a:ea typeface="Open Sans"/>
                <a:cs typeface="Open Sans"/>
                <a:sym typeface="Open Sans"/>
              </a:rPr>
              <a:t>moderne</a:t>
            </a: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399">
                <a:solidFill>
                  <a:srgbClr val="24AE29"/>
                </a:solidFill>
                <a:latin typeface="Open Sans"/>
                <a:ea typeface="Open Sans"/>
                <a:cs typeface="Open Sans"/>
                <a:sym typeface="Open Sans"/>
              </a:rPr>
              <a:t>standard </a:t>
            </a: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et plus </a:t>
            </a:r>
            <a:r>
              <a:rPr lang="en-US" sz="2399">
                <a:solidFill>
                  <a:srgbClr val="24AE29"/>
                </a:solidFill>
                <a:latin typeface="Open Sans"/>
                <a:ea typeface="Open Sans"/>
                <a:cs typeface="Open Sans"/>
                <a:sym typeface="Open Sans"/>
              </a:rPr>
              <a:t>performant</a:t>
            </a: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 rot="110880">
            <a:off x="819388" y="9779260"/>
            <a:ext cx="590855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1400566" y="2685061"/>
            <a:ext cx="5355857" cy="6751080"/>
          </a:xfrm>
          <a:custGeom>
            <a:avLst/>
            <a:gdLst/>
            <a:ahLst/>
            <a:cxnLst/>
            <a:rect l="l" t="t" r="r" b="b"/>
            <a:pathLst>
              <a:path w="5355857" h="6751080">
                <a:moveTo>
                  <a:pt x="0" y="0"/>
                </a:moveTo>
                <a:lnTo>
                  <a:pt x="5355856" y="0"/>
                </a:lnTo>
                <a:lnTo>
                  <a:pt x="5355856" y="6751080"/>
                </a:lnTo>
                <a:lnTo>
                  <a:pt x="0" y="67510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7508506" y="504216"/>
            <a:ext cx="339563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5"/>
              </a:lnSpc>
            </a:pPr>
            <a:r>
              <a:rPr lang="en-US" sz="2612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1132" y="384585"/>
            <a:ext cx="16087478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4"/>
              </a:lnSpc>
            </a:pPr>
            <a:r>
              <a:rPr lang="en-US" sz="6087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Package.json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4498" y="2009380"/>
            <a:ext cx="9682758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→  </a:t>
            </a:r>
            <a:r>
              <a:rPr lang="en-US" sz="2900" b="1">
                <a:solidFill>
                  <a:srgbClr val="006FBD"/>
                </a:solidFill>
                <a:latin typeface="DM Sans Bold"/>
                <a:ea typeface="DM Sans Bold"/>
                <a:cs typeface="DM Sans Bold"/>
                <a:sym typeface="DM Sans Bold"/>
              </a:rPr>
              <a:t>Fichier</a:t>
            </a:r>
            <a:r>
              <a:rPr lang="en-US" sz="29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central de configuration d’un projet </a:t>
            </a:r>
            <a:r>
              <a:rPr lang="en-US" sz="2900" b="1">
                <a:solidFill>
                  <a:srgbClr val="728D3C"/>
                </a:solidFill>
                <a:latin typeface="DM Sans Bold"/>
                <a:ea typeface="DM Sans Bold"/>
                <a:cs typeface="DM Sans Bold"/>
                <a:sym typeface="DM Sans Bold"/>
              </a:rPr>
              <a:t>Node.js.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81710" y="4530814"/>
            <a:ext cx="7504509" cy="3582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5499" lvl="1" indent="-317749" algn="ctr">
              <a:lnSpc>
                <a:spcPts val="4120"/>
              </a:lnSpc>
              <a:buFont typeface="Arial"/>
              <a:buChar char="•"/>
            </a:pPr>
            <a:r>
              <a:rPr lang="en-US" sz="2943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name </a:t>
            </a:r>
            <a:r>
              <a:rPr lang="en-US" sz="2943">
                <a:solidFill>
                  <a:srgbClr val="728D3C"/>
                </a:solidFill>
                <a:latin typeface="Open Sans"/>
                <a:ea typeface="Open Sans"/>
                <a:cs typeface="Open Sans"/>
                <a:sym typeface="Open Sans"/>
              </a:rPr>
              <a:t>→ </a:t>
            </a:r>
            <a:r>
              <a:rPr lang="en-US" sz="294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 du projet</a:t>
            </a:r>
          </a:p>
          <a:p>
            <a:pPr marL="635499" lvl="1" indent="-317749" algn="ctr">
              <a:lnSpc>
                <a:spcPts val="4120"/>
              </a:lnSpc>
              <a:buFont typeface="Arial"/>
              <a:buChar char="•"/>
            </a:pPr>
            <a:r>
              <a:rPr lang="en-US" sz="2943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version </a:t>
            </a:r>
            <a:r>
              <a:rPr lang="en-US" sz="2943">
                <a:solidFill>
                  <a:srgbClr val="728D3C"/>
                </a:solidFill>
                <a:latin typeface="Open Sans"/>
                <a:ea typeface="Open Sans"/>
                <a:cs typeface="Open Sans"/>
                <a:sym typeface="Open Sans"/>
              </a:rPr>
              <a:t>→</a:t>
            </a:r>
            <a:r>
              <a:rPr lang="en-US" sz="294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version actuelle</a:t>
            </a:r>
          </a:p>
          <a:p>
            <a:pPr marL="635499" lvl="1" indent="-317749" algn="ctr">
              <a:lnSpc>
                <a:spcPts val="4120"/>
              </a:lnSpc>
              <a:buFont typeface="Arial"/>
              <a:buChar char="•"/>
            </a:pPr>
            <a:r>
              <a:rPr lang="en-US" sz="2943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type </a:t>
            </a:r>
            <a:r>
              <a:rPr lang="en-US" sz="2943">
                <a:solidFill>
                  <a:srgbClr val="728D3C"/>
                </a:solidFill>
                <a:latin typeface="Open Sans"/>
                <a:ea typeface="Open Sans"/>
                <a:cs typeface="Open Sans"/>
                <a:sym typeface="Open Sans"/>
              </a:rPr>
              <a:t>→</a:t>
            </a:r>
            <a:r>
              <a:rPr lang="en-US" sz="294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ESM ou CommonJS</a:t>
            </a:r>
          </a:p>
          <a:p>
            <a:pPr marL="635499" lvl="1" indent="-317749" algn="ctr">
              <a:lnSpc>
                <a:spcPts val="4120"/>
              </a:lnSpc>
              <a:buFont typeface="Arial"/>
              <a:buChar char="•"/>
            </a:pPr>
            <a:r>
              <a:rPr lang="en-US" sz="2943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main </a:t>
            </a:r>
            <a:r>
              <a:rPr lang="en-US" sz="2943">
                <a:solidFill>
                  <a:srgbClr val="728D3C"/>
                </a:solidFill>
                <a:latin typeface="Open Sans"/>
                <a:ea typeface="Open Sans"/>
                <a:cs typeface="Open Sans"/>
                <a:sym typeface="Open Sans"/>
              </a:rPr>
              <a:t>→</a:t>
            </a:r>
            <a:r>
              <a:rPr lang="en-US" sz="294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point d’entrée</a:t>
            </a:r>
          </a:p>
          <a:p>
            <a:pPr marL="635499" lvl="1" indent="-317749" algn="ctr">
              <a:lnSpc>
                <a:spcPts val="4120"/>
              </a:lnSpc>
              <a:buFont typeface="Arial"/>
              <a:buChar char="•"/>
            </a:pPr>
            <a:r>
              <a:rPr lang="en-US" sz="2943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scripts </a:t>
            </a:r>
            <a:r>
              <a:rPr lang="en-US" sz="2943">
                <a:solidFill>
                  <a:srgbClr val="728D3C"/>
                </a:solidFill>
                <a:latin typeface="Open Sans"/>
                <a:ea typeface="Open Sans"/>
                <a:cs typeface="Open Sans"/>
                <a:sym typeface="Open Sans"/>
              </a:rPr>
              <a:t>→</a:t>
            </a:r>
            <a:r>
              <a:rPr lang="en-US" sz="294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commandes (start, dev…)</a:t>
            </a:r>
          </a:p>
          <a:p>
            <a:pPr marL="635499" lvl="1" indent="-317749" algn="ctr">
              <a:lnSpc>
                <a:spcPts val="4120"/>
              </a:lnSpc>
              <a:buFont typeface="Arial"/>
              <a:buChar char="•"/>
            </a:pPr>
            <a:r>
              <a:rPr lang="en-US" sz="2943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dependencies </a:t>
            </a:r>
            <a:r>
              <a:rPr lang="en-US" sz="2943">
                <a:solidFill>
                  <a:srgbClr val="728D3C"/>
                </a:solidFill>
                <a:latin typeface="Open Sans"/>
                <a:ea typeface="Open Sans"/>
                <a:cs typeface="Open Sans"/>
                <a:sym typeface="Open Sans"/>
              </a:rPr>
              <a:t>→</a:t>
            </a:r>
            <a:r>
              <a:rPr lang="en-US" sz="294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bibliothèques utilisée</a:t>
            </a:r>
          </a:p>
          <a:p>
            <a:pPr algn="ctr">
              <a:lnSpc>
                <a:spcPts val="4120"/>
              </a:lnSpc>
            </a:pPr>
            <a:endParaRPr lang="en-US" sz="2943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 rot="110880">
            <a:off x="819388" y="9779260"/>
            <a:ext cx="590855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028700" y="1870504"/>
            <a:ext cx="6730198" cy="3272996"/>
            <a:chOff x="0" y="0"/>
            <a:chExt cx="1556675" cy="75701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56675" cy="757011"/>
            </a:xfrm>
            <a:custGeom>
              <a:avLst/>
              <a:gdLst/>
              <a:ahLst/>
              <a:cxnLst/>
              <a:rect l="l" t="t" r="r" b="b"/>
              <a:pathLst>
                <a:path w="1556675" h="757011">
                  <a:moveTo>
                    <a:pt x="1556675" y="39111"/>
                  </a:moveTo>
                  <a:lnTo>
                    <a:pt x="1556675" y="717900"/>
                  </a:lnTo>
                  <a:cubicBezTo>
                    <a:pt x="1556675" y="739500"/>
                    <a:pt x="1539165" y="757011"/>
                    <a:pt x="1517564" y="757011"/>
                  </a:cubicBezTo>
                  <a:lnTo>
                    <a:pt x="39111" y="757011"/>
                  </a:lnTo>
                  <a:cubicBezTo>
                    <a:pt x="28738" y="757011"/>
                    <a:pt x="18790" y="752890"/>
                    <a:pt x="11455" y="745556"/>
                  </a:cubicBezTo>
                  <a:cubicBezTo>
                    <a:pt x="4121" y="738221"/>
                    <a:pt x="0" y="728273"/>
                    <a:pt x="0" y="717900"/>
                  </a:cubicBezTo>
                  <a:lnTo>
                    <a:pt x="0" y="39111"/>
                  </a:lnTo>
                  <a:cubicBezTo>
                    <a:pt x="0" y="28738"/>
                    <a:pt x="4121" y="18790"/>
                    <a:pt x="11455" y="11455"/>
                  </a:cubicBezTo>
                  <a:cubicBezTo>
                    <a:pt x="18790" y="4121"/>
                    <a:pt x="28738" y="0"/>
                    <a:pt x="39111" y="0"/>
                  </a:cubicBezTo>
                  <a:lnTo>
                    <a:pt x="1517564" y="0"/>
                  </a:lnTo>
                  <a:cubicBezTo>
                    <a:pt x="1527937" y="0"/>
                    <a:pt x="1537885" y="4121"/>
                    <a:pt x="1545220" y="11455"/>
                  </a:cubicBezTo>
                  <a:cubicBezTo>
                    <a:pt x="1552555" y="18790"/>
                    <a:pt x="1556675" y="28738"/>
                    <a:pt x="1556675" y="39111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50000">
                  <a:srgbClr val="F2F2F2">
                    <a:alpha val="50000"/>
                  </a:srgbClr>
                </a:gs>
                <a:gs pos="100000">
                  <a:srgbClr val="F2F2F2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556675" cy="7951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410089" y="1870504"/>
            <a:ext cx="1097022" cy="1097022"/>
          </a:xfrm>
          <a:custGeom>
            <a:avLst/>
            <a:gdLst/>
            <a:ahLst/>
            <a:cxnLst/>
            <a:rect l="l" t="t" r="r" b="b"/>
            <a:pathLst>
              <a:path w="1097022" h="1097022">
                <a:moveTo>
                  <a:pt x="0" y="0"/>
                </a:moveTo>
                <a:lnTo>
                  <a:pt x="1097022" y="0"/>
                </a:lnTo>
                <a:lnTo>
                  <a:pt x="1097022" y="1097022"/>
                </a:lnTo>
                <a:lnTo>
                  <a:pt x="0" y="10970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400566" y="5448815"/>
            <a:ext cx="6358333" cy="3809485"/>
            <a:chOff x="0" y="0"/>
            <a:chExt cx="1674623" cy="100332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74623" cy="1003321"/>
            </a:xfrm>
            <a:custGeom>
              <a:avLst/>
              <a:gdLst/>
              <a:ahLst/>
              <a:cxnLst/>
              <a:rect l="l" t="t" r="r" b="b"/>
              <a:pathLst>
                <a:path w="1674623" h="1003321">
                  <a:moveTo>
                    <a:pt x="41398" y="0"/>
                  </a:moveTo>
                  <a:lnTo>
                    <a:pt x="1633224" y="0"/>
                  </a:lnTo>
                  <a:cubicBezTo>
                    <a:pt x="1644204" y="0"/>
                    <a:pt x="1654733" y="4362"/>
                    <a:pt x="1662497" y="12125"/>
                  </a:cubicBezTo>
                  <a:cubicBezTo>
                    <a:pt x="1670261" y="19889"/>
                    <a:pt x="1674623" y="30419"/>
                    <a:pt x="1674623" y="41398"/>
                  </a:cubicBezTo>
                  <a:lnTo>
                    <a:pt x="1674623" y="961923"/>
                  </a:lnTo>
                  <a:cubicBezTo>
                    <a:pt x="1674623" y="984786"/>
                    <a:pt x="1656088" y="1003321"/>
                    <a:pt x="1633224" y="1003321"/>
                  </a:cubicBezTo>
                  <a:lnTo>
                    <a:pt x="41398" y="1003321"/>
                  </a:lnTo>
                  <a:cubicBezTo>
                    <a:pt x="18535" y="1003321"/>
                    <a:pt x="0" y="984786"/>
                    <a:pt x="0" y="961923"/>
                  </a:cubicBezTo>
                  <a:lnTo>
                    <a:pt x="0" y="41398"/>
                  </a:lnTo>
                  <a:cubicBezTo>
                    <a:pt x="0" y="30419"/>
                    <a:pt x="4362" y="19889"/>
                    <a:pt x="12125" y="12125"/>
                  </a:cubicBezTo>
                  <a:cubicBezTo>
                    <a:pt x="19889" y="4362"/>
                    <a:pt x="30419" y="0"/>
                    <a:pt x="4139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50000">
                  <a:srgbClr val="F2F2F2">
                    <a:alpha val="50000"/>
                  </a:srgbClr>
                </a:gs>
                <a:gs pos="100000">
                  <a:srgbClr val="F2F2F2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674623" cy="1041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400566" y="5358807"/>
            <a:ext cx="795018" cy="883837"/>
          </a:xfrm>
          <a:custGeom>
            <a:avLst/>
            <a:gdLst/>
            <a:ahLst/>
            <a:cxnLst/>
            <a:rect l="l" t="t" r="r" b="b"/>
            <a:pathLst>
              <a:path w="795018" h="883837">
                <a:moveTo>
                  <a:pt x="0" y="0"/>
                </a:moveTo>
                <a:lnTo>
                  <a:pt x="795018" y="0"/>
                </a:lnTo>
                <a:lnTo>
                  <a:pt x="795018" y="883836"/>
                </a:lnTo>
                <a:lnTo>
                  <a:pt x="0" y="8838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78858" t="-34696" r="-80760" b="-50959"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258846" y="6631063"/>
            <a:ext cx="3272033" cy="791274"/>
            <a:chOff x="0" y="0"/>
            <a:chExt cx="861770" cy="20840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61770" cy="208401"/>
            </a:xfrm>
            <a:custGeom>
              <a:avLst/>
              <a:gdLst/>
              <a:ahLst/>
              <a:cxnLst/>
              <a:rect l="l" t="t" r="r" b="b"/>
              <a:pathLst>
                <a:path w="861770" h="208401">
                  <a:moveTo>
                    <a:pt x="70983" y="0"/>
                  </a:moveTo>
                  <a:lnTo>
                    <a:pt x="790787" y="0"/>
                  </a:lnTo>
                  <a:cubicBezTo>
                    <a:pt x="809613" y="0"/>
                    <a:pt x="827668" y="7479"/>
                    <a:pt x="840980" y="20790"/>
                  </a:cubicBezTo>
                  <a:cubicBezTo>
                    <a:pt x="854291" y="34102"/>
                    <a:pt x="861770" y="52157"/>
                    <a:pt x="861770" y="70983"/>
                  </a:cubicBezTo>
                  <a:lnTo>
                    <a:pt x="861770" y="137419"/>
                  </a:lnTo>
                  <a:cubicBezTo>
                    <a:pt x="861770" y="176621"/>
                    <a:pt x="829990" y="208401"/>
                    <a:pt x="790787" y="208401"/>
                  </a:cubicBezTo>
                  <a:lnTo>
                    <a:pt x="70983" y="208401"/>
                  </a:lnTo>
                  <a:cubicBezTo>
                    <a:pt x="31780" y="208401"/>
                    <a:pt x="0" y="176621"/>
                    <a:pt x="0" y="137419"/>
                  </a:cubicBezTo>
                  <a:lnTo>
                    <a:pt x="0" y="70983"/>
                  </a:lnTo>
                  <a:cubicBezTo>
                    <a:pt x="0" y="31780"/>
                    <a:pt x="31780" y="0"/>
                    <a:pt x="7098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61770" cy="2465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044898" y="1966260"/>
            <a:ext cx="7803170" cy="6945331"/>
            <a:chOff x="0" y="0"/>
            <a:chExt cx="2055156" cy="182922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055156" cy="1829223"/>
            </a:xfrm>
            <a:custGeom>
              <a:avLst/>
              <a:gdLst/>
              <a:ahLst/>
              <a:cxnLst/>
              <a:rect l="l" t="t" r="r" b="b"/>
              <a:pathLst>
                <a:path w="2055156" h="1829223">
                  <a:moveTo>
                    <a:pt x="33733" y="0"/>
                  </a:moveTo>
                  <a:lnTo>
                    <a:pt x="2021423" y="0"/>
                  </a:lnTo>
                  <a:cubicBezTo>
                    <a:pt x="2030369" y="0"/>
                    <a:pt x="2038950" y="3554"/>
                    <a:pt x="2045276" y="9880"/>
                  </a:cubicBezTo>
                  <a:cubicBezTo>
                    <a:pt x="2051602" y="16206"/>
                    <a:pt x="2055156" y="24787"/>
                    <a:pt x="2055156" y="33733"/>
                  </a:cubicBezTo>
                  <a:lnTo>
                    <a:pt x="2055156" y="1795490"/>
                  </a:lnTo>
                  <a:cubicBezTo>
                    <a:pt x="2055156" y="1804436"/>
                    <a:pt x="2051602" y="1813016"/>
                    <a:pt x="2045276" y="1819343"/>
                  </a:cubicBezTo>
                  <a:cubicBezTo>
                    <a:pt x="2038950" y="1825669"/>
                    <a:pt x="2030369" y="1829223"/>
                    <a:pt x="2021423" y="1829223"/>
                  </a:cubicBezTo>
                  <a:lnTo>
                    <a:pt x="33733" y="1829223"/>
                  </a:lnTo>
                  <a:cubicBezTo>
                    <a:pt x="24787" y="1829223"/>
                    <a:pt x="16206" y="1825669"/>
                    <a:pt x="9880" y="1819343"/>
                  </a:cubicBezTo>
                  <a:cubicBezTo>
                    <a:pt x="3554" y="1813016"/>
                    <a:pt x="0" y="1804436"/>
                    <a:pt x="0" y="1795490"/>
                  </a:cubicBezTo>
                  <a:lnTo>
                    <a:pt x="0" y="33733"/>
                  </a:lnTo>
                  <a:cubicBezTo>
                    <a:pt x="0" y="24787"/>
                    <a:pt x="3554" y="16206"/>
                    <a:pt x="9880" y="9880"/>
                  </a:cubicBezTo>
                  <a:cubicBezTo>
                    <a:pt x="16206" y="3554"/>
                    <a:pt x="24787" y="0"/>
                    <a:pt x="3373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50000">
                  <a:srgbClr val="F2F2F2">
                    <a:alpha val="50000"/>
                  </a:srgbClr>
                </a:gs>
                <a:gs pos="100000">
                  <a:srgbClr val="F2F2F2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2055156" cy="18673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npm update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7508506" y="504216"/>
            <a:ext cx="339563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5"/>
              </a:lnSpc>
            </a:pPr>
            <a:r>
              <a:rPr lang="en-US" sz="2612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21132" y="384585"/>
            <a:ext cx="16087478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4"/>
              </a:lnSpc>
            </a:pPr>
            <a:r>
              <a:rPr lang="en-US" sz="6087">
                <a:solidFill>
                  <a:srgbClr val="C41A1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npm </a:t>
            </a:r>
            <a:r>
              <a:rPr lang="en-US" sz="6087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: Node Package Manager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10089" y="1848150"/>
            <a:ext cx="5910502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C41A16"/>
                </a:solidFill>
                <a:latin typeface="Open Sans"/>
                <a:ea typeface="Open Sans"/>
                <a:cs typeface="Open Sans"/>
                <a:sym typeface="Open Sans"/>
              </a:rPr>
              <a:t>DEFINITION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10089" y="2910376"/>
            <a:ext cx="6241579" cy="1745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5"/>
              </a:lnSpc>
            </a:pPr>
            <a:r>
              <a:rPr lang="en-US" sz="251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npm est gestionnaire de paquets pour</a:t>
            </a:r>
            <a:r>
              <a:rPr lang="en-US" sz="2511">
                <a:solidFill>
                  <a:srgbClr val="67803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11">
                <a:solidFill>
                  <a:srgbClr val="24AE29"/>
                </a:solidFill>
                <a:latin typeface="Open Sans"/>
                <a:ea typeface="Open Sans"/>
                <a:cs typeface="Open Sans"/>
                <a:sym typeface="Open Sans"/>
              </a:rPr>
              <a:t>node.js</a:t>
            </a:r>
            <a:r>
              <a:rPr lang="en-US" sz="2511">
                <a:solidFill>
                  <a:srgbClr val="67803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ctr">
              <a:lnSpc>
                <a:spcPts val="3515"/>
              </a:lnSpc>
            </a:pPr>
            <a:r>
              <a:rPr lang="en-US" sz="251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il permet </a:t>
            </a:r>
            <a:r>
              <a:rPr lang="en-US" sz="2511">
                <a:solidFill>
                  <a:srgbClr val="80C8CC"/>
                </a:solidFill>
                <a:latin typeface="Open Sans"/>
                <a:ea typeface="Open Sans"/>
                <a:cs typeface="Open Sans"/>
                <a:sym typeface="Open Sans"/>
              </a:rPr>
              <a:t>d’installer</a:t>
            </a:r>
            <a:r>
              <a:rPr lang="en-US" sz="251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lang="en-US" sz="2511">
                <a:solidFill>
                  <a:srgbClr val="80C8CC"/>
                </a:solidFill>
                <a:latin typeface="Open Sans"/>
                <a:ea typeface="Open Sans"/>
                <a:cs typeface="Open Sans"/>
                <a:sym typeface="Open Sans"/>
              </a:rPr>
              <a:t>gérer </a:t>
            </a:r>
            <a:r>
              <a:rPr lang="en-US" sz="251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et partager des bibliothèque pour nos projets.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452888" y="5547995"/>
            <a:ext cx="1518245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E0D32C"/>
                </a:solidFill>
                <a:latin typeface="Open Sans"/>
                <a:ea typeface="Open Sans"/>
                <a:cs typeface="Open Sans"/>
                <a:sym typeface="Open Sans"/>
              </a:rPr>
              <a:t>EXEMPLE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18340" y="6713446"/>
            <a:ext cx="2875459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24AE29"/>
                </a:solidFill>
                <a:latin typeface="Open Sans"/>
                <a:ea typeface="Open Sans"/>
                <a:cs typeface="Open Sans"/>
                <a:sym typeface="Open Sans"/>
              </a:rPr>
              <a:t>npm install</a:t>
            </a: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00">
                <a:solidFill>
                  <a:srgbClr val="FCFCFC"/>
                </a:solidFill>
                <a:latin typeface="Open Sans"/>
                <a:ea typeface="Open Sans"/>
                <a:cs typeface="Open Sans"/>
                <a:sym typeface="Open Sans"/>
              </a:rPr>
              <a:t>express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-235451" y="7772657"/>
            <a:ext cx="6358333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→  ajoute </a:t>
            </a:r>
            <a:r>
              <a:rPr lang="en-US" sz="2199">
                <a:solidFill>
                  <a:srgbClr val="CC2D2D"/>
                </a:solidFill>
                <a:latin typeface="Open Sans"/>
                <a:ea typeface="Open Sans"/>
                <a:cs typeface="Open Sans"/>
                <a:sym typeface="Open Sans"/>
              </a:rPr>
              <a:t>express 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dans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CC0DF"/>
                </a:solidFill>
                <a:latin typeface="Open Sans"/>
                <a:ea typeface="Open Sans"/>
                <a:cs typeface="Open Sans"/>
                <a:sym typeface="Open Sans"/>
              </a:rPr>
              <a:t> package.json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790721" y="6533709"/>
            <a:ext cx="2664321" cy="1785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3"/>
              </a:lnSpc>
            </a:pPr>
            <a:endParaRPr/>
          </a:p>
          <a:p>
            <a:pPr algn="ctr">
              <a:lnSpc>
                <a:spcPts val="2893"/>
              </a:lnSpc>
            </a:pPr>
            <a:r>
              <a:rPr lang="en-US" sz="206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"dependencies": {</a:t>
            </a:r>
          </a:p>
          <a:p>
            <a:pPr algn="ctr">
              <a:lnSpc>
                <a:spcPts val="2893"/>
              </a:lnSpc>
            </a:pPr>
            <a:r>
              <a:rPr lang="en-US" sz="206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"express": "</a:t>
            </a:r>
            <a:r>
              <a:rPr lang="en-US" sz="2066">
                <a:solidFill>
                  <a:srgbClr val="24AE29"/>
                </a:solidFill>
                <a:latin typeface="Open Sans"/>
                <a:ea typeface="Open Sans"/>
                <a:cs typeface="Open Sans"/>
                <a:sym typeface="Open Sans"/>
              </a:rPr>
              <a:t>^4.18.2</a:t>
            </a:r>
            <a:r>
              <a:rPr lang="en-US" sz="206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"</a:t>
            </a:r>
          </a:p>
          <a:p>
            <a:pPr algn="ctr">
              <a:lnSpc>
                <a:spcPts val="2893"/>
              </a:lnSpc>
            </a:pPr>
            <a:r>
              <a:rPr lang="en-US" sz="206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}</a:t>
            </a:r>
          </a:p>
          <a:p>
            <a:pPr algn="ctr">
              <a:lnSpc>
                <a:spcPts val="2893"/>
              </a:lnSpc>
            </a:pPr>
            <a:endParaRPr lang="en-US" sz="2066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0182631" y="1644315"/>
            <a:ext cx="4523184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24AE29"/>
                </a:solidFill>
                <a:latin typeface="Open Sans"/>
                <a:ea typeface="Open Sans"/>
                <a:cs typeface="Open Sans"/>
                <a:sym typeface="Open Sans"/>
              </a:rPr>
              <a:t>COMMANDES ESSENTIELLES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0182631" y="2419015"/>
            <a:ext cx="3272033" cy="791274"/>
            <a:chOff x="0" y="0"/>
            <a:chExt cx="861770" cy="208401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61770" cy="208401"/>
            </a:xfrm>
            <a:custGeom>
              <a:avLst/>
              <a:gdLst/>
              <a:ahLst/>
              <a:cxnLst/>
              <a:rect l="l" t="t" r="r" b="b"/>
              <a:pathLst>
                <a:path w="861770" h="208401">
                  <a:moveTo>
                    <a:pt x="70983" y="0"/>
                  </a:moveTo>
                  <a:lnTo>
                    <a:pt x="790787" y="0"/>
                  </a:lnTo>
                  <a:cubicBezTo>
                    <a:pt x="809613" y="0"/>
                    <a:pt x="827668" y="7479"/>
                    <a:pt x="840980" y="20790"/>
                  </a:cubicBezTo>
                  <a:cubicBezTo>
                    <a:pt x="854291" y="34102"/>
                    <a:pt x="861770" y="52157"/>
                    <a:pt x="861770" y="70983"/>
                  </a:cubicBezTo>
                  <a:lnTo>
                    <a:pt x="861770" y="137419"/>
                  </a:lnTo>
                  <a:cubicBezTo>
                    <a:pt x="861770" y="176621"/>
                    <a:pt x="829990" y="208401"/>
                    <a:pt x="790787" y="208401"/>
                  </a:cubicBezTo>
                  <a:lnTo>
                    <a:pt x="70983" y="208401"/>
                  </a:lnTo>
                  <a:cubicBezTo>
                    <a:pt x="31780" y="208401"/>
                    <a:pt x="0" y="176621"/>
                    <a:pt x="0" y="137419"/>
                  </a:cubicBezTo>
                  <a:lnTo>
                    <a:pt x="0" y="70983"/>
                  </a:lnTo>
                  <a:cubicBezTo>
                    <a:pt x="0" y="31780"/>
                    <a:pt x="31780" y="0"/>
                    <a:pt x="7098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861770" cy="2465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35" name="AutoShape 35"/>
          <p:cNvSpPr/>
          <p:nvPr/>
        </p:nvSpPr>
        <p:spPr>
          <a:xfrm flipH="1">
            <a:off x="10044898" y="3364127"/>
            <a:ext cx="7595011" cy="0"/>
          </a:xfrm>
          <a:prstGeom prst="line">
            <a:avLst/>
          </a:prstGeom>
          <a:ln w="19050" cap="flat">
            <a:solidFill>
              <a:srgbClr val="D8D8D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6" name="TextBox 36"/>
          <p:cNvSpPr txBox="1"/>
          <p:nvPr/>
        </p:nvSpPr>
        <p:spPr>
          <a:xfrm>
            <a:off x="10380918" y="3640352"/>
            <a:ext cx="287545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24AE29"/>
                </a:solidFill>
                <a:latin typeface="Open Sans"/>
                <a:ea typeface="Open Sans"/>
                <a:cs typeface="Open Sans"/>
                <a:sym typeface="Open Sans"/>
              </a:rPr>
              <a:t>npm</a:t>
            </a:r>
            <a:r>
              <a:rPr lang="en-US" sz="2499">
                <a:solidFill>
                  <a:srgbClr val="FCFCFC"/>
                </a:solidFill>
                <a:latin typeface="Open Sans"/>
                <a:ea typeface="Open Sans"/>
                <a:cs typeface="Open Sans"/>
                <a:sym typeface="Open Sans"/>
              </a:rPr>
              <a:t> init -y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380918" y="2579702"/>
            <a:ext cx="287545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24AE29"/>
                </a:solidFill>
                <a:latin typeface="Open Sans"/>
                <a:ea typeface="Open Sans"/>
                <a:cs typeface="Open Sans"/>
                <a:sym typeface="Open Sans"/>
              </a:rPr>
              <a:t>npm </a:t>
            </a:r>
            <a:r>
              <a:rPr lang="en-US" sz="2499">
                <a:solidFill>
                  <a:srgbClr val="FCFCFC"/>
                </a:solidFill>
                <a:latin typeface="Open Sans"/>
                <a:ea typeface="Open Sans"/>
                <a:cs typeface="Open Sans"/>
                <a:sym typeface="Open Sans"/>
              </a:rPr>
              <a:t>init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457099" y="2589227"/>
            <a:ext cx="7803170" cy="396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Créer un nouveau projet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0182631" y="3516527"/>
            <a:ext cx="3272033" cy="791274"/>
            <a:chOff x="0" y="0"/>
            <a:chExt cx="861770" cy="208401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61770" cy="208401"/>
            </a:xfrm>
            <a:custGeom>
              <a:avLst/>
              <a:gdLst/>
              <a:ahLst/>
              <a:cxnLst/>
              <a:rect l="l" t="t" r="r" b="b"/>
              <a:pathLst>
                <a:path w="861770" h="208401">
                  <a:moveTo>
                    <a:pt x="70983" y="0"/>
                  </a:moveTo>
                  <a:lnTo>
                    <a:pt x="790787" y="0"/>
                  </a:lnTo>
                  <a:cubicBezTo>
                    <a:pt x="809613" y="0"/>
                    <a:pt x="827668" y="7479"/>
                    <a:pt x="840980" y="20790"/>
                  </a:cubicBezTo>
                  <a:cubicBezTo>
                    <a:pt x="854291" y="34102"/>
                    <a:pt x="861770" y="52157"/>
                    <a:pt x="861770" y="70983"/>
                  </a:cubicBezTo>
                  <a:lnTo>
                    <a:pt x="861770" y="137419"/>
                  </a:lnTo>
                  <a:cubicBezTo>
                    <a:pt x="861770" y="176621"/>
                    <a:pt x="829990" y="208401"/>
                    <a:pt x="790787" y="208401"/>
                  </a:cubicBezTo>
                  <a:lnTo>
                    <a:pt x="70983" y="208401"/>
                  </a:lnTo>
                  <a:cubicBezTo>
                    <a:pt x="31780" y="208401"/>
                    <a:pt x="0" y="176621"/>
                    <a:pt x="0" y="137419"/>
                  </a:cubicBezTo>
                  <a:lnTo>
                    <a:pt x="0" y="70983"/>
                  </a:lnTo>
                  <a:cubicBezTo>
                    <a:pt x="0" y="31780"/>
                    <a:pt x="31780" y="0"/>
                    <a:pt x="7098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861770" cy="2465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0182631" y="3677214"/>
            <a:ext cx="3272033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24AE29"/>
                </a:solidFill>
                <a:latin typeface="Open Sans"/>
                <a:ea typeface="Open Sans"/>
                <a:cs typeface="Open Sans"/>
                <a:sym typeface="Open Sans"/>
              </a:rPr>
              <a:t>npm </a:t>
            </a:r>
            <a:r>
              <a:rPr lang="en-US" sz="2499">
                <a:solidFill>
                  <a:srgbClr val="FCFCFC"/>
                </a:solidFill>
                <a:latin typeface="Open Sans"/>
                <a:ea typeface="Open Sans"/>
                <a:cs typeface="Open Sans"/>
                <a:sym typeface="Open Sans"/>
              </a:rPr>
              <a:t>init -y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917062" y="5981700"/>
            <a:ext cx="780317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24AE29"/>
                </a:solidFill>
                <a:latin typeface="Open Sans"/>
                <a:ea typeface="Open Sans"/>
                <a:cs typeface="Open Sans"/>
                <a:sym typeface="Open Sans"/>
              </a:rPr>
              <a:t>npm </a:t>
            </a:r>
            <a:r>
              <a:rPr lang="en-US" sz="2499">
                <a:solidFill>
                  <a:srgbClr val="FCFCFC"/>
                </a:solidFill>
                <a:latin typeface="Open Sans"/>
                <a:ea typeface="Open Sans"/>
                <a:cs typeface="Open Sans"/>
                <a:sym typeface="Open Sans"/>
              </a:rPr>
              <a:t>update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818647" y="3478427"/>
            <a:ext cx="7803170" cy="81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Créer un nouveau projet avec</a:t>
            </a: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les valeurs par défaut</a:t>
            </a:r>
          </a:p>
        </p:txBody>
      </p:sp>
      <p:sp>
        <p:nvSpPr>
          <p:cNvPr id="45" name="AutoShape 45"/>
          <p:cNvSpPr/>
          <p:nvPr/>
        </p:nvSpPr>
        <p:spPr>
          <a:xfrm flipH="1">
            <a:off x="10182631" y="4460201"/>
            <a:ext cx="7595011" cy="0"/>
          </a:xfrm>
          <a:prstGeom prst="line">
            <a:avLst/>
          </a:prstGeom>
          <a:ln w="19050" cap="flat">
            <a:solidFill>
              <a:srgbClr val="D8D8D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6" name="Group 46"/>
          <p:cNvGrpSpPr/>
          <p:nvPr/>
        </p:nvGrpSpPr>
        <p:grpSpPr>
          <a:xfrm>
            <a:off x="10182631" y="4567533"/>
            <a:ext cx="3272033" cy="791274"/>
            <a:chOff x="0" y="0"/>
            <a:chExt cx="861770" cy="208401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61770" cy="208401"/>
            </a:xfrm>
            <a:custGeom>
              <a:avLst/>
              <a:gdLst/>
              <a:ahLst/>
              <a:cxnLst/>
              <a:rect l="l" t="t" r="r" b="b"/>
              <a:pathLst>
                <a:path w="861770" h="208401">
                  <a:moveTo>
                    <a:pt x="70983" y="0"/>
                  </a:moveTo>
                  <a:lnTo>
                    <a:pt x="790787" y="0"/>
                  </a:lnTo>
                  <a:cubicBezTo>
                    <a:pt x="809613" y="0"/>
                    <a:pt x="827668" y="7479"/>
                    <a:pt x="840980" y="20790"/>
                  </a:cubicBezTo>
                  <a:cubicBezTo>
                    <a:pt x="854291" y="34102"/>
                    <a:pt x="861770" y="52157"/>
                    <a:pt x="861770" y="70983"/>
                  </a:cubicBezTo>
                  <a:lnTo>
                    <a:pt x="861770" y="137419"/>
                  </a:lnTo>
                  <a:cubicBezTo>
                    <a:pt x="861770" y="176621"/>
                    <a:pt x="829990" y="208401"/>
                    <a:pt x="790787" y="208401"/>
                  </a:cubicBezTo>
                  <a:lnTo>
                    <a:pt x="70983" y="208401"/>
                  </a:lnTo>
                  <a:cubicBezTo>
                    <a:pt x="31780" y="208401"/>
                    <a:pt x="0" y="176621"/>
                    <a:pt x="0" y="137419"/>
                  </a:cubicBezTo>
                  <a:lnTo>
                    <a:pt x="0" y="70983"/>
                  </a:lnTo>
                  <a:cubicBezTo>
                    <a:pt x="0" y="31780"/>
                    <a:pt x="31780" y="0"/>
                    <a:pt x="7098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861770" cy="2465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0182631" y="4721225"/>
            <a:ext cx="3272033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24AE29"/>
                </a:solidFill>
                <a:latin typeface="Open Sans"/>
                <a:ea typeface="Open Sans"/>
                <a:cs typeface="Open Sans"/>
                <a:sym typeface="Open Sans"/>
              </a:rPr>
              <a:t>npm</a:t>
            </a:r>
            <a:r>
              <a:rPr lang="en-US" sz="2499">
                <a:solidFill>
                  <a:srgbClr val="FCFCFC"/>
                </a:solidFill>
                <a:latin typeface="Open Sans"/>
                <a:ea typeface="Open Sans"/>
                <a:cs typeface="Open Sans"/>
                <a:sym typeface="Open Sans"/>
              </a:rPr>
              <a:t> install -g &lt;pkg&gt;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101087" y="4584026"/>
            <a:ext cx="7803170" cy="81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Installer un package</a:t>
            </a: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globalement</a:t>
            </a:r>
          </a:p>
        </p:txBody>
      </p:sp>
      <p:sp>
        <p:nvSpPr>
          <p:cNvPr id="51" name="AutoShape 51"/>
          <p:cNvSpPr/>
          <p:nvPr/>
        </p:nvSpPr>
        <p:spPr>
          <a:xfrm flipH="1">
            <a:off x="10253058" y="5614670"/>
            <a:ext cx="7595011" cy="0"/>
          </a:xfrm>
          <a:prstGeom prst="line">
            <a:avLst/>
          </a:prstGeom>
          <a:ln w="19050" cap="flat">
            <a:solidFill>
              <a:srgbClr val="D8D8D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2" name="Group 52"/>
          <p:cNvGrpSpPr/>
          <p:nvPr/>
        </p:nvGrpSpPr>
        <p:grpSpPr>
          <a:xfrm>
            <a:off x="10182631" y="5817235"/>
            <a:ext cx="3272033" cy="791274"/>
            <a:chOff x="0" y="0"/>
            <a:chExt cx="861770" cy="208401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61770" cy="208401"/>
            </a:xfrm>
            <a:custGeom>
              <a:avLst/>
              <a:gdLst/>
              <a:ahLst/>
              <a:cxnLst/>
              <a:rect l="l" t="t" r="r" b="b"/>
              <a:pathLst>
                <a:path w="861770" h="208401">
                  <a:moveTo>
                    <a:pt x="70983" y="0"/>
                  </a:moveTo>
                  <a:lnTo>
                    <a:pt x="790787" y="0"/>
                  </a:lnTo>
                  <a:cubicBezTo>
                    <a:pt x="809613" y="0"/>
                    <a:pt x="827668" y="7479"/>
                    <a:pt x="840980" y="20790"/>
                  </a:cubicBezTo>
                  <a:cubicBezTo>
                    <a:pt x="854291" y="34102"/>
                    <a:pt x="861770" y="52157"/>
                    <a:pt x="861770" y="70983"/>
                  </a:cubicBezTo>
                  <a:lnTo>
                    <a:pt x="861770" y="137419"/>
                  </a:lnTo>
                  <a:cubicBezTo>
                    <a:pt x="861770" y="176621"/>
                    <a:pt x="829990" y="208401"/>
                    <a:pt x="790787" y="208401"/>
                  </a:cubicBezTo>
                  <a:lnTo>
                    <a:pt x="70983" y="208401"/>
                  </a:lnTo>
                  <a:cubicBezTo>
                    <a:pt x="31780" y="208401"/>
                    <a:pt x="0" y="176621"/>
                    <a:pt x="0" y="137419"/>
                  </a:cubicBezTo>
                  <a:lnTo>
                    <a:pt x="0" y="70983"/>
                  </a:lnTo>
                  <a:cubicBezTo>
                    <a:pt x="0" y="31780"/>
                    <a:pt x="31780" y="0"/>
                    <a:pt x="7098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861770" cy="2465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7917062" y="6007693"/>
            <a:ext cx="780317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24AE29"/>
                </a:solidFill>
                <a:latin typeface="Open Sans"/>
                <a:ea typeface="Open Sans"/>
                <a:cs typeface="Open Sans"/>
                <a:sym typeface="Open Sans"/>
              </a:rPr>
              <a:t>npm </a:t>
            </a:r>
            <a:r>
              <a:rPr lang="en-US" sz="2499">
                <a:solidFill>
                  <a:srgbClr val="FCFCFC"/>
                </a:solidFill>
                <a:latin typeface="Open Sans"/>
                <a:ea typeface="Open Sans"/>
                <a:cs typeface="Open Sans"/>
                <a:sym typeface="Open Sans"/>
              </a:rPr>
              <a:t>update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818647" y="5746944"/>
            <a:ext cx="7803170" cy="81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Mettre à jour tous les </a:t>
            </a: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packages</a:t>
            </a:r>
          </a:p>
        </p:txBody>
      </p:sp>
      <p:sp>
        <p:nvSpPr>
          <p:cNvPr id="57" name="AutoShape 57"/>
          <p:cNvSpPr/>
          <p:nvPr/>
        </p:nvSpPr>
        <p:spPr>
          <a:xfrm flipH="1">
            <a:off x="10253058" y="6713284"/>
            <a:ext cx="7595011" cy="0"/>
          </a:xfrm>
          <a:prstGeom prst="line">
            <a:avLst/>
          </a:prstGeom>
          <a:ln w="19050" cap="flat">
            <a:solidFill>
              <a:srgbClr val="D8D8D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8" name="Group 58"/>
          <p:cNvGrpSpPr/>
          <p:nvPr/>
        </p:nvGrpSpPr>
        <p:grpSpPr>
          <a:xfrm>
            <a:off x="10182631" y="6818059"/>
            <a:ext cx="3272033" cy="791274"/>
            <a:chOff x="0" y="0"/>
            <a:chExt cx="861770" cy="208401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861770" cy="208401"/>
            </a:xfrm>
            <a:custGeom>
              <a:avLst/>
              <a:gdLst/>
              <a:ahLst/>
              <a:cxnLst/>
              <a:rect l="l" t="t" r="r" b="b"/>
              <a:pathLst>
                <a:path w="861770" h="208401">
                  <a:moveTo>
                    <a:pt x="70983" y="0"/>
                  </a:moveTo>
                  <a:lnTo>
                    <a:pt x="790787" y="0"/>
                  </a:lnTo>
                  <a:cubicBezTo>
                    <a:pt x="809613" y="0"/>
                    <a:pt x="827668" y="7479"/>
                    <a:pt x="840980" y="20790"/>
                  </a:cubicBezTo>
                  <a:cubicBezTo>
                    <a:pt x="854291" y="34102"/>
                    <a:pt x="861770" y="52157"/>
                    <a:pt x="861770" y="70983"/>
                  </a:cubicBezTo>
                  <a:lnTo>
                    <a:pt x="861770" y="137419"/>
                  </a:lnTo>
                  <a:cubicBezTo>
                    <a:pt x="861770" y="176621"/>
                    <a:pt x="829990" y="208401"/>
                    <a:pt x="790787" y="208401"/>
                  </a:cubicBezTo>
                  <a:lnTo>
                    <a:pt x="70983" y="208401"/>
                  </a:lnTo>
                  <a:cubicBezTo>
                    <a:pt x="31780" y="208401"/>
                    <a:pt x="0" y="176621"/>
                    <a:pt x="0" y="137419"/>
                  </a:cubicBezTo>
                  <a:lnTo>
                    <a:pt x="0" y="70983"/>
                  </a:lnTo>
                  <a:cubicBezTo>
                    <a:pt x="0" y="31780"/>
                    <a:pt x="31780" y="0"/>
                    <a:pt x="7098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861770" cy="2465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8016073" y="6989509"/>
            <a:ext cx="780317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24AE29"/>
                </a:solidFill>
                <a:latin typeface="Open Sans"/>
                <a:ea typeface="Open Sans"/>
                <a:cs typeface="Open Sans"/>
                <a:sym typeface="Open Sans"/>
              </a:rPr>
              <a:t>npm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99">
                <a:solidFill>
                  <a:srgbClr val="FCFCFC"/>
                </a:solidFill>
                <a:latin typeface="Open Sans"/>
                <a:ea typeface="Open Sans"/>
                <a:cs typeface="Open Sans"/>
                <a:sym typeface="Open Sans"/>
              </a:rPr>
              <a:t>uninstall &lt;pkg&gt;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917659" y="6979984"/>
            <a:ext cx="7803170" cy="396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Supprimer un package</a:t>
            </a:r>
          </a:p>
        </p:txBody>
      </p:sp>
      <p:sp>
        <p:nvSpPr>
          <p:cNvPr id="63" name="AutoShape 63"/>
          <p:cNvSpPr/>
          <p:nvPr/>
        </p:nvSpPr>
        <p:spPr>
          <a:xfrm flipH="1">
            <a:off x="10253058" y="7761733"/>
            <a:ext cx="7595011" cy="0"/>
          </a:xfrm>
          <a:prstGeom prst="line">
            <a:avLst/>
          </a:prstGeom>
          <a:ln w="19050" cap="flat">
            <a:solidFill>
              <a:srgbClr val="D8D8D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4" name="Group 64"/>
          <p:cNvGrpSpPr/>
          <p:nvPr/>
        </p:nvGrpSpPr>
        <p:grpSpPr>
          <a:xfrm>
            <a:off x="10182631" y="7961758"/>
            <a:ext cx="3272033" cy="791274"/>
            <a:chOff x="0" y="0"/>
            <a:chExt cx="861770" cy="208401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861770" cy="208401"/>
            </a:xfrm>
            <a:custGeom>
              <a:avLst/>
              <a:gdLst/>
              <a:ahLst/>
              <a:cxnLst/>
              <a:rect l="l" t="t" r="r" b="b"/>
              <a:pathLst>
                <a:path w="861770" h="208401">
                  <a:moveTo>
                    <a:pt x="70983" y="0"/>
                  </a:moveTo>
                  <a:lnTo>
                    <a:pt x="790787" y="0"/>
                  </a:lnTo>
                  <a:cubicBezTo>
                    <a:pt x="809613" y="0"/>
                    <a:pt x="827668" y="7479"/>
                    <a:pt x="840980" y="20790"/>
                  </a:cubicBezTo>
                  <a:cubicBezTo>
                    <a:pt x="854291" y="34102"/>
                    <a:pt x="861770" y="52157"/>
                    <a:pt x="861770" y="70983"/>
                  </a:cubicBezTo>
                  <a:lnTo>
                    <a:pt x="861770" y="137419"/>
                  </a:lnTo>
                  <a:cubicBezTo>
                    <a:pt x="861770" y="176621"/>
                    <a:pt x="829990" y="208401"/>
                    <a:pt x="790787" y="208401"/>
                  </a:cubicBezTo>
                  <a:lnTo>
                    <a:pt x="70983" y="208401"/>
                  </a:lnTo>
                  <a:cubicBezTo>
                    <a:pt x="31780" y="208401"/>
                    <a:pt x="0" y="176621"/>
                    <a:pt x="0" y="137419"/>
                  </a:cubicBezTo>
                  <a:lnTo>
                    <a:pt x="0" y="70983"/>
                  </a:lnTo>
                  <a:cubicBezTo>
                    <a:pt x="0" y="31780"/>
                    <a:pt x="31780" y="0"/>
                    <a:pt x="7098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6" name="TextBox 66"/>
            <p:cNvSpPr txBox="1"/>
            <p:nvPr/>
          </p:nvSpPr>
          <p:spPr>
            <a:xfrm>
              <a:off x="0" y="-38100"/>
              <a:ext cx="861770" cy="2465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7917062" y="8135242"/>
            <a:ext cx="7803170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4AE29"/>
                </a:solidFill>
                <a:latin typeface="Open Sans"/>
                <a:ea typeface="Open Sans"/>
                <a:cs typeface="Open Sans"/>
                <a:sym typeface="Open Sans"/>
              </a:rPr>
              <a:t>npm</a:t>
            </a: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99">
                <a:solidFill>
                  <a:srgbClr val="FCFCFC"/>
                </a:solidFill>
                <a:latin typeface="Open Sans"/>
                <a:ea typeface="Open Sans"/>
                <a:cs typeface="Open Sans"/>
                <a:sym typeface="Open Sans"/>
              </a:rPr>
              <a:t>run start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1818647" y="8123683"/>
            <a:ext cx="7803170" cy="396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Exécuter le script "start"</a:t>
            </a: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4007653" y="8198653"/>
            <a:ext cx="1128703" cy="3048000"/>
            <a:chOff x="0" y="0"/>
            <a:chExt cx="1504937" cy="406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77933C"/>
            </a:solidFill>
          </p:spPr>
        </p:sp>
      </p:grpSp>
      <p:grpSp>
        <p:nvGrpSpPr>
          <p:cNvPr id="4" name="Group 4"/>
          <p:cNvGrpSpPr/>
          <p:nvPr/>
        </p:nvGrpSpPr>
        <p:grpSpPr>
          <a:xfrm rot="-5400000">
            <a:off x="7055653" y="8198644"/>
            <a:ext cx="1128703" cy="3048000"/>
            <a:chOff x="0" y="0"/>
            <a:chExt cx="1504937" cy="406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6" name="Group 6"/>
          <p:cNvGrpSpPr/>
          <p:nvPr/>
        </p:nvGrpSpPr>
        <p:grpSpPr>
          <a:xfrm rot="-5400000">
            <a:off x="10103644" y="8198644"/>
            <a:ext cx="1128703" cy="3048000"/>
            <a:chOff x="0" y="0"/>
            <a:chExt cx="1504937" cy="4064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9BBB59"/>
            </a:solidFill>
          </p:spPr>
        </p:sp>
      </p:grpSp>
      <p:grpSp>
        <p:nvGrpSpPr>
          <p:cNvPr id="8" name="Group 8"/>
          <p:cNvGrpSpPr/>
          <p:nvPr/>
        </p:nvGrpSpPr>
        <p:grpSpPr>
          <a:xfrm rot="-5400000">
            <a:off x="13151644" y="8198644"/>
            <a:ext cx="1128712" cy="3048000"/>
            <a:chOff x="0" y="0"/>
            <a:chExt cx="1504950" cy="4064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ACC777"/>
            </a:solidFill>
          </p:spPr>
        </p:sp>
      </p:grpSp>
      <p:grpSp>
        <p:nvGrpSpPr>
          <p:cNvPr id="10" name="Group 10"/>
          <p:cNvGrpSpPr/>
          <p:nvPr/>
        </p:nvGrpSpPr>
        <p:grpSpPr>
          <a:xfrm rot="-5400000">
            <a:off x="16199653" y="8198653"/>
            <a:ext cx="1128703" cy="3048000"/>
            <a:chOff x="0" y="0"/>
            <a:chExt cx="1504937" cy="4064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C0D498"/>
            </a:solidFill>
          </p:spPr>
        </p:sp>
      </p:grpSp>
      <p:grpSp>
        <p:nvGrpSpPr>
          <p:cNvPr id="12" name="Group 12"/>
          <p:cNvGrpSpPr/>
          <p:nvPr/>
        </p:nvGrpSpPr>
        <p:grpSpPr>
          <a:xfrm rot="-5400000">
            <a:off x="273844" y="7512844"/>
            <a:ext cx="2500312" cy="3048000"/>
            <a:chOff x="0" y="0"/>
            <a:chExt cx="3333750" cy="4064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333750" cy="4064000"/>
            </a:xfrm>
            <a:custGeom>
              <a:avLst/>
              <a:gdLst/>
              <a:ahLst/>
              <a:cxnLst/>
              <a:rect l="l" t="t" r="r" b="b"/>
              <a:pathLst>
                <a:path w="3333750" h="4064000">
                  <a:moveTo>
                    <a:pt x="0" y="0"/>
                  </a:moveTo>
                  <a:lnTo>
                    <a:pt x="3333750" y="0"/>
                  </a:lnTo>
                  <a:lnTo>
                    <a:pt x="33337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D0DFB3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2" y="1010493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1"/>
                </a:lnTo>
                <a:lnTo>
                  <a:pt x="0" y="201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970502" y="8449732"/>
            <a:ext cx="1106995" cy="1106453"/>
          </a:xfrm>
          <a:custGeom>
            <a:avLst/>
            <a:gdLst/>
            <a:ahLst/>
            <a:cxnLst/>
            <a:rect l="l" t="t" r="r" b="b"/>
            <a:pathLst>
              <a:path w="1106995" h="1106453">
                <a:moveTo>
                  <a:pt x="0" y="0"/>
                </a:moveTo>
                <a:lnTo>
                  <a:pt x="1106996" y="0"/>
                </a:lnTo>
                <a:lnTo>
                  <a:pt x="1106996" y="1106453"/>
                </a:lnTo>
                <a:lnTo>
                  <a:pt x="0" y="11064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AutoShape 16"/>
          <p:cNvSpPr/>
          <p:nvPr/>
        </p:nvSpPr>
        <p:spPr>
          <a:xfrm rot="10680">
            <a:off x="1502302" y="7124109"/>
            <a:ext cx="7653623" cy="0"/>
          </a:xfrm>
          <a:prstGeom prst="line">
            <a:avLst/>
          </a:prstGeom>
          <a:ln w="9525" cap="rnd">
            <a:solidFill>
              <a:srgbClr val="D0DFB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 rot="5279820">
            <a:off x="1173509" y="7453312"/>
            <a:ext cx="681457" cy="0"/>
          </a:xfrm>
          <a:prstGeom prst="line">
            <a:avLst/>
          </a:prstGeom>
          <a:ln w="9525" cap="rnd">
            <a:solidFill>
              <a:srgbClr val="D0DFB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 rot="5333880">
            <a:off x="8525056" y="6531473"/>
            <a:ext cx="1237888" cy="0"/>
          </a:xfrm>
          <a:prstGeom prst="line">
            <a:avLst/>
          </a:prstGeom>
          <a:ln w="9525" cap="rnd">
            <a:solidFill>
              <a:srgbClr val="D0DFB3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9" name="Freeform 19"/>
          <p:cNvSpPr/>
          <p:nvPr/>
        </p:nvSpPr>
        <p:spPr>
          <a:xfrm>
            <a:off x="684952" y="8134470"/>
            <a:ext cx="1634751" cy="1588174"/>
          </a:xfrm>
          <a:custGeom>
            <a:avLst/>
            <a:gdLst/>
            <a:ahLst/>
            <a:cxnLst/>
            <a:rect l="l" t="t" r="r" b="b"/>
            <a:pathLst>
              <a:path w="1634751" h="1588174">
                <a:moveTo>
                  <a:pt x="0" y="0"/>
                </a:moveTo>
                <a:lnTo>
                  <a:pt x="1634751" y="0"/>
                </a:lnTo>
                <a:lnTo>
                  <a:pt x="1634751" y="1588174"/>
                </a:lnTo>
                <a:lnTo>
                  <a:pt x="0" y="15881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2932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6506391" y="4220873"/>
            <a:ext cx="5666383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Modules natifs</a:t>
            </a: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87280" y="610583"/>
            <a:ext cx="7864872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  <a:spcBef>
                <a:spcPct val="0"/>
              </a:spcBef>
            </a:pPr>
            <a:r>
              <a:rPr lang="en-US" sz="3900" b="1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Modules natifs essentiels en Node.js</a:t>
            </a:r>
          </a:p>
        </p:txBody>
      </p:sp>
      <p:sp>
        <p:nvSpPr>
          <p:cNvPr id="3" name="Freeform 3"/>
          <p:cNvSpPr/>
          <p:nvPr/>
        </p:nvSpPr>
        <p:spPr>
          <a:xfrm>
            <a:off x="8668502" y="3157052"/>
            <a:ext cx="1019032" cy="1019032"/>
          </a:xfrm>
          <a:custGeom>
            <a:avLst/>
            <a:gdLst/>
            <a:ahLst/>
            <a:cxnLst/>
            <a:rect l="l" t="t" r="r" b="b"/>
            <a:pathLst>
              <a:path w="1019032" h="1019032">
                <a:moveTo>
                  <a:pt x="0" y="0"/>
                </a:moveTo>
                <a:lnTo>
                  <a:pt x="1019033" y="0"/>
                </a:lnTo>
                <a:lnTo>
                  <a:pt x="1019033" y="1019032"/>
                </a:lnTo>
                <a:lnTo>
                  <a:pt x="0" y="1019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9524" y="4901650"/>
            <a:ext cx="6114601" cy="2929296"/>
          </a:xfrm>
          <a:custGeom>
            <a:avLst/>
            <a:gdLst/>
            <a:ahLst/>
            <a:cxnLst/>
            <a:rect l="l" t="t" r="r" b="b"/>
            <a:pathLst>
              <a:path w="6114601" h="2929296">
                <a:moveTo>
                  <a:pt x="0" y="0"/>
                </a:moveTo>
                <a:lnTo>
                  <a:pt x="6114601" y="0"/>
                </a:lnTo>
                <a:lnTo>
                  <a:pt x="6114601" y="2929296"/>
                </a:lnTo>
                <a:lnTo>
                  <a:pt x="0" y="2929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1361" r="-100856" b="-206958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" y="1839308"/>
            <a:ext cx="6067720" cy="2929296"/>
          </a:xfrm>
          <a:custGeom>
            <a:avLst/>
            <a:gdLst/>
            <a:ahLst/>
            <a:cxnLst/>
            <a:rect l="l" t="t" r="r" b="b"/>
            <a:pathLst>
              <a:path w="6067720" h="2929296">
                <a:moveTo>
                  <a:pt x="0" y="0"/>
                </a:moveTo>
                <a:lnTo>
                  <a:pt x="6067721" y="0"/>
                </a:lnTo>
                <a:lnTo>
                  <a:pt x="6067721" y="2929295"/>
                </a:lnTo>
                <a:lnTo>
                  <a:pt x="0" y="29292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1361" r="-102408" b="-206958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-28574" y="2289499"/>
            <a:ext cx="6114601" cy="511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22982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626" y="3259453"/>
            <a:ext cx="6000301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Lire, écrire, créer, supprimer des fichiers et dossiers. </a:t>
            </a:r>
          </a:p>
        </p:txBody>
      </p:sp>
      <p:sp>
        <p:nvSpPr>
          <p:cNvPr id="8" name="Freeform 8"/>
          <p:cNvSpPr/>
          <p:nvPr/>
        </p:nvSpPr>
        <p:spPr>
          <a:xfrm>
            <a:off x="12191848" y="4888752"/>
            <a:ext cx="6043005" cy="2929296"/>
          </a:xfrm>
          <a:custGeom>
            <a:avLst/>
            <a:gdLst/>
            <a:ahLst/>
            <a:cxnLst/>
            <a:rect l="l" t="t" r="r" b="b"/>
            <a:pathLst>
              <a:path w="6043005" h="2929296">
                <a:moveTo>
                  <a:pt x="0" y="0"/>
                </a:moveTo>
                <a:lnTo>
                  <a:pt x="6043005" y="0"/>
                </a:lnTo>
                <a:lnTo>
                  <a:pt x="6043005" y="2929296"/>
                </a:lnTo>
                <a:lnTo>
                  <a:pt x="0" y="2929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2344" r="-104756" b="-208880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129171" y="4901650"/>
            <a:ext cx="6010753" cy="2929296"/>
          </a:xfrm>
          <a:custGeom>
            <a:avLst/>
            <a:gdLst/>
            <a:ahLst/>
            <a:cxnLst/>
            <a:rect l="l" t="t" r="r" b="b"/>
            <a:pathLst>
              <a:path w="6010753" h="2929296">
                <a:moveTo>
                  <a:pt x="0" y="0"/>
                </a:moveTo>
                <a:lnTo>
                  <a:pt x="6010753" y="0"/>
                </a:lnTo>
                <a:lnTo>
                  <a:pt x="6010753" y="2929296"/>
                </a:lnTo>
                <a:lnTo>
                  <a:pt x="0" y="2929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1361" r="-104326" b="-206958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" y="5330578"/>
            <a:ext cx="6114601" cy="51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22982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" y="6346408"/>
            <a:ext cx="6114601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permet d’obtenir des informations sur le système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14602" y="1839308"/>
            <a:ext cx="6077245" cy="2929296"/>
          </a:xfrm>
          <a:custGeom>
            <a:avLst/>
            <a:gdLst/>
            <a:ahLst/>
            <a:cxnLst/>
            <a:rect l="l" t="t" r="r" b="b"/>
            <a:pathLst>
              <a:path w="6077245" h="2929296">
                <a:moveTo>
                  <a:pt x="0" y="0"/>
                </a:moveTo>
                <a:lnTo>
                  <a:pt x="6077246" y="0"/>
                </a:lnTo>
                <a:lnTo>
                  <a:pt x="6077246" y="2929295"/>
                </a:lnTo>
                <a:lnTo>
                  <a:pt x="0" y="29292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1010" r="-102293" b="-207697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077247" y="2297754"/>
            <a:ext cx="6114601" cy="511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22982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path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181095" y="3118952"/>
            <a:ext cx="5877243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Permet de construire et gérer les chemins de fichiers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238062" y="5347088"/>
            <a:ext cx="6114601" cy="51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22982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events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181095" y="6151145"/>
            <a:ext cx="6054224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permet d’écouter des événements et d’exécuter du code en réponse à ces événements.</a:t>
            </a:r>
          </a:p>
        </p:txBody>
      </p:sp>
      <p:sp>
        <p:nvSpPr>
          <p:cNvPr id="17" name="Freeform 17"/>
          <p:cNvSpPr/>
          <p:nvPr/>
        </p:nvSpPr>
        <p:spPr>
          <a:xfrm>
            <a:off x="12244844" y="1839308"/>
            <a:ext cx="6043005" cy="2916491"/>
          </a:xfrm>
          <a:custGeom>
            <a:avLst/>
            <a:gdLst/>
            <a:ahLst/>
            <a:cxnLst/>
            <a:rect l="l" t="t" r="r" b="b"/>
            <a:pathLst>
              <a:path w="6043005" h="2916491">
                <a:moveTo>
                  <a:pt x="0" y="0"/>
                </a:moveTo>
                <a:lnTo>
                  <a:pt x="6043005" y="0"/>
                </a:lnTo>
                <a:lnTo>
                  <a:pt x="6043005" y="2916490"/>
                </a:lnTo>
                <a:lnTo>
                  <a:pt x="0" y="2916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84" t="-82484" r="-102051" b="-207540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2263445" y="2297754"/>
            <a:ext cx="6043005" cy="511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22982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http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352663" y="3131509"/>
            <a:ext cx="5777533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Créer un serveur web complet sans</a:t>
            </a:r>
          </a:p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aucune dépendance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2362188" y="5308248"/>
            <a:ext cx="6043005" cy="51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22982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stream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400943" y="6382034"/>
            <a:ext cx="5768008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Traiter les données en petits morceaux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15992" y="8516746"/>
            <a:ext cx="16943308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→  Ces </a:t>
            </a:r>
            <a:r>
              <a:rPr lang="en-US" sz="2399" b="1">
                <a:solidFill>
                  <a:srgbClr val="C41A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modules natifs </a:t>
            </a:r>
            <a:r>
              <a:rPr lang="en-US" sz="23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sont la base pour développer des applications </a:t>
            </a:r>
            <a:r>
              <a:rPr lang="en-US" sz="2399" b="1">
                <a:solidFill>
                  <a:srgbClr val="24AE2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Node.js</a:t>
            </a:r>
            <a:r>
              <a:rPr lang="en-US" sz="23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efficaces.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17431750" y="455790"/>
            <a:ext cx="416328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25</a:t>
            </a: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 rot="110880">
            <a:off x="819388" y="9779260"/>
            <a:ext cx="590855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400566" y="1569482"/>
            <a:ext cx="6032698" cy="6962001"/>
            <a:chOff x="0" y="0"/>
            <a:chExt cx="1395345" cy="161024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95345" cy="1610241"/>
            </a:xfrm>
            <a:custGeom>
              <a:avLst/>
              <a:gdLst/>
              <a:ahLst/>
              <a:cxnLst/>
              <a:rect l="l" t="t" r="r" b="b"/>
              <a:pathLst>
                <a:path w="1395345" h="1610241">
                  <a:moveTo>
                    <a:pt x="1395345" y="43633"/>
                  </a:moveTo>
                  <a:lnTo>
                    <a:pt x="1395345" y="1566608"/>
                  </a:lnTo>
                  <a:cubicBezTo>
                    <a:pt x="1395345" y="1578180"/>
                    <a:pt x="1390748" y="1589278"/>
                    <a:pt x="1382566" y="1597461"/>
                  </a:cubicBezTo>
                  <a:cubicBezTo>
                    <a:pt x="1374383" y="1605644"/>
                    <a:pt x="1363285" y="1610241"/>
                    <a:pt x="1351712" y="1610241"/>
                  </a:cubicBezTo>
                  <a:lnTo>
                    <a:pt x="43633" y="1610241"/>
                  </a:lnTo>
                  <a:cubicBezTo>
                    <a:pt x="32061" y="1610241"/>
                    <a:pt x="20963" y="1605644"/>
                    <a:pt x="12780" y="1597461"/>
                  </a:cubicBezTo>
                  <a:cubicBezTo>
                    <a:pt x="4597" y="1589278"/>
                    <a:pt x="0" y="1578180"/>
                    <a:pt x="0" y="1566608"/>
                  </a:cubicBezTo>
                  <a:lnTo>
                    <a:pt x="0" y="43633"/>
                  </a:lnTo>
                  <a:cubicBezTo>
                    <a:pt x="0" y="32061"/>
                    <a:pt x="4597" y="20963"/>
                    <a:pt x="12780" y="12780"/>
                  </a:cubicBezTo>
                  <a:cubicBezTo>
                    <a:pt x="20963" y="4597"/>
                    <a:pt x="32061" y="0"/>
                    <a:pt x="43633" y="0"/>
                  </a:cubicBezTo>
                  <a:lnTo>
                    <a:pt x="1351712" y="0"/>
                  </a:lnTo>
                  <a:cubicBezTo>
                    <a:pt x="1363285" y="0"/>
                    <a:pt x="1374383" y="4597"/>
                    <a:pt x="1382566" y="12780"/>
                  </a:cubicBezTo>
                  <a:cubicBezTo>
                    <a:pt x="1390748" y="20963"/>
                    <a:pt x="1395345" y="32061"/>
                    <a:pt x="1395345" y="43633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50000">
                  <a:srgbClr val="F2F2F2">
                    <a:alpha val="50000"/>
                  </a:srgbClr>
                </a:gs>
                <a:gs pos="100000">
                  <a:srgbClr val="F2F2F2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395345" cy="16483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409032" y="2194192"/>
            <a:ext cx="3775783" cy="791274"/>
            <a:chOff x="0" y="0"/>
            <a:chExt cx="994445" cy="20840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94445" cy="208401"/>
            </a:xfrm>
            <a:custGeom>
              <a:avLst/>
              <a:gdLst/>
              <a:ahLst/>
              <a:cxnLst/>
              <a:rect l="l" t="t" r="r" b="b"/>
              <a:pathLst>
                <a:path w="994445" h="208401">
                  <a:moveTo>
                    <a:pt x="61512" y="0"/>
                  </a:moveTo>
                  <a:lnTo>
                    <a:pt x="932933" y="0"/>
                  </a:lnTo>
                  <a:cubicBezTo>
                    <a:pt x="949247" y="0"/>
                    <a:pt x="964893" y="6481"/>
                    <a:pt x="976428" y="18017"/>
                  </a:cubicBezTo>
                  <a:cubicBezTo>
                    <a:pt x="987964" y="29552"/>
                    <a:pt x="994445" y="45198"/>
                    <a:pt x="994445" y="61512"/>
                  </a:cubicBezTo>
                  <a:lnTo>
                    <a:pt x="994445" y="146889"/>
                  </a:lnTo>
                  <a:cubicBezTo>
                    <a:pt x="994445" y="163203"/>
                    <a:pt x="987964" y="178849"/>
                    <a:pt x="976428" y="190385"/>
                  </a:cubicBezTo>
                  <a:cubicBezTo>
                    <a:pt x="964893" y="201921"/>
                    <a:pt x="949247" y="208401"/>
                    <a:pt x="932933" y="208401"/>
                  </a:cubicBezTo>
                  <a:lnTo>
                    <a:pt x="61512" y="208401"/>
                  </a:lnTo>
                  <a:cubicBezTo>
                    <a:pt x="45198" y="208401"/>
                    <a:pt x="29552" y="201921"/>
                    <a:pt x="18017" y="190385"/>
                  </a:cubicBezTo>
                  <a:cubicBezTo>
                    <a:pt x="6481" y="178849"/>
                    <a:pt x="0" y="163203"/>
                    <a:pt x="0" y="146889"/>
                  </a:cubicBezTo>
                  <a:lnTo>
                    <a:pt x="0" y="61512"/>
                  </a:lnTo>
                  <a:cubicBezTo>
                    <a:pt x="0" y="45198"/>
                    <a:pt x="6481" y="29552"/>
                    <a:pt x="18017" y="18017"/>
                  </a:cubicBezTo>
                  <a:cubicBezTo>
                    <a:pt x="29552" y="6481"/>
                    <a:pt x="45198" y="0"/>
                    <a:pt x="61512" y="0"/>
                  </a:cubicBez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994445" cy="2465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 flipH="1">
            <a:off x="857260" y="5050482"/>
            <a:ext cx="6576004" cy="28176"/>
          </a:xfrm>
          <a:prstGeom prst="line">
            <a:avLst/>
          </a:prstGeom>
          <a:ln w="19050" cap="flat">
            <a:solidFill>
              <a:srgbClr val="D8D8D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Freeform 16"/>
          <p:cNvSpPr/>
          <p:nvPr/>
        </p:nvSpPr>
        <p:spPr>
          <a:xfrm>
            <a:off x="647241" y="3812319"/>
            <a:ext cx="762918" cy="780478"/>
          </a:xfrm>
          <a:custGeom>
            <a:avLst/>
            <a:gdLst/>
            <a:ahLst/>
            <a:cxnLst/>
            <a:rect l="l" t="t" r="r" b="b"/>
            <a:pathLst>
              <a:path w="762918" h="780478">
                <a:moveTo>
                  <a:pt x="0" y="0"/>
                </a:moveTo>
                <a:lnTo>
                  <a:pt x="762918" y="0"/>
                </a:lnTo>
                <a:lnTo>
                  <a:pt x="762918" y="780478"/>
                </a:lnTo>
                <a:lnTo>
                  <a:pt x="0" y="7804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244830" y="5190424"/>
            <a:ext cx="1323799" cy="767461"/>
          </a:xfrm>
          <a:custGeom>
            <a:avLst/>
            <a:gdLst/>
            <a:ahLst/>
            <a:cxnLst/>
            <a:rect l="l" t="t" r="r" b="b"/>
            <a:pathLst>
              <a:path w="1323799" h="767461">
                <a:moveTo>
                  <a:pt x="0" y="0"/>
                </a:moveTo>
                <a:lnTo>
                  <a:pt x="1323799" y="0"/>
                </a:lnTo>
                <a:lnTo>
                  <a:pt x="1323799" y="767461"/>
                </a:lnTo>
                <a:lnTo>
                  <a:pt x="0" y="7674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8" name="AutoShape 18"/>
          <p:cNvSpPr/>
          <p:nvPr/>
        </p:nvSpPr>
        <p:spPr>
          <a:xfrm flipH="1">
            <a:off x="990762" y="6242643"/>
            <a:ext cx="6456013" cy="0"/>
          </a:xfrm>
          <a:prstGeom prst="line">
            <a:avLst/>
          </a:prstGeom>
          <a:ln w="19050" cap="flat">
            <a:solidFill>
              <a:srgbClr val="D8D8D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 flipH="1">
            <a:off x="1068917" y="7402259"/>
            <a:ext cx="6456013" cy="0"/>
          </a:xfrm>
          <a:prstGeom prst="line">
            <a:avLst/>
          </a:prstGeom>
          <a:ln w="19050" cap="flat">
            <a:solidFill>
              <a:srgbClr val="D8D8D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Freeform 20"/>
          <p:cNvSpPr/>
          <p:nvPr/>
        </p:nvSpPr>
        <p:spPr>
          <a:xfrm>
            <a:off x="409297" y="7354270"/>
            <a:ext cx="1111567" cy="998142"/>
          </a:xfrm>
          <a:custGeom>
            <a:avLst/>
            <a:gdLst/>
            <a:ahLst/>
            <a:cxnLst/>
            <a:rect l="l" t="t" r="r" b="b"/>
            <a:pathLst>
              <a:path w="1111567" h="998142">
                <a:moveTo>
                  <a:pt x="0" y="0"/>
                </a:moveTo>
                <a:lnTo>
                  <a:pt x="1111568" y="0"/>
                </a:lnTo>
                <a:lnTo>
                  <a:pt x="1111568" y="998143"/>
                </a:lnTo>
                <a:lnTo>
                  <a:pt x="0" y="9981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409297" y="6302373"/>
            <a:ext cx="991268" cy="892141"/>
          </a:xfrm>
          <a:custGeom>
            <a:avLst/>
            <a:gdLst/>
            <a:ahLst/>
            <a:cxnLst/>
            <a:rect l="l" t="t" r="r" b="b"/>
            <a:pathLst>
              <a:path w="991268" h="892141">
                <a:moveTo>
                  <a:pt x="0" y="0"/>
                </a:moveTo>
                <a:lnTo>
                  <a:pt x="991269" y="0"/>
                </a:lnTo>
                <a:lnTo>
                  <a:pt x="991269" y="892141"/>
                </a:lnTo>
                <a:lnTo>
                  <a:pt x="0" y="8921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11308498" y="1312478"/>
            <a:ext cx="6563529" cy="7945822"/>
            <a:chOff x="0" y="0"/>
            <a:chExt cx="1518125" cy="183778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518125" cy="1837789"/>
            </a:xfrm>
            <a:custGeom>
              <a:avLst/>
              <a:gdLst/>
              <a:ahLst/>
              <a:cxnLst/>
              <a:rect l="l" t="t" r="r" b="b"/>
              <a:pathLst>
                <a:path w="1518125" h="1837789">
                  <a:moveTo>
                    <a:pt x="1518125" y="40104"/>
                  </a:moveTo>
                  <a:lnTo>
                    <a:pt x="1518125" y="1797685"/>
                  </a:lnTo>
                  <a:cubicBezTo>
                    <a:pt x="1518125" y="1808321"/>
                    <a:pt x="1513900" y="1818522"/>
                    <a:pt x="1506379" y="1826043"/>
                  </a:cubicBezTo>
                  <a:cubicBezTo>
                    <a:pt x="1498858" y="1833564"/>
                    <a:pt x="1488657" y="1837789"/>
                    <a:pt x="1478021" y="1837789"/>
                  </a:cubicBezTo>
                  <a:lnTo>
                    <a:pt x="40104" y="1837789"/>
                  </a:lnTo>
                  <a:cubicBezTo>
                    <a:pt x="29468" y="1837789"/>
                    <a:pt x="19267" y="1833564"/>
                    <a:pt x="11746" y="1826043"/>
                  </a:cubicBezTo>
                  <a:cubicBezTo>
                    <a:pt x="4225" y="1818522"/>
                    <a:pt x="0" y="1808321"/>
                    <a:pt x="0" y="1797685"/>
                  </a:cubicBezTo>
                  <a:lnTo>
                    <a:pt x="0" y="40104"/>
                  </a:lnTo>
                  <a:cubicBezTo>
                    <a:pt x="0" y="29468"/>
                    <a:pt x="4225" y="19267"/>
                    <a:pt x="11746" y="11746"/>
                  </a:cubicBezTo>
                  <a:cubicBezTo>
                    <a:pt x="19267" y="4225"/>
                    <a:pt x="29468" y="0"/>
                    <a:pt x="40104" y="0"/>
                  </a:cubicBezTo>
                  <a:lnTo>
                    <a:pt x="1478021" y="0"/>
                  </a:lnTo>
                  <a:cubicBezTo>
                    <a:pt x="1488657" y="0"/>
                    <a:pt x="1498858" y="4225"/>
                    <a:pt x="1506379" y="11746"/>
                  </a:cubicBezTo>
                  <a:cubicBezTo>
                    <a:pt x="1513900" y="19267"/>
                    <a:pt x="1518125" y="29468"/>
                    <a:pt x="1518125" y="40104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50000">
                  <a:srgbClr val="F2F2F2">
                    <a:alpha val="50000"/>
                  </a:srgbClr>
                </a:gs>
                <a:gs pos="100000">
                  <a:srgbClr val="F2F2F2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518125" cy="18758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839749" y="1965592"/>
            <a:ext cx="3775783" cy="791274"/>
            <a:chOff x="0" y="0"/>
            <a:chExt cx="994445" cy="20840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94445" cy="208401"/>
            </a:xfrm>
            <a:custGeom>
              <a:avLst/>
              <a:gdLst/>
              <a:ahLst/>
              <a:cxnLst/>
              <a:rect l="l" t="t" r="r" b="b"/>
              <a:pathLst>
                <a:path w="994445" h="208401">
                  <a:moveTo>
                    <a:pt x="61512" y="0"/>
                  </a:moveTo>
                  <a:lnTo>
                    <a:pt x="932933" y="0"/>
                  </a:lnTo>
                  <a:cubicBezTo>
                    <a:pt x="949247" y="0"/>
                    <a:pt x="964893" y="6481"/>
                    <a:pt x="976428" y="18017"/>
                  </a:cubicBezTo>
                  <a:cubicBezTo>
                    <a:pt x="987964" y="29552"/>
                    <a:pt x="994445" y="45198"/>
                    <a:pt x="994445" y="61512"/>
                  </a:cubicBezTo>
                  <a:lnTo>
                    <a:pt x="994445" y="146889"/>
                  </a:lnTo>
                  <a:cubicBezTo>
                    <a:pt x="994445" y="163203"/>
                    <a:pt x="987964" y="178849"/>
                    <a:pt x="976428" y="190385"/>
                  </a:cubicBezTo>
                  <a:cubicBezTo>
                    <a:pt x="964893" y="201921"/>
                    <a:pt x="949247" y="208401"/>
                    <a:pt x="932933" y="208401"/>
                  </a:cubicBezTo>
                  <a:lnTo>
                    <a:pt x="61512" y="208401"/>
                  </a:lnTo>
                  <a:cubicBezTo>
                    <a:pt x="45198" y="208401"/>
                    <a:pt x="29552" y="201921"/>
                    <a:pt x="18017" y="190385"/>
                  </a:cubicBezTo>
                  <a:cubicBezTo>
                    <a:pt x="6481" y="178849"/>
                    <a:pt x="0" y="163203"/>
                    <a:pt x="0" y="146889"/>
                  </a:cubicBezTo>
                  <a:lnTo>
                    <a:pt x="0" y="61512"/>
                  </a:lnTo>
                  <a:cubicBezTo>
                    <a:pt x="0" y="45198"/>
                    <a:pt x="6481" y="29552"/>
                    <a:pt x="18017" y="18017"/>
                  </a:cubicBezTo>
                  <a:cubicBezTo>
                    <a:pt x="29552" y="6481"/>
                    <a:pt x="45198" y="0"/>
                    <a:pt x="61512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994445" cy="2465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11631170" y="3434562"/>
            <a:ext cx="1011239" cy="1058274"/>
          </a:xfrm>
          <a:custGeom>
            <a:avLst/>
            <a:gdLst/>
            <a:ahLst/>
            <a:cxnLst/>
            <a:rect l="l" t="t" r="r" b="b"/>
            <a:pathLst>
              <a:path w="1011239" h="1058274">
                <a:moveTo>
                  <a:pt x="0" y="0"/>
                </a:moveTo>
                <a:lnTo>
                  <a:pt x="1011239" y="0"/>
                </a:lnTo>
                <a:lnTo>
                  <a:pt x="1011239" y="1058273"/>
                </a:lnTo>
                <a:lnTo>
                  <a:pt x="0" y="105827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9" name="AutoShape 29"/>
          <p:cNvSpPr/>
          <p:nvPr/>
        </p:nvSpPr>
        <p:spPr>
          <a:xfrm flipH="1" flipV="1">
            <a:off x="11424684" y="6510688"/>
            <a:ext cx="6521958" cy="0"/>
          </a:xfrm>
          <a:prstGeom prst="line">
            <a:avLst/>
          </a:prstGeom>
          <a:ln w="19050" cap="flat">
            <a:solidFill>
              <a:srgbClr val="D8D8D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Freeform 30"/>
          <p:cNvSpPr/>
          <p:nvPr/>
        </p:nvSpPr>
        <p:spPr>
          <a:xfrm>
            <a:off x="11396651" y="5050482"/>
            <a:ext cx="1163053" cy="1238904"/>
          </a:xfrm>
          <a:custGeom>
            <a:avLst/>
            <a:gdLst/>
            <a:ahLst/>
            <a:cxnLst/>
            <a:rect l="l" t="t" r="r" b="b"/>
            <a:pathLst>
              <a:path w="1163053" h="1238904">
                <a:moveTo>
                  <a:pt x="0" y="0"/>
                </a:moveTo>
                <a:lnTo>
                  <a:pt x="1163053" y="0"/>
                </a:lnTo>
                <a:lnTo>
                  <a:pt x="1163053" y="1238904"/>
                </a:lnTo>
                <a:lnTo>
                  <a:pt x="0" y="123890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31" name="AutoShape 31"/>
          <p:cNvSpPr/>
          <p:nvPr/>
        </p:nvSpPr>
        <p:spPr>
          <a:xfrm flipH="1" flipV="1">
            <a:off x="11152547" y="4655781"/>
            <a:ext cx="6833797" cy="9525"/>
          </a:xfrm>
          <a:prstGeom prst="line">
            <a:avLst/>
          </a:prstGeom>
          <a:ln w="19050" cap="flat">
            <a:solidFill>
              <a:srgbClr val="D8D8D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" name="AutoShape 32"/>
          <p:cNvSpPr/>
          <p:nvPr/>
        </p:nvSpPr>
        <p:spPr>
          <a:xfrm flipH="1">
            <a:off x="11396651" y="7776274"/>
            <a:ext cx="6589692" cy="0"/>
          </a:xfrm>
          <a:prstGeom prst="line">
            <a:avLst/>
          </a:prstGeom>
          <a:ln w="19050" cap="flat">
            <a:solidFill>
              <a:srgbClr val="D8D8D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Freeform 33"/>
          <p:cNvSpPr/>
          <p:nvPr/>
        </p:nvSpPr>
        <p:spPr>
          <a:xfrm>
            <a:off x="11308498" y="6672613"/>
            <a:ext cx="1045548" cy="963545"/>
          </a:xfrm>
          <a:custGeom>
            <a:avLst/>
            <a:gdLst/>
            <a:ahLst/>
            <a:cxnLst/>
            <a:rect l="l" t="t" r="r" b="b"/>
            <a:pathLst>
              <a:path w="1045548" h="963545">
                <a:moveTo>
                  <a:pt x="0" y="0"/>
                </a:moveTo>
                <a:lnTo>
                  <a:pt x="1045549" y="0"/>
                </a:lnTo>
                <a:lnTo>
                  <a:pt x="1045549" y="963545"/>
                </a:lnTo>
                <a:lnTo>
                  <a:pt x="0" y="96354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1464331" y="7853341"/>
            <a:ext cx="1027694" cy="1218893"/>
          </a:xfrm>
          <a:custGeom>
            <a:avLst/>
            <a:gdLst/>
            <a:ahLst/>
            <a:cxnLst/>
            <a:rect l="l" t="t" r="r" b="b"/>
            <a:pathLst>
              <a:path w="1027694" h="1218893">
                <a:moveTo>
                  <a:pt x="0" y="0"/>
                </a:moveTo>
                <a:lnTo>
                  <a:pt x="1027693" y="0"/>
                </a:lnTo>
                <a:lnTo>
                  <a:pt x="1027693" y="1218893"/>
                </a:lnTo>
                <a:lnTo>
                  <a:pt x="0" y="121889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17508506" y="504216"/>
            <a:ext cx="339563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5"/>
              </a:lnSpc>
            </a:pPr>
            <a:r>
              <a:rPr lang="en-US" sz="2612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26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21132" y="384585"/>
            <a:ext cx="16087478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4"/>
              </a:lnSpc>
            </a:pPr>
            <a:r>
              <a:rPr lang="en-US" sz="6087">
                <a:solidFill>
                  <a:srgbClr val="80808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Requete &amp; Réponse en </a:t>
            </a:r>
            <a:r>
              <a:rPr lang="en-US" sz="6087">
                <a:solidFill>
                  <a:srgbClr val="24AE2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Node.js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056144" y="2304079"/>
            <a:ext cx="248156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9F9F9"/>
                </a:solidFill>
                <a:latin typeface="Open Sans"/>
                <a:ea typeface="Open Sans"/>
                <a:cs typeface="Open Sans"/>
                <a:sym typeface="Open Sans"/>
              </a:rPr>
              <a:t>REQUEST(req)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21132" y="3667689"/>
            <a:ext cx="5775518" cy="534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2"/>
              </a:lnSpc>
            </a:pPr>
            <a:r>
              <a:rPr lang="en-US" sz="3137" b="1">
                <a:solidFill>
                  <a:srgbClr val="0CC0DF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Méthode HTTP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875649" y="4174451"/>
            <a:ext cx="3890665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GET,POST,PUT,DELETE..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09297" y="5169999"/>
            <a:ext cx="5775518" cy="534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2"/>
              </a:lnSpc>
            </a:pPr>
            <a:r>
              <a:rPr lang="en-US" sz="3137" b="1">
                <a:solidFill>
                  <a:srgbClr val="0CC0DF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URL Demendée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736693" y="5647718"/>
            <a:ext cx="4315718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 chemin de la ressource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-237814" y="6299793"/>
            <a:ext cx="5775518" cy="534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2"/>
              </a:lnSpc>
            </a:pPr>
            <a:r>
              <a:rPr lang="en-US" sz="3137" b="1">
                <a:solidFill>
                  <a:srgbClr val="0CC0DF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Headers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703108" y="6806088"/>
            <a:ext cx="395783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information sur le client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-478727" y="7383209"/>
            <a:ext cx="5775518" cy="534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2"/>
              </a:lnSpc>
            </a:pPr>
            <a:r>
              <a:rPr lang="en-US" sz="3137" b="1">
                <a:solidFill>
                  <a:srgbClr val="0CC0DF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Body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758214" y="7859523"/>
            <a:ext cx="507742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Données envoyées(pour PUT...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3216340" y="2009439"/>
            <a:ext cx="302260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9F9F9"/>
                </a:solidFill>
                <a:latin typeface="Open Sans"/>
                <a:ea typeface="Open Sans"/>
                <a:cs typeface="Open Sans"/>
                <a:sym typeface="Open Sans"/>
              </a:rPr>
              <a:t>RESPONSE(res)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705785" y="3428829"/>
            <a:ext cx="5775518" cy="534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2"/>
              </a:lnSpc>
            </a:pPr>
            <a:r>
              <a:rPr lang="en-US" sz="3137" b="1">
                <a:solidFill>
                  <a:srgbClr val="FF3131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construire la réponse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2642409" y="3962361"/>
            <a:ext cx="3302397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Préparer le contenu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631170" y="4894414"/>
            <a:ext cx="5775518" cy="534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2"/>
              </a:lnSpc>
            </a:pPr>
            <a:r>
              <a:rPr lang="en-US" sz="3137" b="1">
                <a:solidFill>
                  <a:srgbClr val="FF3131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Status(code HTTP)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559704" y="5372133"/>
            <a:ext cx="3862487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200(ok) ,404(not found)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,505 server error)..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631170" y="6615463"/>
            <a:ext cx="5775518" cy="534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2"/>
              </a:lnSpc>
            </a:pPr>
            <a:r>
              <a:rPr lang="en-US" sz="3137" b="1">
                <a:solidFill>
                  <a:srgbClr val="FF3131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Envoyer les données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2642409" y="7133019"/>
            <a:ext cx="34485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JSON, HTML, Text,etc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2136790" y="7923463"/>
            <a:ext cx="5117652" cy="470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91"/>
              </a:lnSpc>
            </a:pPr>
            <a:r>
              <a:rPr lang="en-US" sz="2779" b="1">
                <a:solidFill>
                  <a:srgbClr val="FF3131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Terminer la réponse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3285496" y="8537267"/>
            <a:ext cx="245834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Fin de réponce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052774" y="9148434"/>
            <a:ext cx="14618097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→</a:t>
            </a:r>
            <a:r>
              <a:rPr lang="en-US" sz="26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Chaque requête (req) est traitée par le serveur, qui renvoie une réponse (res) adaptée.</a:t>
            </a: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4007653" y="8198653"/>
            <a:ext cx="1128703" cy="3048000"/>
            <a:chOff x="0" y="0"/>
            <a:chExt cx="1504937" cy="406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77933C"/>
            </a:solidFill>
          </p:spPr>
        </p:sp>
      </p:grpSp>
      <p:grpSp>
        <p:nvGrpSpPr>
          <p:cNvPr id="4" name="Group 4"/>
          <p:cNvGrpSpPr/>
          <p:nvPr/>
        </p:nvGrpSpPr>
        <p:grpSpPr>
          <a:xfrm rot="-5400000">
            <a:off x="7055653" y="8198644"/>
            <a:ext cx="1128703" cy="3048000"/>
            <a:chOff x="0" y="0"/>
            <a:chExt cx="1504937" cy="406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6" name="Group 6"/>
          <p:cNvGrpSpPr/>
          <p:nvPr/>
        </p:nvGrpSpPr>
        <p:grpSpPr>
          <a:xfrm rot="-5400000">
            <a:off x="10103644" y="8198644"/>
            <a:ext cx="1128703" cy="3048000"/>
            <a:chOff x="0" y="0"/>
            <a:chExt cx="1504937" cy="4064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9BBB59"/>
            </a:solidFill>
          </p:spPr>
        </p:sp>
      </p:grpSp>
      <p:grpSp>
        <p:nvGrpSpPr>
          <p:cNvPr id="8" name="Group 8"/>
          <p:cNvGrpSpPr/>
          <p:nvPr/>
        </p:nvGrpSpPr>
        <p:grpSpPr>
          <a:xfrm rot="-5400000">
            <a:off x="13151644" y="8198644"/>
            <a:ext cx="1128712" cy="3048000"/>
            <a:chOff x="0" y="0"/>
            <a:chExt cx="1504950" cy="4064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ACC777"/>
            </a:solidFill>
          </p:spPr>
        </p:sp>
      </p:grpSp>
      <p:grpSp>
        <p:nvGrpSpPr>
          <p:cNvPr id="10" name="Group 10"/>
          <p:cNvGrpSpPr/>
          <p:nvPr/>
        </p:nvGrpSpPr>
        <p:grpSpPr>
          <a:xfrm rot="-5400000">
            <a:off x="16199653" y="8198653"/>
            <a:ext cx="1128703" cy="3048000"/>
            <a:chOff x="0" y="0"/>
            <a:chExt cx="1504937" cy="4064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C0D498"/>
            </a:solidFill>
          </p:spPr>
        </p:sp>
      </p:grpSp>
      <p:grpSp>
        <p:nvGrpSpPr>
          <p:cNvPr id="12" name="Group 12"/>
          <p:cNvGrpSpPr/>
          <p:nvPr/>
        </p:nvGrpSpPr>
        <p:grpSpPr>
          <a:xfrm rot="-5400000">
            <a:off x="273844" y="7512844"/>
            <a:ext cx="2500312" cy="3048000"/>
            <a:chOff x="0" y="0"/>
            <a:chExt cx="3333750" cy="4064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333750" cy="4064000"/>
            </a:xfrm>
            <a:custGeom>
              <a:avLst/>
              <a:gdLst/>
              <a:ahLst/>
              <a:cxnLst/>
              <a:rect l="l" t="t" r="r" b="b"/>
              <a:pathLst>
                <a:path w="3333750" h="4064000">
                  <a:moveTo>
                    <a:pt x="0" y="0"/>
                  </a:moveTo>
                  <a:lnTo>
                    <a:pt x="3333750" y="0"/>
                  </a:lnTo>
                  <a:lnTo>
                    <a:pt x="33337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D0DFB3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2" y="1010493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1"/>
                </a:lnTo>
                <a:lnTo>
                  <a:pt x="0" y="201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970502" y="8449732"/>
            <a:ext cx="1106995" cy="1106453"/>
          </a:xfrm>
          <a:custGeom>
            <a:avLst/>
            <a:gdLst/>
            <a:ahLst/>
            <a:cxnLst/>
            <a:rect l="l" t="t" r="r" b="b"/>
            <a:pathLst>
              <a:path w="1106995" h="1106453">
                <a:moveTo>
                  <a:pt x="0" y="0"/>
                </a:moveTo>
                <a:lnTo>
                  <a:pt x="1106996" y="0"/>
                </a:lnTo>
                <a:lnTo>
                  <a:pt x="1106996" y="1106453"/>
                </a:lnTo>
                <a:lnTo>
                  <a:pt x="0" y="11064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AutoShape 16"/>
          <p:cNvSpPr/>
          <p:nvPr/>
        </p:nvSpPr>
        <p:spPr>
          <a:xfrm rot="10680">
            <a:off x="1502302" y="7124109"/>
            <a:ext cx="7653623" cy="0"/>
          </a:xfrm>
          <a:prstGeom prst="line">
            <a:avLst/>
          </a:prstGeom>
          <a:ln w="9525" cap="rnd">
            <a:solidFill>
              <a:srgbClr val="D0DFB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 rot="5279820">
            <a:off x="1173509" y="7453312"/>
            <a:ext cx="681457" cy="0"/>
          </a:xfrm>
          <a:prstGeom prst="line">
            <a:avLst/>
          </a:prstGeom>
          <a:ln w="9525" cap="rnd">
            <a:solidFill>
              <a:srgbClr val="D0DFB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 rot="5333880">
            <a:off x="8525056" y="6531473"/>
            <a:ext cx="1237888" cy="0"/>
          </a:xfrm>
          <a:prstGeom prst="line">
            <a:avLst/>
          </a:prstGeom>
          <a:ln w="9525" cap="rnd">
            <a:solidFill>
              <a:srgbClr val="D0DFB3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9" name="Freeform 19"/>
          <p:cNvSpPr/>
          <p:nvPr/>
        </p:nvSpPr>
        <p:spPr>
          <a:xfrm>
            <a:off x="684952" y="8134470"/>
            <a:ext cx="1634751" cy="1588174"/>
          </a:xfrm>
          <a:custGeom>
            <a:avLst/>
            <a:gdLst/>
            <a:ahLst/>
            <a:cxnLst/>
            <a:rect l="l" t="t" r="r" b="b"/>
            <a:pathLst>
              <a:path w="1634751" h="1588174">
                <a:moveTo>
                  <a:pt x="0" y="0"/>
                </a:moveTo>
                <a:lnTo>
                  <a:pt x="1634751" y="0"/>
                </a:lnTo>
                <a:lnTo>
                  <a:pt x="1634751" y="1588174"/>
                </a:lnTo>
                <a:lnTo>
                  <a:pt x="0" y="15881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2932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6481834" y="4220873"/>
            <a:ext cx="5715496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URL &amp; Routage</a:t>
            </a: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018610" y="601058"/>
            <a:ext cx="4202212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  <a:spcBef>
                <a:spcPct val="0"/>
              </a:spcBef>
            </a:pPr>
            <a:r>
              <a:rPr lang="en-US" sz="3900" b="1">
                <a:solidFill>
                  <a:srgbClr val="000000"/>
                </a:solidFill>
                <a:latin typeface="Geometrica Sans Bold"/>
                <a:ea typeface="Geometrica Sans Bold"/>
                <a:cs typeface="Geometrica Sans Bold"/>
                <a:sym typeface="Geometrica Sans Bold"/>
              </a:rPr>
              <a:t>Anatomie d’une URL.</a:t>
            </a:r>
          </a:p>
        </p:txBody>
      </p:sp>
      <p:sp>
        <p:nvSpPr>
          <p:cNvPr id="3" name="Freeform 3"/>
          <p:cNvSpPr/>
          <p:nvPr/>
        </p:nvSpPr>
        <p:spPr>
          <a:xfrm>
            <a:off x="8668502" y="3157052"/>
            <a:ext cx="1019032" cy="1019032"/>
          </a:xfrm>
          <a:custGeom>
            <a:avLst/>
            <a:gdLst/>
            <a:ahLst/>
            <a:cxnLst/>
            <a:rect l="l" t="t" r="r" b="b"/>
            <a:pathLst>
              <a:path w="1019032" h="1019032">
                <a:moveTo>
                  <a:pt x="0" y="0"/>
                </a:moveTo>
                <a:lnTo>
                  <a:pt x="1019033" y="0"/>
                </a:lnTo>
                <a:lnTo>
                  <a:pt x="1019033" y="1019032"/>
                </a:lnTo>
                <a:lnTo>
                  <a:pt x="0" y="1019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673045" y="5197077"/>
            <a:ext cx="6114601" cy="2929296"/>
          </a:xfrm>
          <a:custGeom>
            <a:avLst/>
            <a:gdLst/>
            <a:ahLst/>
            <a:cxnLst/>
            <a:rect l="l" t="t" r="r" b="b"/>
            <a:pathLst>
              <a:path w="6114601" h="2929296">
                <a:moveTo>
                  <a:pt x="0" y="0"/>
                </a:moveTo>
                <a:lnTo>
                  <a:pt x="6114601" y="0"/>
                </a:lnTo>
                <a:lnTo>
                  <a:pt x="6114601" y="2929295"/>
                </a:lnTo>
                <a:lnTo>
                  <a:pt x="0" y="29292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1361" r="-100856" b="-206958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" y="1839308"/>
            <a:ext cx="6067720" cy="2929296"/>
          </a:xfrm>
          <a:custGeom>
            <a:avLst/>
            <a:gdLst/>
            <a:ahLst/>
            <a:cxnLst/>
            <a:rect l="l" t="t" r="r" b="b"/>
            <a:pathLst>
              <a:path w="6067720" h="2929296">
                <a:moveTo>
                  <a:pt x="0" y="0"/>
                </a:moveTo>
                <a:lnTo>
                  <a:pt x="6067721" y="0"/>
                </a:lnTo>
                <a:lnTo>
                  <a:pt x="6067721" y="2929295"/>
                </a:lnTo>
                <a:lnTo>
                  <a:pt x="0" y="29292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1361" r="-102408" b="-206958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-28574" y="2289499"/>
            <a:ext cx="6114601" cy="511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22982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PROTOCOLE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626" y="3259453"/>
            <a:ext cx="6000301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http:// ou https://. Définit comment le client et le serveur communiquent.</a:t>
            </a:r>
          </a:p>
        </p:txBody>
      </p:sp>
      <p:sp>
        <p:nvSpPr>
          <p:cNvPr id="8" name="Freeform 8"/>
          <p:cNvSpPr/>
          <p:nvPr/>
        </p:nvSpPr>
        <p:spPr>
          <a:xfrm>
            <a:off x="9687535" y="5059242"/>
            <a:ext cx="6010753" cy="2929296"/>
          </a:xfrm>
          <a:custGeom>
            <a:avLst/>
            <a:gdLst/>
            <a:ahLst/>
            <a:cxnLst/>
            <a:rect l="l" t="t" r="r" b="b"/>
            <a:pathLst>
              <a:path w="6010753" h="2929296">
                <a:moveTo>
                  <a:pt x="0" y="0"/>
                </a:moveTo>
                <a:lnTo>
                  <a:pt x="6010753" y="0"/>
                </a:lnTo>
                <a:lnTo>
                  <a:pt x="6010753" y="2929296"/>
                </a:lnTo>
                <a:lnTo>
                  <a:pt x="0" y="2929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1361" r="-104326" b="-206958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553902" y="5216278"/>
            <a:ext cx="6114601" cy="51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22982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PATHNAME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73045" y="6623624"/>
            <a:ext cx="6114601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Chemin vers la ressource (/users/42)</a:t>
            </a:r>
          </a:p>
        </p:txBody>
      </p:sp>
      <p:sp>
        <p:nvSpPr>
          <p:cNvPr id="11" name="Freeform 11"/>
          <p:cNvSpPr/>
          <p:nvPr/>
        </p:nvSpPr>
        <p:spPr>
          <a:xfrm>
            <a:off x="6114602" y="1839308"/>
            <a:ext cx="6077245" cy="2929296"/>
          </a:xfrm>
          <a:custGeom>
            <a:avLst/>
            <a:gdLst/>
            <a:ahLst/>
            <a:cxnLst/>
            <a:rect l="l" t="t" r="r" b="b"/>
            <a:pathLst>
              <a:path w="6077245" h="2929296">
                <a:moveTo>
                  <a:pt x="0" y="0"/>
                </a:moveTo>
                <a:lnTo>
                  <a:pt x="6077246" y="0"/>
                </a:lnTo>
                <a:lnTo>
                  <a:pt x="6077246" y="2929295"/>
                </a:lnTo>
                <a:lnTo>
                  <a:pt x="0" y="29292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1010" r="-102293" b="-207697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077247" y="2297754"/>
            <a:ext cx="6114601" cy="511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22982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HÔTE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181095" y="3118952"/>
            <a:ext cx="5877243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example.com — le nom de domaine ou l’adresse IP du serveur cible.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87535" y="5359153"/>
            <a:ext cx="6114601" cy="51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22982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QUERY STRING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47911" y="6456302"/>
            <a:ext cx="6054224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Paramètres optionnels (?sort=asc)</a:t>
            </a:r>
          </a:p>
        </p:txBody>
      </p:sp>
      <p:sp>
        <p:nvSpPr>
          <p:cNvPr id="16" name="Freeform 16"/>
          <p:cNvSpPr/>
          <p:nvPr/>
        </p:nvSpPr>
        <p:spPr>
          <a:xfrm>
            <a:off x="12244844" y="1839308"/>
            <a:ext cx="6043005" cy="2916491"/>
          </a:xfrm>
          <a:custGeom>
            <a:avLst/>
            <a:gdLst/>
            <a:ahLst/>
            <a:cxnLst/>
            <a:rect l="l" t="t" r="r" b="b"/>
            <a:pathLst>
              <a:path w="6043005" h="2916491">
                <a:moveTo>
                  <a:pt x="0" y="0"/>
                </a:moveTo>
                <a:lnTo>
                  <a:pt x="6043005" y="0"/>
                </a:lnTo>
                <a:lnTo>
                  <a:pt x="6043005" y="2916490"/>
                </a:lnTo>
                <a:lnTo>
                  <a:pt x="0" y="2916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84" t="-82484" r="-102051" b="-207540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2263445" y="2297754"/>
            <a:ext cx="6043005" cy="511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22982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PORT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52663" y="3131509"/>
            <a:ext cx="5777533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:3000. Le point d’entrée réseau. 80 par défaut en HTTP, 443 en HTTPS.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15992" y="8516746"/>
            <a:ext cx="16943308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→  Chaque partie de</a:t>
            </a:r>
            <a:r>
              <a:rPr lang="en-US" sz="2399" b="1">
                <a:solidFill>
                  <a:srgbClr val="FB443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l’URL</a:t>
            </a:r>
            <a:r>
              <a:rPr lang="en-US" sz="23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joue un rôle clé dans la </a:t>
            </a:r>
            <a:r>
              <a:rPr lang="en-US" sz="2399" b="1">
                <a:solidFill>
                  <a:srgbClr val="38B6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communication </a:t>
            </a:r>
            <a:r>
              <a:rPr lang="en-US" sz="23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entre le </a:t>
            </a:r>
            <a:r>
              <a:rPr lang="en-US" sz="2399" b="1">
                <a:solidFill>
                  <a:srgbClr val="FF66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client </a:t>
            </a:r>
            <a:r>
              <a:rPr lang="en-US" sz="23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et le </a:t>
            </a:r>
            <a:r>
              <a:rPr lang="en-US" sz="2399" b="1">
                <a:solidFill>
                  <a:srgbClr val="FF66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serveur</a:t>
            </a:r>
            <a:r>
              <a:rPr lang="en-US" sz="23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endParaRPr lang="en-US" sz="2399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17431750" y="455790"/>
            <a:ext cx="416328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28</a:t>
            </a: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 rot="110880">
            <a:off x="819388" y="9779260"/>
            <a:ext cx="590855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521132" y="1626060"/>
            <a:ext cx="8086416" cy="7653215"/>
          </a:xfrm>
          <a:custGeom>
            <a:avLst/>
            <a:gdLst/>
            <a:ahLst/>
            <a:cxnLst/>
            <a:rect l="l" t="t" r="r" b="b"/>
            <a:pathLst>
              <a:path w="8086416" h="7653215">
                <a:moveTo>
                  <a:pt x="0" y="0"/>
                </a:moveTo>
                <a:lnTo>
                  <a:pt x="8086416" y="0"/>
                </a:lnTo>
                <a:lnTo>
                  <a:pt x="8086416" y="7653215"/>
                </a:lnTo>
                <a:lnTo>
                  <a:pt x="0" y="76532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9144000" y="2366567"/>
            <a:ext cx="8495909" cy="3086100"/>
            <a:chOff x="0" y="0"/>
            <a:chExt cx="2237606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37606" cy="812800"/>
            </a:xfrm>
            <a:custGeom>
              <a:avLst/>
              <a:gdLst/>
              <a:ahLst/>
              <a:cxnLst/>
              <a:rect l="l" t="t" r="r" b="b"/>
              <a:pathLst>
                <a:path w="2237606" h="812800">
                  <a:moveTo>
                    <a:pt x="30983" y="0"/>
                  </a:moveTo>
                  <a:lnTo>
                    <a:pt x="2206623" y="0"/>
                  </a:lnTo>
                  <a:cubicBezTo>
                    <a:pt x="2214840" y="0"/>
                    <a:pt x="2222721" y="3264"/>
                    <a:pt x="2228531" y="9075"/>
                  </a:cubicBezTo>
                  <a:cubicBezTo>
                    <a:pt x="2234342" y="14885"/>
                    <a:pt x="2237606" y="22765"/>
                    <a:pt x="2237606" y="30983"/>
                  </a:cubicBezTo>
                  <a:lnTo>
                    <a:pt x="2237606" y="781817"/>
                  </a:lnTo>
                  <a:cubicBezTo>
                    <a:pt x="2237606" y="798929"/>
                    <a:pt x="2223734" y="812800"/>
                    <a:pt x="2206623" y="812800"/>
                  </a:cubicBezTo>
                  <a:lnTo>
                    <a:pt x="30983" y="812800"/>
                  </a:lnTo>
                  <a:cubicBezTo>
                    <a:pt x="13871" y="812800"/>
                    <a:pt x="0" y="798929"/>
                    <a:pt x="0" y="781817"/>
                  </a:cubicBezTo>
                  <a:lnTo>
                    <a:pt x="0" y="30983"/>
                  </a:lnTo>
                  <a:cubicBezTo>
                    <a:pt x="0" y="13871"/>
                    <a:pt x="13871" y="0"/>
                    <a:pt x="3098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9D9D9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144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237606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9606738" y="2366567"/>
            <a:ext cx="771251" cy="862360"/>
          </a:xfrm>
          <a:custGeom>
            <a:avLst/>
            <a:gdLst/>
            <a:ahLst/>
            <a:cxnLst/>
            <a:rect l="l" t="t" r="r" b="b"/>
            <a:pathLst>
              <a:path w="771251" h="862360">
                <a:moveTo>
                  <a:pt x="0" y="0"/>
                </a:moveTo>
                <a:lnTo>
                  <a:pt x="771250" y="0"/>
                </a:lnTo>
                <a:lnTo>
                  <a:pt x="771250" y="862360"/>
                </a:lnTo>
                <a:lnTo>
                  <a:pt x="0" y="8623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9486502" y="6365494"/>
            <a:ext cx="7266937" cy="3815142"/>
          </a:xfrm>
          <a:custGeom>
            <a:avLst/>
            <a:gdLst/>
            <a:ahLst/>
            <a:cxnLst/>
            <a:rect l="l" t="t" r="r" b="b"/>
            <a:pathLst>
              <a:path w="7266937" h="3815142">
                <a:moveTo>
                  <a:pt x="0" y="0"/>
                </a:moveTo>
                <a:lnTo>
                  <a:pt x="7266937" y="0"/>
                </a:lnTo>
                <a:lnTo>
                  <a:pt x="7266937" y="3815142"/>
                </a:lnTo>
                <a:lnTo>
                  <a:pt x="0" y="381514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9606738" y="5538392"/>
            <a:ext cx="624925" cy="731852"/>
          </a:xfrm>
          <a:custGeom>
            <a:avLst/>
            <a:gdLst/>
            <a:ahLst/>
            <a:cxnLst/>
            <a:rect l="l" t="t" r="r" b="b"/>
            <a:pathLst>
              <a:path w="624925" h="731852">
                <a:moveTo>
                  <a:pt x="0" y="0"/>
                </a:moveTo>
                <a:lnTo>
                  <a:pt x="624925" y="0"/>
                </a:lnTo>
                <a:lnTo>
                  <a:pt x="624925" y="731852"/>
                </a:lnTo>
                <a:lnTo>
                  <a:pt x="0" y="7318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7431750" y="455790"/>
            <a:ext cx="416328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29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32970" y="624602"/>
            <a:ext cx="9022060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  <a:spcBef>
                <a:spcPct val="0"/>
              </a:spcBef>
            </a:pPr>
            <a:r>
              <a:rPr lang="en-US" sz="39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Routage basique avec req.method et req.url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06738" y="3305175"/>
            <a:ext cx="7652562" cy="183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F2346"/>
                </a:solidFill>
                <a:latin typeface="DM Sans"/>
                <a:ea typeface="DM Sans"/>
                <a:cs typeface="DM Sans"/>
                <a:sym typeface="DM Sans"/>
              </a:rPr>
              <a:t>On utilise </a:t>
            </a:r>
            <a:r>
              <a:rPr lang="en-US" sz="3000">
                <a:solidFill>
                  <a:srgbClr val="CC0066"/>
                </a:solidFill>
                <a:latin typeface="DM Sans"/>
                <a:ea typeface="DM Sans"/>
                <a:cs typeface="DM Sans"/>
                <a:sym typeface="DM Sans"/>
              </a:rPr>
              <a:t>req.method</a:t>
            </a:r>
            <a:r>
              <a:rPr lang="en-US" sz="3000">
                <a:solidFill>
                  <a:srgbClr val="0F2346"/>
                </a:solidFill>
                <a:latin typeface="DM Sans"/>
                <a:ea typeface="DM Sans"/>
                <a:cs typeface="DM Sans"/>
                <a:sym typeface="DM Sans"/>
              </a:rPr>
              <a:t> et </a:t>
            </a:r>
            <a:r>
              <a:rPr lang="en-US" sz="3000">
                <a:solidFill>
                  <a:srgbClr val="CC0066"/>
                </a:solidFill>
                <a:latin typeface="DM Sans"/>
                <a:ea typeface="DM Sans"/>
                <a:cs typeface="DM Sans"/>
                <a:sym typeface="DM Sans"/>
              </a:rPr>
              <a:t>req.url</a:t>
            </a:r>
            <a:r>
              <a:rPr lang="en-US" sz="3000">
                <a:solidFill>
                  <a:srgbClr val="0F2346"/>
                </a:solidFill>
                <a:latin typeface="DM Sans"/>
                <a:ea typeface="DM Sans"/>
                <a:cs typeface="DM Sans"/>
                <a:sym typeface="DM Sans"/>
              </a:rPr>
              <a:t> pour diriger chaque requête vers la bonne logique. Chaque condition correspond à une </a:t>
            </a:r>
            <a:r>
              <a:rPr lang="en-US" sz="3000">
                <a:solidFill>
                  <a:srgbClr val="30B695"/>
                </a:solidFill>
                <a:latin typeface="DM Sans"/>
                <a:ea typeface="DM Sans"/>
                <a:cs typeface="DM Sans"/>
                <a:sym typeface="DM Sans"/>
              </a:rPr>
              <a:t>route </a:t>
            </a:r>
            <a:r>
              <a:rPr lang="en-US" sz="3000">
                <a:solidFill>
                  <a:srgbClr val="0F2346"/>
                </a:solidFill>
                <a:latin typeface="DM Sans"/>
                <a:ea typeface="DM Sans"/>
                <a:cs typeface="DM Sans"/>
                <a:sym typeface="DM Sans"/>
              </a:rPr>
              <a:t>différent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16185" y="2528507"/>
            <a:ext cx="2503785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38B6FF"/>
                </a:solidFill>
                <a:latin typeface="Open Sans"/>
                <a:ea typeface="Open Sans"/>
                <a:cs typeface="Open Sans"/>
                <a:sym typeface="Open Sans"/>
              </a:rPr>
              <a:t>EXPLICATION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31662" y="5664606"/>
            <a:ext cx="3712937" cy="4317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EXEMPLE DES ROUTES</a:t>
            </a: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4007653" y="8198653"/>
            <a:ext cx="1128703" cy="3048000"/>
            <a:chOff x="0" y="0"/>
            <a:chExt cx="1504937" cy="406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77933C"/>
            </a:solidFill>
          </p:spPr>
        </p:sp>
      </p:grpSp>
      <p:grpSp>
        <p:nvGrpSpPr>
          <p:cNvPr id="4" name="Group 4"/>
          <p:cNvGrpSpPr/>
          <p:nvPr/>
        </p:nvGrpSpPr>
        <p:grpSpPr>
          <a:xfrm rot="-5400000">
            <a:off x="7055653" y="8198644"/>
            <a:ext cx="1128703" cy="3048000"/>
            <a:chOff x="0" y="0"/>
            <a:chExt cx="1504937" cy="406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6" name="Group 6"/>
          <p:cNvGrpSpPr/>
          <p:nvPr/>
        </p:nvGrpSpPr>
        <p:grpSpPr>
          <a:xfrm rot="-5400000">
            <a:off x="10103644" y="8198644"/>
            <a:ext cx="1128703" cy="3048000"/>
            <a:chOff x="0" y="0"/>
            <a:chExt cx="1504937" cy="4064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9BBB59"/>
            </a:solidFill>
          </p:spPr>
        </p:sp>
      </p:grpSp>
      <p:grpSp>
        <p:nvGrpSpPr>
          <p:cNvPr id="8" name="Group 8"/>
          <p:cNvGrpSpPr/>
          <p:nvPr/>
        </p:nvGrpSpPr>
        <p:grpSpPr>
          <a:xfrm rot="-5400000">
            <a:off x="13151644" y="8198644"/>
            <a:ext cx="1128712" cy="3048000"/>
            <a:chOff x="0" y="0"/>
            <a:chExt cx="1504950" cy="4064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ACC777"/>
            </a:solidFill>
          </p:spPr>
        </p:sp>
      </p:grpSp>
      <p:grpSp>
        <p:nvGrpSpPr>
          <p:cNvPr id="10" name="Group 10"/>
          <p:cNvGrpSpPr/>
          <p:nvPr/>
        </p:nvGrpSpPr>
        <p:grpSpPr>
          <a:xfrm rot="-5400000">
            <a:off x="16199653" y="8198653"/>
            <a:ext cx="1128703" cy="3048000"/>
            <a:chOff x="0" y="0"/>
            <a:chExt cx="1504937" cy="4064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C0D498"/>
            </a:solidFill>
          </p:spPr>
        </p:sp>
      </p:grpSp>
      <p:grpSp>
        <p:nvGrpSpPr>
          <p:cNvPr id="12" name="Group 12"/>
          <p:cNvGrpSpPr/>
          <p:nvPr/>
        </p:nvGrpSpPr>
        <p:grpSpPr>
          <a:xfrm rot="-5400000">
            <a:off x="273844" y="7512844"/>
            <a:ext cx="2500312" cy="3048000"/>
            <a:chOff x="0" y="0"/>
            <a:chExt cx="3333750" cy="4064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333750" cy="4064000"/>
            </a:xfrm>
            <a:custGeom>
              <a:avLst/>
              <a:gdLst/>
              <a:ahLst/>
              <a:cxnLst/>
              <a:rect l="l" t="t" r="r" b="b"/>
              <a:pathLst>
                <a:path w="3333750" h="4064000">
                  <a:moveTo>
                    <a:pt x="0" y="0"/>
                  </a:moveTo>
                  <a:lnTo>
                    <a:pt x="3333750" y="0"/>
                  </a:lnTo>
                  <a:lnTo>
                    <a:pt x="33337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D0DFB3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2" y="1010493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1"/>
                </a:lnTo>
                <a:lnTo>
                  <a:pt x="0" y="201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970502" y="8449732"/>
            <a:ext cx="1106995" cy="1106453"/>
          </a:xfrm>
          <a:custGeom>
            <a:avLst/>
            <a:gdLst/>
            <a:ahLst/>
            <a:cxnLst/>
            <a:rect l="l" t="t" r="r" b="b"/>
            <a:pathLst>
              <a:path w="1106995" h="1106453">
                <a:moveTo>
                  <a:pt x="0" y="0"/>
                </a:moveTo>
                <a:lnTo>
                  <a:pt x="1106996" y="0"/>
                </a:lnTo>
                <a:lnTo>
                  <a:pt x="1106996" y="1106453"/>
                </a:lnTo>
                <a:lnTo>
                  <a:pt x="0" y="11064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AutoShape 16"/>
          <p:cNvSpPr/>
          <p:nvPr/>
        </p:nvSpPr>
        <p:spPr>
          <a:xfrm rot="10680">
            <a:off x="1502302" y="7124109"/>
            <a:ext cx="7653623" cy="0"/>
          </a:xfrm>
          <a:prstGeom prst="line">
            <a:avLst/>
          </a:prstGeom>
          <a:ln w="9525" cap="rnd">
            <a:solidFill>
              <a:srgbClr val="D0DFB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 rot="5279820">
            <a:off x="1173509" y="7453312"/>
            <a:ext cx="681457" cy="0"/>
          </a:xfrm>
          <a:prstGeom prst="line">
            <a:avLst/>
          </a:prstGeom>
          <a:ln w="9525" cap="rnd">
            <a:solidFill>
              <a:srgbClr val="D0DFB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 rot="5333880">
            <a:off x="8525056" y="6531473"/>
            <a:ext cx="1237888" cy="0"/>
          </a:xfrm>
          <a:prstGeom prst="line">
            <a:avLst/>
          </a:prstGeom>
          <a:ln w="9525" cap="rnd">
            <a:solidFill>
              <a:srgbClr val="D0DFB3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9" name="Freeform 19"/>
          <p:cNvSpPr/>
          <p:nvPr/>
        </p:nvSpPr>
        <p:spPr>
          <a:xfrm>
            <a:off x="684952" y="8134470"/>
            <a:ext cx="1634751" cy="1588174"/>
          </a:xfrm>
          <a:custGeom>
            <a:avLst/>
            <a:gdLst/>
            <a:ahLst/>
            <a:cxnLst/>
            <a:rect l="l" t="t" r="r" b="b"/>
            <a:pathLst>
              <a:path w="1634751" h="1588174">
                <a:moveTo>
                  <a:pt x="0" y="0"/>
                </a:moveTo>
                <a:lnTo>
                  <a:pt x="1634751" y="0"/>
                </a:lnTo>
                <a:lnTo>
                  <a:pt x="1634751" y="1588174"/>
                </a:lnTo>
                <a:lnTo>
                  <a:pt x="0" y="15881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2932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6432731" y="4220873"/>
            <a:ext cx="5813703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Réponses HTTP</a:t>
            </a: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81295" y="610583"/>
            <a:ext cx="11876841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  <a:spcBef>
                <a:spcPct val="0"/>
              </a:spcBef>
            </a:pPr>
            <a:r>
              <a:rPr lang="en-US" sz="3900" b="1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Construire une réponse HTTP : statut, en-têtes et corps</a:t>
            </a:r>
          </a:p>
        </p:txBody>
      </p:sp>
      <p:sp>
        <p:nvSpPr>
          <p:cNvPr id="3" name="Freeform 3"/>
          <p:cNvSpPr/>
          <p:nvPr/>
        </p:nvSpPr>
        <p:spPr>
          <a:xfrm>
            <a:off x="8668502" y="3157052"/>
            <a:ext cx="1019032" cy="1019032"/>
          </a:xfrm>
          <a:custGeom>
            <a:avLst/>
            <a:gdLst/>
            <a:ahLst/>
            <a:cxnLst/>
            <a:rect l="l" t="t" r="r" b="b"/>
            <a:pathLst>
              <a:path w="1019032" h="1019032">
                <a:moveTo>
                  <a:pt x="0" y="0"/>
                </a:moveTo>
                <a:lnTo>
                  <a:pt x="1019033" y="0"/>
                </a:lnTo>
                <a:lnTo>
                  <a:pt x="1019033" y="1019032"/>
                </a:lnTo>
                <a:lnTo>
                  <a:pt x="0" y="1019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9524" y="4901650"/>
            <a:ext cx="6114601" cy="2929296"/>
          </a:xfrm>
          <a:custGeom>
            <a:avLst/>
            <a:gdLst/>
            <a:ahLst/>
            <a:cxnLst/>
            <a:rect l="l" t="t" r="r" b="b"/>
            <a:pathLst>
              <a:path w="6114601" h="2929296">
                <a:moveTo>
                  <a:pt x="0" y="0"/>
                </a:moveTo>
                <a:lnTo>
                  <a:pt x="6114601" y="0"/>
                </a:lnTo>
                <a:lnTo>
                  <a:pt x="6114601" y="2929296"/>
                </a:lnTo>
                <a:lnTo>
                  <a:pt x="0" y="2929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1361" r="-100856" b="-206958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" y="1839308"/>
            <a:ext cx="6067720" cy="2929296"/>
          </a:xfrm>
          <a:custGeom>
            <a:avLst/>
            <a:gdLst/>
            <a:ahLst/>
            <a:cxnLst/>
            <a:rect l="l" t="t" r="r" b="b"/>
            <a:pathLst>
              <a:path w="6067720" h="2929296">
                <a:moveTo>
                  <a:pt x="0" y="0"/>
                </a:moveTo>
                <a:lnTo>
                  <a:pt x="6067721" y="0"/>
                </a:lnTo>
                <a:lnTo>
                  <a:pt x="6067721" y="2929295"/>
                </a:lnTo>
                <a:lnTo>
                  <a:pt x="0" y="29292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1361" r="-102408" b="-206958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-28574" y="2289499"/>
            <a:ext cx="6114601" cy="511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22982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res.write()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-28574" y="3118952"/>
            <a:ext cx="6000301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Écrit une partie du corps de la réponse.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Peut être appelée plusieurs fois pour envoyer des données progressivement.</a:t>
            </a:r>
          </a:p>
        </p:txBody>
      </p:sp>
      <p:sp>
        <p:nvSpPr>
          <p:cNvPr id="8" name="Freeform 8"/>
          <p:cNvSpPr/>
          <p:nvPr/>
        </p:nvSpPr>
        <p:spPr>
          <a:xfrm>
            <a:off x="12191848" y="4888752"/>
            <a:ext cx="6043005" cy="2929296"/>
          </a:xfrm>
          <a:custGeom>
            <a:avLst/>
            <a:gdLst/>
            <a:ahLst/>
            <a:cxnLst/>
            <a:rect l="l" t="t" r="r" b="b"/>
            <a:pathLst>
              <a:path w="6043005" h="2929296">
                <a:moveTo>
                  <a:pt x="0" y="0"/>
                </a:moveTo>
                <a:lnTo>
                  <a:pt x="6043005" y="0"/>
                </a:lnTo>
                <a:lnTo>
                  <a:pt x="6043005" y="2929296"/>
                </a:lnTo>
                <a:lnTo>
                  <a:pt x="0" y="2929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2344" r="-104756" b="-208880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129171" y="4901650"/>
            <a:ext cx="6010753" cy="2929296"/>
          </a:xfrm>
          <a:custGeom>
            <a:avLst/>
            <a:gdLst/>
            <a:ahLst/>
            <a:cxnLst/>
            <a:rect l="l" t="t" r="r" b="b"/>
            <a:pathLst>
              <a:path w="6010753" h="2929296">
                <a:moveTo>
                  <a:pt x="0" y="0"/>
                </a:moveTo>
                <a:lnTo>
                  <a:pt x="6010753" y="0"/>
                </a:lnTo>
                <a:lnTo>
                  <a:pt x="6010753" y="2929296"/>
                </a:lnTo>
                <a:lnTo>
                  <a:pt x="0" y="2929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1361" r="-104326" b="-206958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" y="5330578"/>
            <a:ext cx="6114601" cy="51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22982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text/plain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" y="6151145"/>
            <a:ext cx="6114601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Réponse en texte brut.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Utilisé pour des messages simples, des tests ou des réponses sans mise en forme.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14602" y="1839308"/>
            <a:ext cx="6077245" cy="2929296"/>
          </a:xfrm>
          <a:custGeom>
            <a:avLst/>
            <a:gdLst/>
            <a:ahLst/>
            <a:cxnLst/>
            <a:rect l="l" t="t" r="r" b="b"/>
            <a:pathLst>
              <a:path w="6077245" h="2929296">
                <a:moveTo>
                  <a:pt x="0" y="0"/>
                </a:moveTo>
                <a:lnTo>
                  <a:pt x="6077246" y="0"/>
                </a:lnTo>
                <a:lnTo>
                  <a:pt x="6077246" y="2929295"/>
                </a:lnTo>
                <a:lnTo>
                  <a:pt x="0" y="29292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1010" r="-102293" b="-207697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077247" y="2297754"/>
            <a:ext cx="6114601" cy="511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22982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res.end()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181095" y="3118952"/>
            <a:ext cx="5877243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Termine la réponse HTTP.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Sans cet appel, le client peut rester en attente de la fin du message.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238062" y="5347088"/>
            <a:ext cx="6114601" cy="51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22982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text/html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181095" y="6151145"/>
            <a:ext cx="6054224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Réponse contenant du HTML.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Le navigateur interprète les balises et affiche une page web.</a:t>
            </a:r>
          </a:p>
        </p:txBody>
      </p:sp>
      <p:sp>
        <p:nvSpPr>
          <p:cNvPr id="17" name="Freeform 17"/>
          <p:cNvSpPr/>
          <p:nvPr/>
        </p:nvSpPr>
        <p:spPr>
          <a:xfrm>
            <a:off x="12244844" y="1839308"/>
            <a:ext cx="6043005" cy="2916491"/>
          </a:xfrm>
          <a:custGeom>
            <a:avLst/>
            <a:gdLst/>
            <a:ahLst/>
            <a:cxnLst/>
            <a:rect l="l" t="t" r="r" b="b"/>
            <a:pathLst>
              <a:path w="6043005" h="2916491">
                <a:moveTo>
                  <a:pt x="0" y="0"/>
                </a:moveTo>
                <a:lnTo>
                  <a:pt x="6043005" y="0"/>
                </a:lnTo>
                <a:lnTo>
                  <a:pt x="6043005" y="2916490"/>
                </a:lnTo>
                <a:lnTo>
                  <a:pt x="0" y="2916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84" t="-82484" r="-102051" b="-207540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2263445" y="2297754"/>
            <a:ext cx="6043005" cy="511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22982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Content-Type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352663" y="3131509"/>
            <a:ext cx="5777533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Indique au client le type de contenu retourné par le serveur : texte, HTML, JSON, image, etc.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362188" y="5308248"/>
            <a:ext cx="6043005" cy="51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22982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application/json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362188" y="6151145"/>
            <a:ext cx="5768008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Réponse au format JSON.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Très utilisé dans les APIs pour échanger des données structurées.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15992" y="8383396"/>
            <a:ext cx="16943308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C41A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→ Règle d’or : </a:t>
            </a:r>
            <a:r>
              <a:rPr lang="en-US" sz="23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définir le</a:t>
            </a:r>
            <a:r>
              <a:rPr lang="en-US" sz="2399" b="1">
                <a:solidFill>
                  <a:srgbClr val="C41A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Content-Type </a:t>
            </a:r>
            <a:r>
              <a:rPr lang="en-US" sz="23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avant d’envoyer le corps de la réponse, afin que le </a:t>
            </a:r>
            <a:r>
              <a:rPr lang="en-US" sz="2399" b="1">
                <a:solidFill>
                  <a:srgbClr val="C41A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client </a:t>
            </a:r>
            <a:r>
              <a:rPr lang="en-US" sz="23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interprète correctement les données reçues.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17431750" y="455790"/>
            <a:ext cx="416328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31</a:t>
            </a: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305238" y="5782885"/>
            <a:ext cx="782164" cy="782164"/>
            <a:chOff x="0" y="0"/>
            <a:chExt cx="1042886" cy="10428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42924" cy="1042924"/>
            </a:xfrm>
            <a:custGeom>
              <a:avLst/>
              <a:gdLst/>
              <a:ahLst/>
              <a:cxnLst/>
              <a:rect l="l" t="t" r="r" b="b"/>
              <a:pathLst>
                <a:path w="1042924" h="1042924">
                  <a:moveTo>
                    <a:pt x="390779" y="0"/>
                  </a:moveTo>
                  <a:cubicBezTo>
                    <a:pt x="1042924" y="0"/>
                    <a:pt x="1042924" y="0"/>
                    <a:pt x="1042924" y="0"/>
                  </a:cubicBezTo>
                  <a:cubicBezTo>
                    <a:pt x="1042924" y="652145"/>
                    <a:pt x="1042924" y="652145"/>
                    <a:pt x="1042924" y="652145"/>
                  </a:cubicBezTo>
                  <a:cubicBezTo>
                    <a:pt x="1042924" y="868045"/>
                    <a:pt x="868045" y="1042924"/>
                    <a:pt x="651256" y="1042924"/>
                  </a:cubicBezTo>
                  <a:cubicBezTo>
                    <a:pt x="0" y="1042924"/>
                    <a:pt x="0" y="1042924"/>
                    <a:pt x="0" y="1042924"/>
                  </a:cubicBezTo>
                  <a:cubicBezTo>
                    <a:pt x="0" y="391668"/>
                    <a:pt x="0" y="391668"/>
                    <a:pt x="0" y="391668"/>
                  </a:cubicBezTo>
                  <a:cubicBezTo>
                    <a:pt x="0" y="174879"/>
                    <a:pt x="174879" y="0"/>
                    <a:pt x="390779" y="0"/>
                  </a:cubicBezTo>
                  <a:close/>
                </a:path>
              </a:pathLst>
            </a:custGeom>
            <a:solidFill>
              <a:srgbClr val="D9D9D9">
                <a:alpha val="1961"/>
              </a:srgbClr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 rot="110880">
            <a:off x="819388" y="9779260"/>
            <a:ext cx="590855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8634489" y="3626063"/>
            <a:ext cx="1019032" cy="1019032"/>
          </a:xfrm>
          <a:custGeom>
            <a:avLst/>
            <a:gdLst/>
            <a:ahLst/>
            <a:cxnLst/>
            <a:rect l="l" t="t" r="r" b="b"/>
            <a:pathLst>
              <a:path w="1019032" h="1019032">
                <a:moveTo>
                  <a:pt x="0" y="0"/>
                </a:moveTo>
                <a:lnTo>
                  <a:pt x="1019032" y="0"/>
                </a:lnTo>
                <a:lnTo>
                  <a:pt x="1019032" y="1019032"/>
                </a:lnTo>
                <a:lnTo>
                  <a:pt x="0" y="10190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546819" y="1875871"/>
            <a:ext cx="11301259" cy="6201566"/>
          </a:xfrm>
          <a:custGeom>
            <a:avLst/>
            <a:gdLst/>
            <a:ahLst/>
            <a:cxnLst/>
            <a:rect l="l" t="t" r="r" b="b"/>
            <a:pathLst>
              <a:path w="11301259" h="6201566">
                <a:moveTo>
                  <a:pt x="0" y="0"/>
                </a:moveTo>
                <a:lnTo>
                  <a:pt x="11301259" y="0"/>
                </a:lnTo>
                <a:lnTo>
                  <a:pt x="11301259" y="6201566"/>
                </a:lnTo>
                <a:lnTo>
                  <a:pt x="0" y="62015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44326" y="789146"/>
            <a:ext cx="11180326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Envoyer une réponse JSON avec Node.js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94016" y="8454297"/>
            <a:ext cx="17699978" cy="744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2"/>
              </a:lnSpc>
              <a:spcBef>
                <a:spcPct val="0"/>
              </a:spcBef>
            </a:pPr>
            <a:r>
              <a:rPr lang="en-US" sz="2180" b="1">
                <a:solidFill>
                  <a:srgbClr val="C41A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→ JSON.stringify</a:t>
            </a:r>
            <a:r>
              <a:rPr lang="en-US" sz="21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transforme un objet JavaScript en chaîne. </a:t>
            </a:r>
            <a:r>
              <a:rPr lang="en-US" sz="2180" b="1">
                <a:solidFill>
                  <a:srgbClr val="CC2D2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→ </a:t>
            </a:r>
            <a:r>
              <a:rPr lang="en-US" sz="2180" b="1">
                <a:solidFill>
                  <a:srgbClr val="C41A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JSON.parse</a:t>
            </a:r>
            <a:r>
              <a:rPr lang="en-US" sz="21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fait l’inverse : chaîne → objet. Le pont entre JS et le monde HTTP.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8363" y="1574571"/>
            <a:ext cx="3147298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 u="sng">
                <a:solidFill>
                  <a:srgbClr val="7F7F7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EXAMPLE · exemple.js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86365" y="2228800"/>
            <a:ext cx="6392925" cy="548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endParaRPr/>
          </a:p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Ce serveur retourne une réponse au format </a:t>
            </a:r>
            <a:r>
              <a:rPr lang="en-US" sz="23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JSON</a:t>
            </a: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  <a:endParaRPr lang="en-US" sz="23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18158" lvl="1" indent="-259079" algn="l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On crée un objet JavaScript.</a:t>
            </a:r>
          </a:p>
          <a:p>
            <a:pPr marL="518158" lvl="1" indent="-259079" algn="l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On précise le type de contenu avec </a:t>
            </a:r>
            <a:r>
              <a:rPr lang="en-US" sz="23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Content-Type</a:t>
            </a: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marL="518158" lvl="1" indent="-259079" algn="l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On transforme l’objet en chaîne </a:t>
            </a:r>
            <a:r>
              <a:rPr lang="en-US" sz="23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JSON</a:t>
            </a:r>
            <a:r>
              <a:rPr lang="en-US" sz="2399">
                <a:solidFill>
                  <a:srgbClr val="C41A16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avec </a:t>
            </a:r>
            <a:r>
              <a:rPr lang="en-US" sz="23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JSON.stringify()</a:t>
            </a: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marL="518158" lvl="1" indent="-259079" algn="l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On envoie la réponse avec</a:t>
            </a:r>
            <a:r>
              <a:rPr lang="en-US" sz="2399">
                <a:solidFill>
                  <a:srgbClr val="C41A16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res.end()</a:t>
            </a: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  <a:endParaRPr lang="en-US" sz="23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À retenir :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HTTP</a:t>
            </a:r>
            <a:r>
              <a:rPr lang="en-US" sz="2399">
                <a:solidFill>
                  <a:srgbClr val="C41A16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ne transmet pas directement des objets JavaScript.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Le serveur doit les convertir en texte </a:t>
            </a:r>
            <a:r>
              <a:rPr lang="en-US" sz="23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JSON</a:t>
            </a:r>
            <a:r>
              <a:rPr lang="en-US" sz="2399">
                <a:solidFill>
                  <a:srgbClr val="C41A16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avant l’envoi.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7431750" y="455790"/>
            <a:ext cx="416328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32</a:t>
            </a: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 rot="110880">
            <a:off x="819388" y="9779260"/>
            <a:ext cx="590855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8482841" y="1555714"/>
            <a:ext cx="9639947" cy="7702586"/>
          </a:xfrm>
          <a:custGeom>
            <a:avLst/>
            <a:gdLst/>
            <a:ahLst/>
            <a:cxnLst/>
            <a:rect l="l" t="t" r="r" b="b"/>
            <a:pathLst>
              <a:path w="9639947" h="7702586">
                <a:moveTo>
                  <a:pt x="0" y="0"/>
                </a:moveTo>
                <a:lnTo>
                  <a:pt x="9639947" y="0"/>
                </a:lnTo>
                <a:lnTo>
                  <a:pt x="9639947" y="7702586"/>
                </a:lnTo>
                <a:lnTo>
                  <a:pt x="0" y="77025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1786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7431750" y="455790"/>
            <a:ext cx="416328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12318" y="624602"/>
            <a:ext cx="12232481" cy="5840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  <a:spcBef>
                <a:spcPct val="0"/>
              </a:spcBef>
            </a:pPr>
            <a:r>
              <a:rPr lang="en-US" sz="39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Lire un </a:t>
            </a:r>
            <a:r>
              <a:rPr lang="en-US" sz="39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fichier</a:t>
            </a:r>
            <a:r>
              <a:rPr lang="en-US" sz="39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HTML </a:t>
            </a:r>
            <a:r>
              <a:rPr lang="en-US" sz="39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puis</a:t>
            </a:r>
            <a:r>
              <a:rPr lang="en-US" sz="39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39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l’envoyer</a:t>
            </a:r>
            <a:r>
              <a:rPr lang="en-US" sz="39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39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comme</a:t>
            </a:r>
            <a:r>
              <a:rPr lang="en-US" sz="39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39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réponse</a:t>
            </a:r>
            <a:r>
              <a:rPr lang="en-US" sz="39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HTTP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3887" y="2451918"/>
            <a:ext cx="7651359" cy="435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Cette approche montre comment </a:t>
            </a:r>
            <a:r>
              <a:rPr lang="en-US" sz="25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Node.js</a:t>
            </a: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peut servir une page </a:t>
            </a:r>
            <a:r>
              <a:rPr lang="en-US" sz="25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HTML </a:t>
            </a: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sans framework.</a:t>
            </a:r>
          </a:p>
          <a:p>
            <a:pPr algn="l">
              <a:lnSpc>
                <a:spcPts val="3119"/>
              </a:lnSpc>
              <a:spcBef>
                <a:spcPct val="0"/>
              </a:spcBef>
            </a:pPr>
            <a:endParaRPr lang="en-US" sz="25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Le serveur :</a:t>
            </a: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reçoit une </a:t>
            </a:r>
            <a:r>
              <a:rPr lang="en-US" sz="25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requête HTTP</a:t>
            </a: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.</a:t>
            </a: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lit le fichier</a:t>
            </a:r>
            <a:r>
              <a:rPr lang="en-US" sz="2599">
                <a:solidFill>
                  <a:srgbClr val="C41A16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5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index.html</a:t>
            </a: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avec </a:t>
            </a:r>
            <a:r>
              <a:rPr lang="en-US" sz="25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fs/promises</a:t>
            </a: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.</a:t>
            </a: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précise le type de contenu : </a:t>
            </a:r>
            <a:r>
              <a:rPr lang="en-US" sz="25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text/html</a:t>
            </a: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.</a:t>
            </a: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envoie le contenu au navigateur avec </a:t>
            </a:r>
            <a:r>
              <a:rPr lang="en-US" sz="25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res.end()</a:t>
            </a: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l">
              <a:lnSpc>
                <a:spcPts val="3119"/>
              </a:lnSpc>
              <a:spcBef>
                <a:spcPct val="0"/>
              </a:spcBef>
            </a:pPr>
            <a:endParaRPr lang="en-US" sz="25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 cas d’erreur de lecture, le serveur retourne une réponse </a:t>
            </a:r>
            <a:r>
              <a:rPr lang="en-US" sz="25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500</a:t>
            </a: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273887" y="8022560"/>
            <a:ext cx="8012101" cy="1235740"/>
            <a:chOff x="0" y="0"/>
            <a:chExt cx="2110183" cy="32546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10183" cy="325462"/>
            </a:xfrm>
            <a:custGeom>
              <a:avLst/>
              <a:gdLst/>
              <a:ahLst/>
              <a:cxnLst/>
              <a:rect l="l" t="t" r="r" b="b"/>
              <a:pathLst>
                <a:path w="2110183" h="325462">
                  <a:moveTo>
                    <a:pt x="16427" y="0"/>
                  </a:moveTo>
                  <a:lnTo>
                    <a:pt x="2093756" y="0"/>
                  </a:lnTo>
                  <a:cubicBezTo>
                    <a:pt x="2102828" y="0"/>
                    <a:pt x="2110183" y="7354"/>
                    <a:pt x="2110183" y="16427"/>
                  </a:cubicBezTo>
                  <a:lnTo>
                    <a:pt x="2110183" y="309036"/>
                  </a:lnTo>
                  <a:cubicBezTo>
                    <a:pt x="2110183" y="318108"/>
                    <a:pt x="2102828" y="325462"/>
                    <a:pt x="2093756" y="325462"/>
                  </a:cubicBezTo>
                  <a:lnTo>
                    <a:pt x="16427" y="325462"/>
                  </a:lnTo>
                  <a:cubicBezTo>
                    <a:pt x="7354" y="325462"/>
                    <a:pt x="0" y="318108"/>
                    <a:pt x="0" y="309036"/>
                  </a:cubicBezTo>
                  <a:lnTo>
                    <a:pt x="0" y="16427"/>
                  </a:lnTo>
                  <a:cubicBezTo>
                    <a:pt x="0" y="7354"/>
                    <a:pt x="7354" y="0"/>
                    <a:pt x="1642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110183" cy="382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Navigateur → http://localhost:3000</a:t>
              </a:r>
            </a:p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Résultat → affichage de la page index.html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74184" y="1685898"/>
            <a:ext cx="5561529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399" b="1" u="sng">
                <a:solidFill>
                  <a:srgbClr val="5959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SERVIR UNE PAGE HTML DEPUIS UN FICHIER</a:t>
            </a: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4007653" y="8198653"/>
            <a:ext cx="1128703" cy="3048000"/>
            <a:chOff x="0" y="0"/>
            <a:chExt cx="1504937" cy="406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77933C"/>
            </a:solidFill>
          </p:spPr>
        </p:sp>
      </p:grpSp>
      <p:grpSp>
        <p:nvGrpSpPr>
          <p:cNvPr id="4" name="Group 4"/>
          <p:cNvGrpSpPr/>
          <p:nvPr/>
        </p:nvGrpSpPr>
        <p:grpSpPr>
          <a:xfrm rot="-5400000">
            <a:off x="7055653" y="8198644"/>
            <a:ext cx="1128703" cy="3048000"/>
            <a:chOff x="0" y="0"/>
            <a:chExt cx="1504937" cy="406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6" name="Group 6"/>
          <p:cNvGrpSpPr/>
          <p:nvPr/>
        </p:nvGrpSpPr>
        <p:grpSpPr>
          <a:xfrm rot="-5400000">
            <a:off x="10103644" y="8198644"/>
            <a:ext cx="1128703" cy="3048000"/>
            <a:chOff x="0" y="0"/>
            <a:chExt cx="1504937" cy="4064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9BBB59"/>
            </a:solidFill>
          </p:spPr>
        </p:sp>
      </p:grpSp>
      <p:grpSp>
        <p:nvGrpSpPr>
          <p:cNvPr id="8" name="Group 8"/>
          <p:cNvGrpSpPr/>
          <p:nvPr/>
        </p:nvGrpSpPr>
        <p:grpSpPr>
          <a:xfrm rot="-5400000">
            <a:off x="13151644" y="8198644"/>
            <a:ext cx="1128712" cy="3048000"/>
            <a:chOff x="0" y="0"/>
            <a:chExt cx="1504950" cy="4064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ACC777"/>
            </a:solidFill>
          </p:spPr>
        </p:sp>
      </p:grpSp>
      <p:grpSp>
        <p:nvGrpSpPr>
          <p:cNvPr id="10" name="Group 10"/>
          <p:cNvGrpSpPr/>
          <p:nvPr/>
        </p:nvGrpSpPr>
        <p:grpSpPr>
          <a:xfrm rot="-5400000">
            <a:off x="16199653" y="8198653"/>
            <a:ext cx="1128703" cy="3048000"/>
            <a:chOff x="0" y="0"/>
            <a:chExt cx="1504937" cy="4064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C0D498"/>
            </a:solidFill>
          </p:spPr>
        </p:sp>
      </p:grpSp>
      <p:grpSp>
        <p:nvGrpSpPr>
          <p:cNvPr id="12" name="Group 12"/>
          <p:cNvGrpSpPr/>
          <p:nvPr/>
        </p:nvGrpSpPr>
        <p:grpSpPr>
          <a:xfrm rot="-5400000">
            <a:off x="273844" y="7512844"/>
            <a:ext cx="2500312" cy="3048000"/>
            <a:chOff x="0" y="0"/>
            <a:chExt cx="3333750" cy="4064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333750" cy="4064000"/>
            </a:xfrm>
            <a:custGeom>
              <a:avLst/>
              <a:gdLst/>
              <a:ahLst/>
              <a:cxnLst/>
              <a:rect l="l" t="t" r="r" b="b"/>
              <a:pathLst>
                <a:path w="3333750" h="4064000">
                  <a:moveTo>
                    <a:pt x="0" y="0"/>
                  </a:moveTo>
                  <a:lnTo>
                    <a:pt x="3333750" y="0"/>
                  </a:lnTo>
                  <a:lnTo>
                    <a:pt x="33337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D0DFB3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2" y="1010493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1"/>
                </a:lnTo>
                <a:lnTo>
                  <a:pt x="0" y="201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970502" y="8449732"/>
            <a:ext cx="1106995" cy="1106453"/>
          </a:xfrm>
          <a:custGeom>
            <a:avLst/>
            <a:gdLst/>
            <a:ahLst/>
            <a:cxnLst/>
            <a:rect l="l" t="t" r="r" b="b"/>
            <a:pathLst>
              <a:path w="1106995" h="1106453">
                <a:moveTo>
                  <a:pt x="0" y="0"/>
                </a:moveTo>
                <a:lnTo>
                  <a:pt x="1106996" y="0"/>
                </a:lnTo>
                <a:lnTo>
                  <a:pt x="1106996" y="1106453"/>
                </a:lnTo>
                <a:lnTo>
                  <a:pt x="0" y="11064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AutoShape 16"/>
          <p:cNvSpPr/>
          <p:nvPr/>
        </p:nvSpPr>
        <p:spPr>
          <a:xfrm rot="10680">
            <a:off x="1502302" y="7124109"/>
            <a:ext cx="7653623" cy="0"/>
          </a:xfrm>
          <a:prstGeom prst="line">
            <a:avLst/>
          </a:prstGeom>
          <a:ln w="9525" cap="rnd">
            <a:solidFill>
              <a:srgbClr val="D0DFB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 rot="5279820">
            <a:off x="1173509" y="7453312"/>
            <a:ext cx="681457" cy="0"/>
          </a:xfrm>
          <a:prstGeom prst="line">
            <a:avLst/>
          </a:prstGeom>
          <a:ln w="9525" cap="rnd">
            <a:solidFill>
              <a:srgbClr val="D0DFB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 rot="5333880">
            <a:off x="8525056" y="6531473"/>
            <a:ext cx="1237888" cy="0"/>
          </a:xfrm>
          <a:prstGeom prst="line">
            <a:avLst/>
          </a:prstGeom>
          <a:ln w="9525" cap="rnd">
            <a:solidFill>
              <a:srgbClr val="D0DFB3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9" name="Freeform 19"/>
          <p:cNvSpPr/>
          <p:nvPr/>
        </p:nvSpPr>
        <p:spPr>
          <a:xfrm>
            <a:off x="684952" y="8134470"/>
            <a:ext cx="1634751" cy="1588174"/>
          </a:xfrm>
          <a:custGeom>
            <a:avLst/>
            <a:gdLst/>
            <a:ahLst/>
            <a:cxnLst/>
            <a:rect l="l" t="t" r="r" b="b"/>
            <a:pathLst>
              <a:path w="1634751" h="1588174">
                <a:moveTo>
                  <a:pt x="0" y="0"/>
                </a:moveTo>
                <a:lnTo>
                  <a:pt x="1634751" y="0"/>
                </a:lnTo>
                <a:lnTo>
                  <a:pt x="1634751" y="1588174"/>
                </a:lnTo>
                <a:lnTo>
                  <a:pt x="0" y="15881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2932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7172208" y="3583781"/>
            <a:ext cx="3919776" cy="233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Système</a:t>
            </a:r>
          </a:p>
          <a:p>
            <a:pPr algn="ctr">
              <a:lnSpc>
                <a:spcPts val="8640"/>
              </a:lnSpc>
            </a:pPr>
            <a:r>
              <a:rPr lang="en-US" sz="72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 fichiers</a:t>
            </a:r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7431750" y="455790"/>
            <a:ext cx="416328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35</a:t>
            </a:r>
          </a:p>
        </p:txBody>
      </p:sp>
      <p:sp>
        <p:nvSpPr>
          <p:cNvPr id="7" name="Freeform 7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 rot="110880">
            <a:off x="819388" y="9779260"/>
            <a:ext cx="590855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972323" y="7950060"/>
            <a:ext cx="1507969" cy="454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TIGER KIDS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72323" y="8407051"/>
            <a:ext cx="1647425" cy="291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Illustration Design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36311" y="798690"/>
            <a:ext cx="9015378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Opérations essentielles du module fs</a:t>
            </a:r>
          </a:p>
          <a:p>
            <a:pPr algn="just">
              <a:lnSpc>
                <a:spcPts val="4680"/>
              </a:lnSpc>
            </a:pPr>
            <a:endParaRPr lang="en-US" sz="3900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8668502" y="3157052"/>
            <a:ext cx="1019032" cy="1019032"/>
          </a:xfrm>
          <a:custGeom>
            <a:avLst/>
            <a:gdLst/>
            <a:ahLst/>
            <a:cxnLst/>
            <a:rect l="l" t="t" r="r" b="b"/>
            <a:pathLst>
              <a:path w="1019032" h="1019032">
                <a:moveTo>
                  <a:pt x="0" y="0"/>
                </a:moveTo>
                <a:lnTo>
                  <a:pt x="1019033" y="0"/>
                </a:lnTo>
                <a:lnTo>
                  <a:pt x="1019033" y="1019032"/>
                </a:lnTo>
                <a:lnTo>
                  <a:pt x="0" y="10190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" y="1848611"/>
            <a:ext cx="6025467" cy="2919992"/>
          </a:xfrm>
          <a:custGeom>
            <a:avLst/>
            <a:gdLst/>
            <a:ahLst/>
            <a:cxnLst/>
            <a:rect l="l" t="t" r="r" b="b"/>
            <a:pathLst>
              <a:path w="6025467" h="2919992">
                <a:moveTo>
                  <a:pt x="0" y="0"/>
                </a:moveTo>
                <a:lnTo>
                  <a:pt x="6025467" y="0"/>
                </a:lnTo>
                <a:lnTo>
                  <a:pt x="6025467" y="2919992"/>
                </a:lnTo>
                <a:lnTo>
                  <a:pt x="0" y="29199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81939" r="-103827" b="-207617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-27897" y="2308549"/>
            <a:ext cx="6114601" cy="51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22982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readFile()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5852" y="3121984"/>
            <a:ext cx="5950851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Lit le contenu complet d’un fichier.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Adapté aux petits fichiers , pour les fichiers volumineux, les streams sont préférables.</a:t>
            </a:r>
          </a:p>
        </p:txBody>
      </p:sp>
      <p:sp>
        <p:nvSpPr>
          <p:cNvPr id="17" name="Freeform 17"/>
          <p:cNvSpPr/>
          <p:nvPr/>
        </p:nvSpPr>
        <p:spPr>
          <a:xfrm>
            <a:off x="6114602" y="4873378"/>
            <a:ext cx="6120717" cy="3119755"/>
          </a:xfrm>
          <a:custGeom>
            <a:avLst/>
            <a:gdLst/>
            <a:ahLst/>
            <a:cxnLst/>
            <a:rect l="l" t="t" r="r" b="b"/>
            <a:pathLst>
              <a:path w="6120717" h="3119755">
                <a:moveTo>
                  <a:pt x="0" y="0"/>
                </a:moveTo>
                <a:lnTo>
                  <a:pt x="6120717" y="0"/>
                </a:lnTo>
                <a:lnTo>
                  <a:pt x="6120717" y="3119755"/>
                </a:lnTo>
                <a:lnTo>
                  <a:pt x="0" y="31197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70511" r="-101779" b="-196143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" y="4873378"/>
            <a:ext cx="6025467" cy="3119755"/>
          </a:xfrm>
          <a:custGeom>
            <a:avLst/>
            <a:gdLst/>
            <a:ahLst/>
            <a:cxnLst/>
            <a:rect l="l" t="t" r="r" b="b"/>
            <a:pathLst>
              <a:path w="6025467" h="3119755">
                <a:moveTo>
                  <a:pt x="0" y="0"/>
                </a:moveTo>
                <a:lnTo>
                  <a:pt x="6025467" y="0"/>
                </a:lnTo>
                <a:lnTo>
                  <a:pt x="6025467" y="3119755"/>
                </a:lnTo>
                <a:lnTo>
                  <a:pt x="0" y="31197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580" t="-73161" r="-102450" b="-191816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" y="5330578"/>
            <a:ext cx="6114601" cy="51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22982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unlink()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" y="6141620"/>
            <a:ext cx="6114601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Supprime un fichier du système.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À utiliser avec prudence, car la suppression est définitive.</a:t>
            </a:r>
          </a:p>
        </p:txBody>
      </p:sp>
      <p:sp>
        <p:nvSpPr>
          <p:cNvPr id="21" name="Freeform 21"/>
          <p:cNvSpPr/>
          <p:nvPr/>
        </p:nvSpPr>
        <p:spPr>
          <a:xfrm>
            <a:off x="6114602" y="1848611"/>
            <a:ext cx="6120717" cy="2919992"/>
          </a:xfrm>
          <a:custGeom>
            <a:avLst/>
            <a:gdLst/>
            <a:ahLst/>
            <a:cxnLst/>
            <a:rect l="l" t="t" r="r" b="b"/>
            <a:pathLst>
              <a:path w="6120717" h="2919992">
                <a:moveTo>
                  <a:pt x="0" y="0"/>
                </a:moveTo>
                <a:lnTo>
                  <a:pt x="6120717" y="0"/>
                </a:lnTo>
                <a:lnTo>
                  <a:pt x="6120717" y="2919992"/>
                </a:lnTo>
                <a:lnTo>
                  <a:pt x="0" y="29199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81587" r="-100856" b="-208359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6120718" y="2234921"/>
            <a:ext cx="6114601" cy="51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22982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writeFile()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238062" y="3121984"/>
            <a:ext cx="5997257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Écrit du contenu dans un fichier.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Crée le fichier s’il n’existe pas et remplace son contenu s’il existe déjà.</a:t>
            </a:r>
          </a:p>
        </p:txBody>
      </p:sp>
      <p:sp>
        <p:nvSpPr>
          <p:cNvPr id="24" name="Freeform 24"/>
          <p:cNvSpPr/>
          <p:nvPr/>
        </p:nvSpPr>
        <p:spPr>
          <a:xfrm>
            <a:off x="12362188" y="4873378"/>
            <a:ext cx="5925662" cy="3119755"/>
          </a:xfrm>
          <a:custGeom>
            <a:avLst/>
            <a:gdLst/>
            <a:ahLst/>
            <a:cxnLst/>
            <a:rect l="l" t="t" r="r" b="b"/>
            <a:pathLst>
              <a:path w="5925662" h="3119755">
                <a:moveTo>
                  <a:pt x="0" y="0"/>
                </a:moveTo>
                <a:lnTo>
                  <a:pt x="5925661" y="0"/>
                </a:lnTo>
                <a:lnTo>
                  <a:pt x="5925661" y="3119755"/>
                </a:lnTo>
                <a:lnTo>
                  <a:pt x="0" y="31197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76363" r="-107468" b="-188614"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6238062" y="5347088"/>
            <a:ext cx="6114601" cy="51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22982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mkdir() / rmdir()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120718" y="6141620"/>
            <a:ext cx="6114601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Crée ou supprime un dossier.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L’option </a:t>
            </a:r>
            <a:r>
              <a:rPr lang="en-US" sz="2000" b="1">
                <a:solidFill>
                  <a:srgbClr val="C41A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recursive: true</a:t>
            </a:r>
            <a:r>
              <a:rPr lang="en-US" sz="2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permet de gérer une arborescence complète.</a:t>
            </a:r>
          </a:p>
        </p:txBody>
      </p:sp>
      <p:sp>
        <p:nvSpPr>
          <p:cNvPr id="27" name="Freeform 27"/>
          <p:cNvSpPr/>
          <p:nvPr/>
        </p:nvSpPr>
        <p:spPr>
          <a:xfrm>
            <a:off x="12362188" y="1848611"/>
            <a:ext cx="5925662" cy="2919992"/>
          </a:xfrm>
          <a:custGeom>
            <a:avLst/>
            <a:gdLst/>
            <a:ahLst/>
            <a:cxnLst/>
            <a:rect l="l" t="t" r="r" b="b"/>
            <a:pathLst>
              <a:path w="5925662" h="2919992">
                <a:moveTo>
                  <a:pt x="0" y="0"/>
                </a:moveTo>
                <a:lnTo>
                  <a:pt x="5925661" y="0"/>
                </a:lnTo>
                <a:lnTo>
                  <a:pt x="5925661" y="2919992"/>
                </a:lnTo>
                <a:lnTo>
                  <a:pt x="0" y="29199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188" t="-82704" r="-104072" b="-206852"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2263445" y="2234921"/>
            <a:ext cx="6043005" cy="51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22982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appendFile()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352663" y="3121984"/>
            <a:ext cx="5935187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Ajoute du contenu à la fin d’un fichier.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Utile pour les journaux d’activité, sans écraser les données existantes.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362188" y="5308248"/>
            <a:ext cx="6043005" cy="51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22982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readdir() / stat()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362188" y="6141620"/>
            <a:ext cx="5944262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C41A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readdir()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liste le contenu d’un dossier.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C41A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stat()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fournit des informations sur un fichier : taille, type, dates.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15992" y="8231258"/>
            <a:ext cx="17824432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 module </a:t>
            </a:r>
            <a:r>
              <a:rPr lang="en-US" sz="2299" b="1">
                <a:solidFill>
                  <a:srgbClr val="C41A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fs</a:t>
            </a:r>
            <a:r>
              <a:rPr lang="en-US" sz="22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propose trois styles d’</a:t>
            </a:r>
            <a:r>
              <a:rPr lang="en-US" sz="2299" b="1">
                <a:solidFill>
                  <a:srgbClr val="C41A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API</a:t>
            </a:r>
            <a:r>
              <a:rPr lang="en-US" sz="22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: </a:t>
            </a:r>
            <a:r>
              <a:rPr lang="en-US" sz="2299" b="1">
                <a:solidFill>
                  <a:srgbClr val="C41A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callback</a:t>
            </a:r>
            <a:r>
              <a:rPr lang="en-US" sz="22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, </a:t>
            </a:r>
            <a:r>
              <a:rPr lang="en-US" sz="2299" b="1">
                <a:solidFill>
                  <a:srgbClr val="C41A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synchrone</a:t>
            </a:r>
            <a:r>
              <a:rPr lang="en-US" sz="22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et </a:t>
            </a:r>
            <a:r>
              <a:rPr lang="en-US" sz="2299" b="1">
                <a:solidFill>
                  <a:srgbClr val="C41A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Promise</a:t>
            </a:r>
            <a:r>
              <a:rPr lang="en-US" sz="22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 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Dans une application serveur, l’API Promise </a:t>
            </a:r>
            <a:r>
              <a:rPr lang="en-US" sz="2299" b="1">
                <a:solidFill>
                  <a:srgbClr val="C41A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node:fs/promises</a:t>
            </a:r>
            <a:r>
              <a:rPr lang="en-US" sz="22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est généralement privilégiée avec </a:t>
            </a:r>
            <a:r>
              <a:rPr lang="en-US" sz="2299" b="1">
                <a:solidFill>
                  <a:srgbClr val="C41A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async/await</a:t>
            </a:r>
            <a:r>
              <a:rPr lang="en-US" sz="22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, tandis que les méthodes </a:t>
            </a:r>
            <a:r>
              <a:rPr lang="en-US" sz="2299" b="1">
                <a:solidFill>
                  <a:srgbClr val="C41A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synchrones</a:t>
            </a:r>
            <a:r>
              <a:rPr lang="en-US" sz="22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sont à éviter car elles</a:t>
            </a:r>
            <a:r>
              <a:rPr lang="en-US" sz="2299" b="1">
                <a:solidFill>
                  <a:srgbClr val="C41A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bloquent</a:t>
            </a:r>
            <a:r>
              <a:rPr lang="en-US" sz="22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l’exécution.</a:t>
            </a:r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 rot="110880">
            <a:off x="819388" y="9779260"/>
            <a:ext cx="590855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689196" y="2323545"/>
            <a:ext cx="15825627" cy="5639910"/>
          </a:xfrm>
          <a:custGeom>
            <a:avLst/>
            <a:gdLst/>
            <a:ahLst/>
            <a:cxnLst/>
            <a:rect l="l" t="t" r="r" b="b"/>
            <a:pathLst>
              <a:path w="15825627" h="5639910">
                <a:moveTo>
                  <a:pt x="0" y="0"/>
                </a:moveTo>
                <a:lnTo>
                  <a:pt x="15825627" y="0"/>
                </a:lnTo>
                <a:lnTo>
                  <a:pt x="15825627" y="5639910"/>
                </a:lnTo>
                <a:lnTo>
                  <a:pt x="0" y="56399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100" r="-4448" b="-6755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7431750" y="455790"/>
            <a:ext cx="416328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10946" y="751065"/>
            <a:ext cx="8866108" cy="629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Manipuler un fichier avec fs/promises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1132" y="1675665"/>
            <a:ext cx="5617726" cy="443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 u="sng">
                <a:solidFill>
                  <a:srgbClr val="5959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Créer, lire, compléter et supprimer un fichier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30421" y="8083289"/>
            <a:ext cx="17957579" cy="1308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Cet exemple illustre l’utilisation </a:t>
            </a:r>
            <a:r>
              <a:rPr lang="en-US" sz="2500" b="1">
                <a:solidFill>
                  <a:srgbClr val="C41A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asynchrone </a:t>
            </a:r>
            <a:r>
              <a:rPr lang="en-US" sz="25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du module </a:t>
            </a:r>
            <a:r>
              <a:rPr lang="en-US" sz="2500" b="1">
                <a:solidFill>
                  <a:srgbClr val="C41A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fs/promises</a:t>
            </a:r>
            <a:r>
              <a:rPr lang="en-US" sz="25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: création d’un fichier, ajout de contenu, lecture complète, puis suppression. Ces opérations servent de base pour comprendre la persistance simple dans </a:t>
            </a:r>
            <a:r>
              <a:rPr lang="en-US" sz="2500" b="1">
                <a:solidFill>
                  <a:srgbClr val="C41A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Node.js</a:t>
            </a:r>
            <a:r>
              <a:rPr lang="en-US" sz="25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</a:t>
            </a:r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4007653" y="8198653"/>
            <a:ext cx="1128703" cy="3048000"/>
            <a:chOff x="0" y="0"/>
            <a:chExt cx="1504937" cy="406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77933C"/>
            </a:solidFill>
          </p:spPr>
        </p:sp>
      </p:grpSp>
      <p:grpSp>
        <p:nvGrpSpPr>
          <p:cNvPr id="4" name="Group 4"/>
          <p:cNvGrpSpPr/>
          <p:nvPr/>
        </p:nvGrpSpPr>
        <p:grpSpPr>
          <a:xfrm rot="-5400000">
            <a:off x="7055653" y="8198644"/>
            <a:ext cx="1128703" cy="3048000"/>
            <a:chOff x="0" y="0"/>
            <a:chExt cx="1504937" cy="406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6" name="Group 6"/>
          <p:cNvGrpSpPr/>
          <p:nvPr/>
        </p:nvGrpSpPr>
        <p:grpSpPr>
          <a:xfrm rot="-5400000">
            <a:off x="10103644" y="8198644"/>
            <a:ext cx="1128703" cy="3048000"/>
            <a:chOff x="0" y="0"/>
            <a:chExt cx="1504937" cy="4064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9BBB59"/>
            </a:solidFill>
          </p:spPr>
        </p:sp>
      </p:grpSp>
      <p:grpSp>
        <p:nvGrpSpPr>
          <p:cNvPr id="8" name="Group 8"/>
          <p:cNvGrpSpPr/>
          <p:nvPr/>
        </p:nvGrpSpPr>
        <p:grpSpPr>
          <a:xfrm rot="-5400000">
            <a:off x="13151644" y="8198644"/>
            <a:ext cx="1128712" cy="3048000"/>
            <a:chOff x="0" y="0"/>
            <a:chExt cx="1504950" cy="4064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ACC777"/>
            </a:solidFill>
          </p:spPr>
        </p:sp>
      </p:grpSp>
      <p:grpSp>
        <p:nvGrpSpPr>
          <p:cNvPr id="10" name="Group 10"/>
          <p:cNvGrpSpPr/>
          <p:nvPr/>
        </p:nvGrpSpPr>
        <p:grpSpPr>
          <a:xfrm rot="-5400000">
            <a:off x="16199653" y="8198653"/>
            <a:ext cx="1128703" cy="3048000"/>
            <a:chOff x="0" y="0"/>
            <a:chExt cx="1504937" cy="4064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C0D498"/>
            </a:solidFill>
          </p:spPr>
        </p:sp>
      </p:grpSp>
      <p:grpSp>
        <p:nvGrpSpPr>
          <p:cNvPr id="12" name="Group 12"/>
          <p:cNvGrpSpPr/>
          <p:nvPr/>
        </p:nvGrpSpPr>
        <p:grpSpPr>
          <a:xfrm rot="-5400000">
            <a:off x="273844" y="7512844"/>
            <a:ext cx="2500312" cy="3048000"/>
            <a:chOff x="0" y="0"/>
            <a:chExt cx="3333750" cy="4064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333750" cy="4064000"/>
            </a:xfrm>
            <a:custGeom>
              <a:avLst/>
              <a:gdLst/>
              <a:ahLst/>
              <a:cxnLst/>
              <a:rect l="l" t="t" r="r" b="b"/>
              <a:pathLst>
                <a:path w="3333750" h="4064000">
                  <a:moveTo>
                    <a:pt x="0" y="0"/>
                  </a:moveTo>
                  <a:lnTo>
                    <a:pt x="3333750" y="0"/>
                  </a:lnTo>
                  <a:lnTo>
                    <a:pt x="33337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D0DFB3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2" y="1010493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1"/>
                </a:lnTo>
                <a:lnTo>
                  <a:pt x="0" y="201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970502" y="8449732"/>
            <a:ext cx="1106995" cy="1106453"/>
          </a:xfrm>
          <a:custGeom>
            <a:avLst/>
            <a:gdLst/>
            <a:ahLst/>
            <a:cxnLst/>
            <a:rect l="l" t="t" r="r" b="b"/>
            <a:pathLst>
              <a:path w="1106995" h="1106453">
                <a:moveTo>
                  <a:pt x="0" y="0"/>
                </a:moveTo>
                <a:lnTo>
                  <a:pt x="1106996" y="0"/>
                </a:lnTo>
                <a:lnTo>
                  <a:pt x="1106996" y="1106453"/>
                </a:lnTo>
                <a:lnTo>
                  <a:pt x="0" y="11064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AutoShape 16"/>
          <p:cNvSpPr/>
          <p:nvPr/>
        </p:nvSpPr>
        <p:spPr>
          <a:xfrm rot="10680">
            <a:off x="1502302" y="7124109"/>
            <a:ext cx="7653623" cy="0"/>
          </a:xfrm>
          <a:prstGeom prst="line">
            <a:avLst/>
          </a:prstGeom>
          <a:ln w="9525" cap="rnd">
            <a:solidFill>
              <a:srgbClr val="D0DFB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 rot="5279820">
            <a:off x="1173509" y="7453312"/>
            <a:ext cx="681457" cy="0"/>
          </a:xfrm>
          <a:prstGeom prst="line">
            <a:avLst/>
          </a:prstGeom>
          <a:ln w="9525" cap="rnd">
            <a:solidFill>
              <a:srgbClr val="D0DFB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 rot="5333880">
            <a:off x="8525056" y="6531473"/>
            <a:ext cx="1237888" cy="0"/>
          </a:xfrm>
          <a:prstGeom prst="line">
            <a:avLst/>
          </a:prstGeom>
          <a:ln w="9525" cap="rnd">
            <a:solidFill>
              <a:srgbClr val="D0DFB3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9" name="Freeform 19"/>
          <p:cNvSpPr/>
          <p:nvPr/>
        </p:nvSpPr>
        <p:spPr>
          <a:xfrm>
            <a:off x="684952" y="8134470"/>
            <a:ext cx="1634751" cy="1588174"/>
          </a:xfrm>
          <a:custGeom>
            <a:avLst/>
            <a:gdLst/>
            <a:ahLst/>
            <a:cxnLst/>
            <a:rect l="l" t="t" r="r" b="b"/>
            <a:pathLst>
              <a:path w="1634751" h="1588174">
                <a:moveTo>
                  <a:pt x="0" y="0"/>
                </a:moveTo>
                <a:lnTo>
                  <a:pt x="1634751" y="0"/>
                </a:lnTo>
                <a:lnTo>
                  <a:pt x="1634751" y="1588174"/>
                </a:lnTo>
                <a:lnTo>
                  <a:pt x="0" y="15881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2932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6641606" y="3583781"/>
            <a:ext cx="4980980" cy="233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L'asynchrone</a:t>
            </a:r>
          </a:p>
          <a:p>
            <a:pPr algn="ctr">
              <a:lnSpc>
                <a:spcPts val="8640"/>
              </a:lnSpc>
            </a:pPr>
            <a:r>
              <a:rPr lang="en-US" sz="72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 pratique</a:t>
            </a:r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 rot="110880">
            <a:off x="819388" y="9779260"/>
            <a:ext cx="590855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7114982" y="1680365"/>
            <a:ext cx="10871361" cy="6515100"/>
          </a:xfrm>
          <a:custGeom>
            <a:avLst/>
            <a:gdLst/>
            <a:ahLst/>
            <a:cxnLst/>
            <a:rect l="l" t="t" r="r" b="b"/>
            <a:pathLst>
              <a:path w="10871361" h="6515100">
                <a:moveTo>
                  <a:pt x="0" y="0"/>
                </a:moveTo>
                <a:lnTo>
                  <a:pt x="10871361" y="0"/>
                </a:lnTo>
                <a:lnTo>
                  <a:pt x="10871361" y="6515100"/>
                </a:lnTo>
                <a:lnTo>
                  <a:pt x="0" y="65151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44" r="-146566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7431750" y="455790"/>
            <a:ext cx="416328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38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115276" y="584378"/>
            <a:ext cx="10515124" cy="5840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  <a:spcBef>
                <a:spcPct val="0"/>
              </a:spcBef>
            </a:pPr>
            <a:r>
              <a:rPr lang="en-US" sz="39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Callbacks : </a:t>
            </a:r>
            <a:r>
              <a:rPr lang="en-US" sz="39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modèle</a:t>
            </a:r>
            <a:r>
              <a:rPr lang="en-US" sz="39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39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historique</a:t>
            </a:r>
            <a:r>
              <a:rPr lang="en-US" sz="39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de </a:t>
            </a:r>
            <a:r>
              <a:rPr lang="en-US" sz="39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l’asynchronisme</a:t>
            </a:r>
            <a:endParaRPr lang="en-US" sz="390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93436" y="1623215"/>
            <a:ext cx="6821546" cy="6572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Un </a:t>
            </a:r>
            <a:r>
              <a:rPr lang="en-US" sz="23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callback </a:t>
            </a: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est une fonction passée en argument à une opération </a:t>
            </a:r>
            <a:r>
              <a:rPr lang="en-US" sz="23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asynchrone</a:t>
            </a: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  <a:endParaRPr lang="en-US" sz="23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Dans </a:t>
            </a:r>
            <a:r>
              <a:rPr lang="en-US" sz="23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Node.js</a:t>
            </a: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il est exécuté lorsque l’opération est terminée : </a:t>
            </a:r>
            <a:r>
              <a:rPr lang="en-US" sz="23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lecture de fichier, requête réseau, accès disque, etc.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  <a:endParaRPr lang="en-US" sz="2399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La convention utilisée par </a:t>
            </a:r>
            <a:r>
              <a:rPr lang="en-US" sz="23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Node.js</a:t>
            </a: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est appelée</a:t>
            </a:r>
            <a:r>
              <a:rPr lang="en-US" sz="23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error-first callback</a:t>
            </a: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: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  <a:endParaRPr lang="en-US" sz="23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(err, result) =&gt; { ... }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  <a:endParaRPr lang="en-US" sz="2399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518158" lvl="1" indent="-259079" algn="l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err</a:t>
            </a: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contient l’erreur si l’opération échoue.</a:t>
            </a:r>
          </a:p>
          <a:p>
            <a:pPr marL="518158" lvl="1" indent="-259079" algn="l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result</a:t>
            </a: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contient le résultat si l’opération réussit.</a:t>
            </a:r>
          </a:p>
          <a:p>
            <a:pPr marL="518158" lvl="1" indent="-259079" algn="l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si aucune erreur n’a lieu, </a:t>
            </a:r>
            <a:r>
              <a:rPr lang="en-US" sz="23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err</a:t>
            </a:r>
            <a:r>
              <a:rPr lang="en-US" sz="23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vaut </a:t>
            </a:r>
            <a:r>
              <a:rPr lang="en-US" sz="23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null</a:t>
            </a: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  <a:endParaRPr lang="en-US" sz="23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Limite</a:t>
            </a: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: plusieurs </a:t>
            </a:r>
            <a:r>
              <a:rPr lang="en-US" sz="23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callbacks imbriqués</a:t>
            </a: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rendent le code difficile à lire et à maintenir.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21132" y="8572500"/>
            <a:ext cx="17465211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9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 </a:t>
            </a:r>
            <a:r>
              <a:rPr lang="en-US" sz="26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callback </a:t>
            </a:r>
            <a:r>
              <a:rPr lang="en-US" sz="26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est exécuté après la fin de l’opération asynchrone. Le thread principal peut continuer à exécuter d’autres instructions.</a:t>
            </a:r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 rot="110880">
            <a:off x="819388" y="9779260"/>
            <a:ext cx="590855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5699801" y="1420434"/>
            <a:ext cx="12431570" cy="6467377"/>
          </a:xfrm>
          <a:custGeom>
            <a:avLst/>
            <a:gdLst/>
            <a:ahLst/>
            <a:cxnLst/>
            <a:rect l="l" t="t" r="r" b="b"/>
            <a:pathLst>
              <a:path w="12431570" h="6467377">
                <a:moveTo>
                  <a:pt x="0" y="0"/>
                </a:moveTo>
                <a:lnTo>
                  <a:pt x="12431570" y="0"/>
                </a:lnTo>
                <a:lnTo>
                  <a:pt x="12431570" y="6467376"/>
                </a:lnTo>
                <a:lnTo>
                  <a:pt x="0" y="64673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315" r="-121820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7431750" y="455790"/>
            <a:ext cx="416328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39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979729" y="446265"/>
            <a:ext cx="8431471" cy="5840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  <a:spcBef>
                <a:spcPct val="0"/>
              </a:spcBef>
            </a:pPr>
            <a:r>
              <a:rPr lang="en-US" sz="39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Promises : structurer le code </a:t>
            </a:r>
            <a:r>
              <a:rPr lang="en-US" sz="39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asynchrone</a:t>
            </a:r>
            <a:endParaRPr lang="en-US" sz="390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28003" y="1508311"/>
            <a:ext cx="5371797" cy="6572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Une </a:t>
            </a:r>
            <a:r>
              <a:rPr lang="en-US" sz="23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Promise </a:t>
            </a: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représente le résultat futur d’une </a:t>
            </a:r>
            <a:r>
              <a:rPr lang="en-US" sz="23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opération asynchrone</a:t>
            </a: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  <a:endParaRPr lang="en-US" sz="23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Elle peut avoir </a:t>
            </a:r>
            <a:r>
              <a:rPr lang="en-US" sz="23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trois états</a:t>
            </a: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:</a:t>
            </a:r>
          </a:p>
          <a:p>
            <a:pPr marL="518158" lvl="1" indent="-259079" algn="l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pending</a:t>
            </a: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: opération en cours ;</a:t>
            </a:r>
          </a:p>
          <a:p>
            <a:pPr marL="518158" lvl="1" indent="-259079" algn="l">
              <a:lnSpc>
                <a:spcPts val="2879"/>
              </a:lnSpc>
              <a:buFont typeface="Arial"/>
              <a:buChar char="•"/>
            </a:pPr>
            <a:r>
              <a:rPr lang="en-US" sz="23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fulfilled</a:t>
            </a: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: opération réussie ;</a:t>
            </a:r>
          </a:p>
          <a:p>
            <a:pPr marL="518158" lvl="1" indent="-259079" algn="l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rejected </a:t>
            </a: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opération échouée.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  <a:endParaRPr lang="en-US" sz="23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Les méthodes principales sont :</a:t>
            </a:r>
          </a:p>
          <a:p>
            <a:pPr marL="518158" lvl="1" indent="-259079" algn="l">
              <a:lnSpc>
                <a:spcPts val="2879"/>
              </a:lnSpc>
              <a:buFont typeface="Arial"/>
              <a:buChar char="•"/>
            </a:pPr>
            <a:r>
              <a:rPr lang="en-US" sz="23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then()</a:t>
            </a: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: traiter le résultat en cas de succès ;</a:t>
            </a:r>
          </a:p>
          <a:p>
            <a:pPr marL="518158" lvl="1" indent="-259079" algn="l">
              <a:lnSpc>
                <a:spcPts val="2879"/>
              </a:lnSpc>
              <a:buFont typeface="Arial"/>
              <a:buChar char="•"/>
            </a:pPr>
            <a:r>
              <a:rPr lang="en-US" sz="23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catch()</a:t>
            </a: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: traiter l’erreur en cas d’échec ;</a:t>
            </a:r>
          </a:p>
          <a:p>
            <a:pPr marL="518158" lvl="1" indent="-259079" algn="l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finally()</a:t>
            </a: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: exécuter un traitement final.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  <a:endParaRPr lang="en-US" sz="23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Avantage :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Les </a:t>
            </a:r>
            <a:r>
              <a:rPr lang="en-US" sz="23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Promises</a:t>
            </a: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évitent l’</a:t>
            </a:r>
            <a:r>
              <a:rPr lang="en-US" sz="23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imbrication excessive</a:t>
            </a: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des </a:t>
            </a:r>
            <a:r>
              <a:rPr lang="en-US" sz="23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callbacks</a:t>
            </a: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et rendent le chaînage des opérations plus </a:t>
            </a:r>
            <a:r>
              <a:rPr lang="en-US" sz="23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lisible</a:t>
            </a: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0" y="8632959"/>
            <a:ext cx="17986343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9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Avec les Promises, le résultat d’une opération asynchrone est traité dans </a:t>
            </a:r>
            <a:r>
              <a:rPr lang="en-US" sz="26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then()</a:t>
            </a:r>
            <a:r>
              <a:rPr lang="en-US" sz="26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, tandis que les erreurs sont centralisées dans </a:t>
            </a:r>
            <a:r>
              <a:rPr lang="en-US" sz="26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catch()</a:t>
            </a:r>
            <a:r>
              <a:rPr lang="en-US" sz="26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302760" y="3679033"/>
            <a:ext cx="11134510" cy="5385896"/>
          </a:xfrm>
          <a:custGeom>
            <a:avLst/>
            <a:gdLst/>
            <a:ahLst/>
            <a:cxnLst/>
            <a:rect l="l" t="t" r="r" b="b"/>
            <a:pathLst>
              <a:path w="11134510" h="5385896">
                <a:moveTo>
                  <a:pt x="0" y="0"/>
                </a:moveTo>
                <a:lnTo>
                  <a:pt x="11134510" y="0"/>
                </a:lnTo>
                <a:lnTo>
                  <a:pt x="11134510" y="5385897"/>
                </a:lnTo>
                <a:lnTo>
                  <a:pt x="0" y="53858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15" r="-53836" b="-9690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7431750" y="455790"/>
            <a:ext cx="416328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99362" y="593903"/>
            <a:ext cx="8969038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async/await : </a:t>
            </a:r>
            <a:r>
              <a:rPr lang="en-US" sz="36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syntaxe</a:t>
            </a:r>
            <a:r>
              <a:rPr lang="en-US" sz="36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36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moderne</a:t>
            </a:r>
            <a:r>
              <a:rPr lang="en-US" sz="36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des Promises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0" y="1695356"/>
            <a:ext cx="18288000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500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async/await</a:t>
            </a:r>
            <a:r>
              <a:rPr lang="en-US" sz="3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permet d’écrire un traitement asynchrone avec une structure plus lisible, tout en restant basé sur les </a:t>
            </a:r>
            <a:r>
              <a:rPr lang="en-US" sz="3500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Promises</a:t>
            </a:r>
            <a:r>
              <a:rPr lang="en-US" sz="3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2940" y="3174208"/>
            <a:ext cx="3276660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 b="1" u="sng" dirty="0">
                <a:solidFill>
                  <a:srgbClr val="5959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EXAMPLE · ASYNC-AWAIT.JS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8169" y="9201150"/>
            <a:ext cx="17639909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sz="25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À retenir</a:t>
            </a:r>
            <a:r>
              <a:rPr lang="en-US" sz="25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: </a:t>
            </a:r>
            <a:r>
              <a:rPr lang="en-US" sz="25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async/await</a:t>
            </a:r>
            <a:r>
              <a:rPr lang="en-US" sz="25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ne rend pas le code synchrone. Il simplifie l’écriture du code asynchrone basé sur les</a:t>
            </a:r>
            <a:r>
              <a:rPr lang="en-US" sz="25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Promises</a:t>
            </a:r>
            <a:r>
              <a:rPr lang="en-US" sz="25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et permet de gérer les erreurs avec </a:t>
            </a:r>
            <a:r>
              <a:rPr lang="en-US" sz="25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try/catch</a:t>
            </a:r>
            <a:r>
              <a:rPr lang="en-US" sz="25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674793" y="5757619"/>
            <a:ext cx="6613207" cy="1809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8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async </a:t>
            </a:r>
            <a:r>
              <a:rPr lang="en-US" sz="2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→ déclare une fonction asynchrone.</a:t>
            </a:r>
          </a:p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8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await </a:t>
            </a:r>
            <a:r>
              <a:rPr lang="en-US" sz="2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→ attend le résultat d’une Promise.</a:t>
            </a:r>
          </a:p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sz="28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try/catch</a:t>
            </a:r>
            <a:r>
              <a:rPr lang="en-US" sz="2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→ gère les erreurs de manière structurée.</a:t>
            </a:r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4007653" y="8198653"/>
            <a:ext cx="1128703" cy="3048000"/>
            <a:chOff x="0" y="0"/>
            <a:chExt cx="1504937" cy="406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77933C"/>
            </a:solidFill>
          </p:spPr>
        </p:sp>
      </p:grpSp>
      <p:grpSp>
        <p:nvGrpSpPr>
          <p:cNvPr id="4" name="Group 4"/>
          <p:cNvGrpSpPr/>
          <p:nvPr/>
        </p:nvGrpSpPr>
        <p:grpSpPr>
          <a:xfrm rot="-5400000">
            <a:off x="7055653" y="8198644"/>
            <a:ext cx="1128703" cy="3048000"/>
            <a:chOff x="0" y="0"/>
            <a:chExt cx="1504937" cy="406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6" name="Group 6"/>
          <p:cNvGrpSpPr/>
          <p:nvPr/>
        </p:nvGrpSpPr>
        <p:grpSpPr>
          <a:xfrm rot="-5400000">
            <a:off x="10103644" y="8198644"/>
            <a:ext cx="1128703" cy="3048000"/>
            <a:chOff x="0" y="0"/>
            <a:chExt cx="1504937" cy="4064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9BBB59"/>
            </a:solidFill>
          </p:spPr>
        </p:sp>
      </p:grpSp>
      <p:grpSp>
        <p:nvGrpSpPr>
          <p:cNvPr id="8" name="Group 8"/>
          <p:cNvGrpSpPr/>
          <p:nvPr/>
        </p:nvGrpSpPr>
        <p:grpSpPr>
          <a:xfrm rot="-5400000">
            <a:off x="13151644" y="8198644"/>
            <a:ext cx="1128712" cy="3048000"/>
            <a:chOff x="0" y="0"/>
            <a:chExt cx="1504950" cy="4064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ACC777"/>
            </a:solidFill>
          </p:spPr>
        </p:sp>
      </p:grpSp>
      <p:grpSp>
        <p:nvGrpSpPr>
          <p:cNvPr id="10" name="Group 10"/>
          <p:cNvGrpSpPr/>
          <p:nvPr/>
        </p:nvGrpSpPr>
        <p:grpSpPr>
          <a:xfrm rot="-5400000">
            <a:off x="16199653" y="8198653"/>
            <a:ext cx="1128703" cy="3048000"/>
            <a:chOff x="0" y="0"/>
            <a:chExt cx="1504937" cy="4064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C0D498"/>
            </a:solidFill>
          </p:spPr>
        </p:sp>
      </p:grpSp>
      <p:grpSp>
        <p:nvGrpSpPr>
          <p:cNvPr id="12" name="Group 12"/>
          <p:cNvGrpSpPr/>
          <p:nvPr/>
        </p:nvGrpSpPr>
        <p:grpSpPr>
          <a:xfrm rot="-5400000">
            <a:off x="273844" y="7512844"/>
            <a:ext cx="2500312" cy="3048000"/>
            <a:chOff x="0" y="0"/>
            <a:chExt cx="3333750" cy="4064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333750" cy="4064000"/>
            </a:xfrm>
            <a:custGeom>
              <a:avLst/>
              <a:gdLst/>
              <a:ahLst/>
              <a:cxnLst/>
              <a:rect l="l" t="t" r="r" b="b"/>
              <a:pathLst>
                <a:path w="3333750" h="4064000">
                  <a:moveTo>
                    <a:pt x="0" y="0"/>
                  </a:moveTo>
                  <a:lnTo>
                    <a:pt x="3333750" y="0"/>
                  </a:lnTo>
                  <a:lnTo>
                    <a:pt x="33337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D0DFB3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2" y="1010493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1"/>
                </a:lnTo>
                <a:lnTo>
                  <a:pt x="0" y="201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970502" y="8449732"/>
            <a:ext cx="1106995" cy="1106453"/>
          </a:xfrm>
          <a:custGeom>
            <a:avLst/>
            <a:gdLst/>
            <a:ahLst/>
            <a:cxnLst/>
            <a:rect l="l" t="t" r="r" b="b"/>
            <a:pathLst>
              <a:path w="1106995" h="1106453">
                <a:moveTo>
                  <a:pt x="0" y="0"/>
                </a:moveTo>
                <a:lnTo>
                  <a:pt x="1106996" y="0"/>
                </a:lnTo>
                <a:lnTo>
                  <a:pt x="1106996" y="1106453"/>
                </a:lnTo>
                <a:lnTo>
                  <a:pt x="0" y="11064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AutoShape 16"/>
          <p:cNvSpPr/>
          <p:nvPr/>
        </p:nvSpPr>
        <p:spPr>
          <a:xfrm rot="10680">
            <a:off x="1502302" y="7124109"/>
            <a:ext cx="7653623" cy="0"/>
          </a:xfrm>
          <a:prstGeom prst="line">
            <a:avLst/>
          </a:prstGeom>
          <a:ln w="9525" cap="rnd">
            <a:solidFill>
              <a:srgbClr val="D0DFB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 rot="5279820">
            <a:off x="1173509" y="7453312"/>
            <a:ext cx="681457" cy="0"/>
          </a:xfrm>
          <a:prstGeom prst="line">
            <a:avLst/>
          </a:prstGeom>
          <a:ln w="9525" cap="rnd">
            <a:solidFill>
              <a:srgbClr val="D0DFB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 rot="5333880">
            <a:off x="8525056" y="6531473"/>
            <a:ext cx="1237888" cy="0"/>
          </a:xfrm>
          <a:prstGeom prst="line">
            <a:avLst/>
          </a:prstGeom>
          <a:ln w="9525" cap="rnd">
            <a:solidFill>
              <a:srgbClr val="D0DFB3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9" name="Freeform 19"/>
          <p:cNvSpPr/>
          <p:nvPr/>
        </p:nvSpPr>
        <p:spPr>
          <a:xfrm>
            <a:off x="684952" y="8134470"/>
            <a:ext cx="1634751" cy="1588174"/>
          </a:xfrm>
          <a:custGeom>
            <a:avLst/>
            <a:gdLst/>
            <a:ahLst/>
            <a:cxnLst/>
            <a:rect l="l" t="t" r="r" b="b"/>
            <a:pathLst>
              <a:path w="1634751" h="1588174">
                <a:moveTo>
                  <a:pt x="0" y="0"/>
                </a:moveTo>
                <a:lnTo>
                  <a:pt x="1634751" y="0"/>
                </a:lnTo>
                <a:lnTo>
                  <a:pt x="1634751" y="1588174"/>
                </a:lnTo>
                <a:lnTo>
                  <a:pt x="0" y="15881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2932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7300379" y="3398560"/>
            <a:ext cx="3953412" cy="2205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API CRUD</a:t>
            </a:r>
          </a:p>
          <a:p>
            <a:pPr algn="ctr">
              <a:lnSpc>
                <a:spcPts val="8640"/>
              </a:lnSpc>
            </a:pPr>
            <a:r>
              <a:rPr lang="en-US" sz="7200" b="1" dirty="0" err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complète</a:t>
            </a:r>
            <a:endParaRPr lang="en-US" sz="7200" b="1" dirty="0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7431750" y="455790"/>
            <a:ext cx="416328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42</a:t>
            </a:r>
          </a:p>
        </p:txBody>
      </p:sp>
      <p:sp>
        <p:nvSpPr>
          <p:cNvPr id="7" name="Freeform 7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 rot="110880">
            <a:off x="819388" y="9779260"/>
            <a:ext cx="590855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 flipV="1">
            <a:off x="2217063" y="2203619"/>
            <a:ext cx="2716774" cy="0"/>
          </a:xfrm>
          <a:prstGeom prst="line">
            <a:avLst/>
          </a:prstGeom>
          <a:ln w="38100" cap="flat">
            <a:solidFill>
              <a:srgbClr val="D8D8D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2186038" y="2281219"/>
            <a:ext cx="1621939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 b="1">
                <a:solidFill>
                  <a:srgbClr val="7F7F7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CREATE · POST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16247" y="2752635"/>
            <a:ext cx="3857241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sz="2599" b="1" u="sng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Créer une ressource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86038" y="3286035"/>
            <a:ext cx="6130636" cy="161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Le client envoie les données dans le corps de la requête.</a:t>
            </a:r>
          </a:p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Le serveur crée une nouvelle ressource et retourne généralement le code </a:t>
            </a:r>
            <a:r>
              <a:rPr lang="en-US" sz="2600" b="1">
                <a:solidFill>
                  <a:srgbClr val="22982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201 </a:t>
            </a:r>
            <a:r>
              <a:rPr lang="en-US" sz="2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Created.</a:t>
            </a:r>
          </a:p>
        </p:txBody>
      </p:sp>
      <p:sp>
        <p:nvSpPr>
          <p:cNvPr id="14" name="AutoShape 14"/>
          <p:cNvSpPr/>
          <p:nvPr/>
        </p:nvSpPr>
        <p:spPr>
          <a:xfrm flipV="1">
            <a:off x="11382706" y="2221142"/>
            <a:ext cx="2722294" cy="0"/>
          </a:xfrm>
          <a:prstGeom prst="line">
            <a:avLst/>
          </a:prstGeom>
          <a:ln w="38100" cap="flat">
            <a:solidFill>
              <a:srgbClr val="D8D8D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1382706" y="2265333"/>
            <a:ext cx="1881291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9"/>
              </a:lnSpc>
              <a:spcBef>
                <a:spcPct val="0"/>
              </a:spcBef>
            </a:pPr>
            <a:r>
              <a:rPr lang="en-US" sz="2124" b="1">
                <a:solidFill>
                  <a:srgbClr val="7F7F7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READ · GET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960722" y="2779683"/>
            <a:ext cx="587990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2600" b="1" u="sng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Lire une ressource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382706" y="3313083"/>
            <a:ext cx="6049044" cy="160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5"/>
              </a:lnSpc>
              <a:spcBef>
                <a:spcPct val="0"/>
              </a:spcBef>
            </a:pPr>
            <a:r>
              <a:rPr lang="en-US" sz="257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Le client demande une représentation d’une ressource.</a:t>
            </a:r>
          </a:p>
          <a:p>
            <a:pPr algn="l">
              <a:lnSpc>
                <a:spcPts val="3085"/>
              </a:lnSpc>
              <a:spcBef>
                <a:spcPct val="0"/>
              </a:spcBef>
            </a:pPr>
            <a:r>
              <a:rPr lang="en-US" sz="257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La méthode </a:t>
            </a:r>
            <a:r>
              <a:rPr lang="en-US" sz="2570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GET </a:t>
            </a:r>
            <a:r>
              <a:rPr lang="en-US" sz="257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doit être utilisée uniquement pour récupérer des données.</a:t>
            </a:r>
          </a:p>
        </p:txBody>
      </p:sp>
      <p:sp>
        <p:nvSpPr>
          <p:cNvPr id="18" name="AutoShape 18"/>
          <p:cNvSpPr/>
          <p:nvPr/>
        </p:nvSpPr>
        <p:spPr>
          <a:xfrm flipV="1">
            <a:off x="2138387" y="6472053"/>
            <a:ext cx="2795450" cy="0"/>
          </a:xfrm>
          <a:prstGeom prst="line">
            <a:avLst/>
          </a:prstGeom>
          <a:ln w="38100" cap="flat">
            <a:solidFill>
              <a:srgbClr val="D8D8D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2138387" y="6549653"/>
            <a:ext cx="279545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8"/>
              </a:lnSpc>
              <a:spcBef>
                <a:spcPct val="0"/>
              </a:spcBef>
            </a:pPr>
            <a:r>
              <a:rPr lang="en-US" sz="2190" b="1">
                <a:solidFill>
                  <a:srgbClr val="7F7F7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UPDATE · PUT / PATCH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00486" y="7016378"/>
            <a:ext cx="626670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2600" b="1" u="sng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Modifier une ressource existante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284112" y="7512108"/>
            <a:ext cx="6328454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4"/>
              </a:lnSpc>
              <a:spcBef>
                <a:spcPct val="0"/>
              </a:spcBef>
            </a:pPr>
            <a:r>
              <a:rPr lang="en-US" sz="2711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PUT </a:t>
            </a:r>
            <a:r>
              <a:rPr lang="en-US" sz="27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remplace une ressource complète.</a:t>
            </a:r>
          </a:p>
          <a:p>
            <a:pPr algn="l">
              <a:lnSpc>
                <a:spcPts val="3254"/>
              </a:lnSpc>
              <a:spcBef>
                <a:spcPct val="0"/>
              </a:spcBef>
            </a:pPr>
            <a:r>
              <a:rPr lang="en-US" sz="2711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PATCH </a:t>
            </a:r>
            <a:r>
              <a:rPr lang="en-US" sz="27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applique une modification partielle sur une ressource existante.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51704" y="624602"/>
            <a:ext cx="9746695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  <a:spcBef>
                <a:spcPct val="0"/>
              </a:spcBef>
            </a:pPr>
            <a:r>
              <a:rPr lang="en-US" sz="39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Correspondance entre CRUD et méthodes HTTP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86038" y="5195703"/>
            <a:ext cx="3991495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Exemple : POST /tasks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502949" y="5195703"/>
            <a:ext cx="4367094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Exemples : GET /tasks ou GET /tasks/42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84112" y="9252033"/>
            <a:ext cx="5850125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Exemples : PUT /tasks/42 ou PATCH /tasks/42</a:t>
            </a:r>
          </a:p>
        </p:txBody>
      </p:sp>
      <p:sp>
        <p:nvSpPr>
          <p:cNvPr id="26" name="AutoShape 26"/>
          <p:cNvSpPr/>
          <p:nvPr/>
        </p:nvSpPr>
        <p:spPr>
          <a:xfrm flipV="1">
            <a:off x="11382706" y="6491103"/>
            <a:ext cx="2795450" cy="0"/>
          </a:xfrm>
          <a:prstGeom prst="line">
            <a:avLst/>
          </a:prstGeom>
          <a:ln w="38100" cap="flat">
            <a:solidFill>
              <a:srgbClr val="D8D8D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TextBox 27"/>
          <p:cNvSpPr txBox="1"/>
          <p:nvPr/>
        </p:nvSpPr>
        <p:spPr>
          <a:xfrm>
            <a:off x="11382706" y="6568703"/>
            <a:ext cx="279545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8"/>
              </a:lnSpc>
              <a:spcBef>
                <a:spcPct val="0"/>
              </a:spcBef>
            </a:pPr>
            <a:r>
              <a:rPr lang="en-US" sz="2190" b="1">
                <a:solidFill>
                  <a:srgbClr val="7F7F7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DELETE · DELETE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382706" y="7016378"/>
            <a:ext cx="626670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sz="2600" b="1" u="sng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Supprimer une ressource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502949" y="7424738"/>
            <a:ext cx="6759569" cy="169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4"/>
              </a:lnSpc>
              <a:spcBef>
                <a:spcPct val="0"/>
              </a:spcBef>
            </a:pPr>
            <a:r>
              <a:rPr lang="en-US" sz="27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Le client demande la suppression d’une ressource identifiée par son URL.</a:t>
            </a:r>
          </a:p>
          <a:p>
            <a:pPr algn="l">
              <a:lnSpc>
                <a:spcPts val="3254"/>
              </a:lnSpc>
              <a:spcBef>
                <a:spcPct val="0"/>
              </a:spcBef>
            </a:pPr>
            <a:r>
              <a:rPr lang="en-US" sz="27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Si la suppression réussit, le serveur peut retourner </a:t>
            </a:r>
            <a:r>
              <a:rPr lang="en-US" sz="2711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204 No Content</a:t>
            </a:r>
            <a:r>
              <a:rPr lang="en-US" sz="27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502949" y="9252033"/>
            <a:ext cx="5850125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Exemples : DELETE /tasks/42</a:t>
            </a:r>
          </a:p>
        </p:txBody>
      </p:sp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 rot="110880">
            <a:off x="819388" y="9779260"/>
            <a:ext cx="590855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8783235" y="2036764"/>
            <a:ext cx="9064833" cy="8078786"/>
          </a:xfrm>
          <a:custGeom>
            <a:avLst/>
            <a:gdLst/>
            <a:ahLst/>
            <a:cxnLst/>
            <a:rect l="l" t="t" r="r" b="b"/>
            <a:pathLst>
              <a:path w="9064833" h="8078786">
                <a:moveTo>
                  <a:pt x="0" y="0"/>
                </a:moveTo>
                <a:lnTo>
                  <a:pt x="9064834" y="0"/>
                </a:lnTo>
                <a:lnTo>
                  <a:pt x="9064834" y="8078786"/>
                </a:lnTo>
                <a:lnTo>
                  <a:pt x="0" y="80787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83" r="-79538" b="-2037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7431750" y="455790"/>
            <a:ext cx="416319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240363" y="658892"/>
            <a:ext cx="6408837" cy="5840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sz="38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Lire des </a:t>
            </a:r>
            <a:r>
              <a:rPr lang="en-US" sz="38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ressources</a:t>
            </a:r>
            <a:r>
              <a:rPr lang="en-US" sz="38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avec GET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67046" y="1427164"/>
            <a:ext cx="9353908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sz="25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GET </a:t>
            </a: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permet de récupérer des données sans modifier l’état du serveur.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21132" y="1827214"/>
            <a:ext cx="3136468" cy="3471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sz="2299" b="1" u="sng" dirty="0">
                <a:solidFill>
                  <a:srgbClr val="5959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GET · /tasks · /tasks/:id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2576" y="2322514"/>
            <a:ext cx="8248324" cy="6572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La méthode </a:t>
            </a:r>
            <a:r>
              <a:rPr lang="en-US" sz="23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GET </a:t>
            </a: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sert à lire des ressources sans modifier les données.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  <a:endParaRPr lang="en-US" sz="23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Cas traités :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GET /tasks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→ retourne toutes les tâches.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GET /tasks/:id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→ retourne une tâche précise selon son id.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  <a:endParaRPr lang="en-US" sz="23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Traitement :</a:t>
            </a:r>
          </a:p>
          <a:p>
            <a:pPr marL="518158" lvl="1" indent="-259079" algn="l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lire </a:t>
            </a:r>
            <a:r>
              <a:rPr lang="en-US" sz="23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tasks.json</a:t>
            </a: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.</a:t>
            </a:r>
          </a:p>
          <a:p>
            <a:pPr marL="518158" lvl="1" indent="-259079" algn="l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convertir le contenu avec </a:t>
            </a:r>
            <a:r>
              <a:rPr lang="en-US" sz="23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JSON.parse()</a:t>
            </a: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</a:t>
            </a:r>
          </a:p>
          <a:p>
            <a:pPr marL="518158" lvl="1" indent="-259079" algn="l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rechercher la ressource demandée .</a:t>
            </a:r>
          </a:p>
          <a:p>
            <a:pPr marL="518158" lvl="1" indent="-259079" algn="l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retourner une réponse </a:t>
            </a:r>
            <a:r>
              <a:rPr lang="en-US" sz="23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JSON</a:t>
            </a: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  <a:endParaRPr lang="en-US" sz="23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Codes utilisés :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 b="1">
                <a:solidFill>
                  <a:srgbClr val="22982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200 OK</a:t>
            </a: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→ ressource trouvée.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404 Not Found</a:t>
            </a: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→ ressource inexistante.</a:t>
            </a:r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 rot="110880">
            <a:off x="819388" y="9779260"/>
            <a:ext cx="590855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8319912" y="1754763"/>
            <a:ext cx="9666431" cy="8355558"/>
          </a:xfrm>
          <a:custGeom>
            <a:avLst/>
            <a:gdLst/>
            <a:ahLst/>
            <a:cxnLst/>
            <a:rect l="l" t="t" r="r" b="b"/>
            <a:pathLst>
              <a:path w="9666431" h="8355558">
                <a:moveTo>
                  <a:pt x="0" y="0"/>
                </a:moveTo>
                <a:lnTo>
                  <a:pt x="9666431" y="0"/>
                </a:lnTo>
                <a:lnTo>
                  <a:pt x="9666431" y="8355558"/>
                </a:lnTo>
                <a:lnTo>
                  <a:pt x="0" y="83555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93" r="-77115" b="-3794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7431750" y="455790"/>
            <a:ext cx="416328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91046" y="502168"/>
            <a:ext cx="6962954" cy="5840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  <a:spcBef>
                <a:spcPct val="0"/>
              </a:spcBef>
            </a:pPr>
            <a:r>
              <a:rPr lang="en-US" sz="39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Créer</a:t>
            </a:r>
            <a:r>
              <a:rPr lang="en-US" sz="39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39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une</a:t>
            </a:r>
            <a:r>
              <a:rPr lang="en-US" sz="39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39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ressource</a:t>
            </a:r>
            <a:r>
              <a:rPr lang="en-US" sz="39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avec POST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421678" y="1307088"/>
            <a:ext cx="11444644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sz="25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POST</a:t>
            </a:r>
            <a:r>
              <a:rPr lang="en-US" sz="2599">
                <a:solidFill>
                  <a:srgbClr val="C41A16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permet d’envoyer des données au serveur afin de créer une nouvelle ressource.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3010" y="2543175"/>
            <a:ext cx="7917669" cy="6715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Cette partie traite la création d’une nouvelle tâche.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endParaRPr lang="en-US" sz="21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Cas traité :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POST /tasks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→ crée une nouvelle tâche à partir des données envoyées par le client.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endParaRPr lang="en-US" sz="21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ÉTAPES DU TRAITEMENT</a:t>
            </a:r>
          </a:p>
          <a:p>
            <a:pPr marL="474979" lvl="1" indent="-237490" algn="l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Vérifier que la méthode est </a:t>
            </a:r>
            <a:r>
              <a:rPr lang="en-US" sz="21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POST</a:t>
            </a:r>
            <a:r>
              <a:rPr lang="en-US" sz="2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marL="474979" lvl="1" indent="-237490" algn="l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Collecter le corps de la requête avec l’événement data.</a:t>
            </a:r>
          </a:p>
          <a:p>
            <a:pPr marL="474979" lvl="1" indent="-237490" algn="l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Attendre la fin de la réception avec l’événement end.</a:t>
            </a:r>
          </a:p>
          <a:p>
            <a:pPr marL="474979" lvl="1" indent="-237490" algn="l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Convertir le </a:t>
            </a:r>
            <a:r>
              <a:rPr lang="en-US" sz="21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JSON</a:t>
            </a:r>
            <a:r>
              <a:rPr lang="en-US" sz="2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reçu en objet JavaScript avec</a:t>
            </a:r>
            <a:r>
              <a:rPr lang="en-US" sz="2199">
                <a:solidFill>
                  <a:srgbClr val="C41A16"/>
                </a:solidFill>
                <a:latin typeface="Calibri (MS)"/>
                <a:ea typeface="Calibri (MS)"/>
                <a:cs typeface="Calibri (MS)"/>
                <a:sym typeface="Calibri (MS)"/>
              </a:rPr>
              <a:t> JSON.parse()</a:t>
            </a:r>
            <a:r>
              <a:rPr lang="en-US" sz="2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marL="474979" lvl="1" indent="-237490" algn="l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Lire le fichier </a:t>
            </a:r>
            <a:r>
              <a:rPr lang="en-US" sz="21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tasks.json</a:t>
            </a:r>
            <a:r>
              <a:rPr lang="en-US" sz="2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marL="474979" lvl="1" indent="-237490" algn="l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Ajouter la nouvelle tâche au tableau.</a:t>
            </a:r>
          </a:p>
          <a:p>
            <a:pPr marL="474979" lvl="1" indent="-237490" algn="l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Réécrire le fichier avec </a:t>
            </a:r>
            <a:r>
              <a:rPr lang="en-US" sz="21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JSON.stringify()</a:t>
            </a:r>
            <a:r>
              <a:rPr lang="en-US" sz="2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marL="474979" lvl="1" indent="-237490" algn="l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Retourner la tâche créée au client.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endParaRPr lang="en-US" sz="21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CODES UTILISÉS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 b="1">
                <a:solidFill>
                  <a:srgbClr val="22982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201 Created</a:t>
            </a:r>
            <a:r>
              <a:rPr lang="en-US" sz="2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→ La ressource a été créée avec succès.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400 Bad Request</a:t>
            </a:r>
            <a:r>
              <a:rPr lang="en-US" sz="2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→ Les données envoyées par le client sont invalides.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8038" y="1975177"/>
            <a:ext cx="2898562" cy="3471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sz="2299" b="1" u="sng" dirty="0">
                <a:solidFill>
                  <a:srgbClr val="5959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CREATE : POST /tasks</a:t>
            </a:r>
          </a:p>
        </p:txBody>
      </p:sp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 rot="110880">
            <a:off x="819388" y="9779260"/>
            <a:ext cx="590855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8946459" y="2149010"/>
            <a:ext cx="9039884" cy="7547378"/>
          </a:xfrm>
          <a:custGeom>
            <a:avLst/>
            <a:gdLst/>
            <a:ahLst/>
            <a:cxnLst/>
            <a:rect l="l" t="t" r="r" b="b"/>
            <a:pathLst>
              <a:path w="9039884" h="7547378">
                <a:moveTo>
                  <a:pt x="0" y="0"/>
                </a:moveTo>
                <a:lnTo>
                  <a:pt x="9039884" y="0"/>
                </a:lnTo>
                <a:lnTo>
                  <a:pt x="9039884" y="7547378"/>
                </a:lnTo>
                <a:lnTo>
                  <a:pt x="0" y="75473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2" r="-101127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7431750" y="455790"/>
            <a:ext cx="416328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41782" y="502168"/>
            <a:ext cx="9279017" cy="5840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  <a:spcBef>
                <a:spcPct val="0"/>
              </a:spcBef>
            </a:pPr>
            <a:r>
              <a:rPr lang="en-US" sz="39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Modifier </a:t>
            </a:r>
            <a:r>
              <a:rPr lang="en-US" sz="39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une</a:t>
            </a:r>
            <a:r>
              <a:rPr lang="en-US" sz="39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39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ressource</a:t>
            </a:r>
            <a:r>
              <a:rPr lang="en-US" sz="39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avec PATCH </a:t>
            </a:r>
            <a:r>
              <a:rPr lang="en-US" sz="39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</a:t>
            </a:r>
            <a:r>
              <a:rPr lang="en-US" sz="39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PUT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77741" y="1406060"/>
            <a:ext cx="12532519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2600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PUT </a:t>
            </a:r>
            <a:r>
              <a:rPr lang="en-US" sz="2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remplace une ressource complète, tandis que </a:t>
            </a:r>
            <a:r>
              <a:rPr lang="en-US" sz="2600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PATCH </a:t>
            </a:r>
            <a:r>
              <a:rPr lang="en-US" sz="2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applique une modification partielle.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64846" y="2533330"/>
            <a:ext cx="8398154" cy="71695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59"/>
              </a:lnSpc>
              <a:spcBef>
                <a:spcPct val="0"/>
              </a:spcBef>
            </a:pP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Cette </a:t>
            </a:r>
            <a:r>
              <a:rPr lang="en-US" sz="22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partie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traite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la modification </a:t>
            </a:r>
            <a:r>
              <a:rPr lang="en-US" sz="22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d’une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tâche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existante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l">
              <a:lnSpc>
                <a:spcPts val="2759"/>
              </a:lnSpc>
              <a:spcBef>
                <a:spcPct val="0"/>
              </a:spcBef>
            </a:pPr>
            <a:endParaRPr lang="en-US" sz="229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2759"/>
              </a:lnSpc>
              <a:spcBef>
                <a:spcPct val="0"/>
              </a:spcBef>
            </a:pPr>
            <a:r>
              <a:rPr lang="en-US" sz="22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Cas </a:t>
            </a:r>
            <a:r>
              <a:rPr lang="en-US" sz="22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traité</a:t>
            </a:r>
            <a:r>
              <a:rPr lang="en-US" sz="22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:</a:t>
            </a:r>
          </a:p>
          <a:p>
            <a:pPr algn="l">
              <a:lnSpc>
                <a:spcPts val="2759"/>
              </a:lnSpc>
              <a:spcBef>
                <a:spcPct val="0"/>
              </a:spcBef>
            </a:pPr>
            <a:r>
              <a:rPr lang="en-US" sz="22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PATCH /tasks/:id</a:t>
            </a:r>
          </a:p>
          <a:p>
            <a:pPr algn="l">
              <a:lnSpc>
                <a:spcPts val="2759"/>
              </a:lnSpc>
              <a:spcBef>
                <a:spcPct val="0"/>
              </a:spcBef>
            </a:pP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→ </a:t>
            </a:r>
            <a:r>
              <a:rPr lang="en-US" sz="22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modifie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partiellement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une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tâche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identifiée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par son id.</a:t>
            </a:r>
          </a:p>
          <a:p>
            <a:pPr algn="l">
              <a:lnSpc>
                <a:spcPts val="2759"/>
              </a:lnSpc>
              <a:spcBef>
                <a:spcPct val="0"/>
              </a:spcBef>
            </a:pPr>
            <a:endParaRPr lang="en-US" sz="229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2759"/>
              </a:lnSpc>
              <a:spcBef>
                <a:spcPct val="0"/>
              </a:spcBef>
            </a:pPr>
            <a:r>
              <a:rPr lang="en-US" sz="22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ÉTAPES DU TRAITEMENT</a:t>
            </a:r>
          </a:p>
          <a:p>
            <a:pPr algn="l">
              <a:lnSpc>
                <a:spcPts val="2759"/>
              </a:lnSpc>
              <a:spcBef>
                <a:spcPct val="0"/>
              </a:spcBef>
            </a:pP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</a:t>
            </a:r>
            <a:r>
              <a:rPr lang="en-US" sz="22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Vérifier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que la </a:t>
            </a:r>
            <a:r>
              <a:rPr lang="en-US" sz="22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méthode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est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299" b="1" dirty="0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PATCH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l">
              <a:lnSpc>
                <a:spcPts val="2759"/>
              </a:lnSpc>
              <a:spcBef>
                <a:spcPct val="0"/>
              </a:spcBef>
            </a:pP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</a:t>
            </a:r>
            <a:r>
              <a:rPr lang="en-US" sz="22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Extraire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l’identifiant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depuis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l’</a:t>
            </a:r>
            <a:r>
              <a:rPr lang="en-US" sz="2299" b="1" dirty="0" err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URL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l">
              <a:lnSpc>
                <a:spcPts val="2759"/>
              </a:lnSpc>
              <a:spcBef>
                <a:spcPct val="0"/>
              </a:spcBef>
            </a:pP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Lire le corps </a:t>
            </a:r>
            <a:r>
              <a:rPr lang="en-US" sz="2299" b="1" dirty="0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JSON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envoyé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par le client.</a:t>
            </a:r>
          </a:p>
          <a:p>
            <a:pPr algn="l">
              <a:lnSpc>
                <a:spcPts val="2759"/>
              </a:lnSpc>
              <a:spcBef>
                <a:spcPct val="0"/>
              </a:spcBef>
            </a:pP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Lire le </a:t>
            </a:r>
            <a:r>
              <a:rPr lang="en-US" sz="22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fichier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2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tasks.json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l">
              <a:lnSpc>
                <a:spcPts val="2759"/>
              </a:lnSpc>
              <a:spcBef>
                <a:spcPct val="0"/>
              </a:spcBef>
            </a:pP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</a:t>
            </a:r>
            <a:r>
              <a:rPr lang="en-US" sz="22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Rechercher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la </a:t>
            </a:r>
            <a:r>
              <a:rPr lang="en-US" sz="22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tâche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correspondante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l">
              <a:lnSpc>
                <a:spcPts val="2759"/>
              </a:lnSpc>
              <a:spcBef>
                <a:spcPct val="0"/>
              </a:spcBef>
            </a:pP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</a:t>
            </a:r>
            <a:r>
              <a:rPr lang="en-US" sz="22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Fusionner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les </a:t>
            </a:r>
            <a:r>
              <a:rPr lang="en-US" sz="22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anciennes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données avec les </a:t>
            </a:r>
            <a:r>
              <a:rPr lang="en-US" sz="22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nouvelles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l">
              <a:lnSpc>
                <a:spcPts val="2759"/>
              </a:lnSpc>
              <a:spcBef>
                <a:spcPct val="0"/>
              </a:spcBef>
            </a:pP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</a:t>
            </a:r>
            <a:r>
              <a:rPr lang="en-US" sz="22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Sauvegarder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le tableau mis à jour.</a:t>
            </a:r>
          </a:p>
          <a:p>
            <a:pPr algn="l">
              <a:lnSpc>
                <a:spcPts val="2759"/>
              </a:lnSpc>
              <a:spcBef>
                <a:spcPct val="0"/>
              </a:spcBef>
            </a:pP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</a:t>
            </a:r>
            <a:r>
              <a:rPr lang="en-US" sz="22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Retourner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la </a:t>
            </a:r>
            <a:r>
              <a:rPr lang="en-US" sz="22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tâche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modifiée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au client.</a:t>
            </a:r>
          </a:p>
          <a:p>
            <a:pPr algn="l">
              <a:lnSpc>
                <a:spcPts val="2759"/>
              </a:lnSpc>
              <a:spcBef>
                <a:spcPct val="0"/>
              </a:spcBef>
            </a:pPr>
            <a:endParaRPr lang="en-US" sz="229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2759"/>
              </a:lnSpc>
              <a:spcBef>
                <a:spcPct val="0"/>
              </a:spcBef>
            </a:pPr>
            <a:r>
              <a:rPr lang="en-US" sz="22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CODES UTILISÉS</a:t>
            </a:r>
          </a:p>
          <a:p>
            <a:pPr algn="l">
              <a:lnSpc>
                <a:spcPts val="2759"/>
              </a:lnSpc>
              <a:spcBef>
                <a:spcPct val="0"/>
              </a:spcBef>
            </a:pPr>
            <a:r>
              <a:rPr lang="en-US" sz="2299" b="1" dirty="0">
                <a:solidFill>
                  <a:srgbClr val="22982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200 OK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→ La </a:t>
            </a:r>
            <a:r>
              <a:rPr lang="en-US" sz="22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ressource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 </a:t>
            </a:r>
            <a:r>
              <a:rPr lang="en-US" sz="22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été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modifiée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avec succès.</a:t>
            </a:r>
          </a:p>
          <a:p>
            <a:pPr algn="l">
              <a:lnSpc>
                <a:spcPts val="2759"/>
              </a:lnSpc>
              <a:spcBef>
                <a:spcPct val="0"/>
              </a:spcBef>
            </a:pPr>
            <a:r>
              <a:rPr lang="en-US" sz="2299" b="1" dirty="0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404 Not Found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→ </a:t>
            </a:r>
            <a:r>
              <a:rPr lang="en-US" sz="22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Aucune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tâche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ne correspond à </a:t>
            </a:r>
            <a:r>
              <a:rPr lang="en-US" sz="22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l’identifiant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fourni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l">
              <a:lnSpc>
                <a:spcPts val="2759"/>
              </a:lnSpc>
              <a:spcBef>
                <a:spcPct val="0"/>
              </a:spcBef>
            </a:pPr>
            <a:r>
              <a:rPr lang="en-US" sz="2299" b="1" dirty="0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400 Bad Request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→ Le corps de la </a:t>
            </a:r>
            <a:r>
              <a:rPr lang="en-US" sz="22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requête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est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invalide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21132" y="2018980"/>
            <a:ext cx="2005846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sz="2299" b="1" u="sng">
                <a:solidFill>
                  <a:srgbClr val="5959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PATCH /tasks/:id</a:t>
            </a:r>
          </a:p>
        </p:txBody>
      </p:sp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 rot="110880">
            <a:off x="819388" y="9779260"/>
            <a:ext cx="590855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7239522" y="2092273"/>
            <a:ext cx="10608557" cy="7597021"/>
          </a:xfrm>
          <a:custGeom>
            <a:avLst/>
            <a:gdLst/>
            <a:ahLst/>
            <a:cxnLst/>
            <a:rect l="l" t="t" r="r" b="b"/>
            <a:pathLst>
              <a:path w="10608557" h="7597021">
                <a:moveTo>
                  <a:pt x="0" y="0"/>
                </a:moveTo>
                <a:lnTo>
                  <a:pt x="10608556" y="0"/>
                </a:lnTo>
                <a:lnTo>
                  <a:pt x="10608556" y="7597021"/>
                </a:lnTo>
                <a:lnTo>
                  <a:pt x="0" y="75970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833" t="-11" r="-72059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7431750" y="455790"/>
            <a:ext cx="416328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56669" y="446265"/>
            <a:ext cx="7774662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  <a:spcBef>
                <a:spcPct val="0"/>
              </a:spcBef>
            </a:pPr>
            <a:r>
              <a:rPr lang="en-US" sz="39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Supprimer une ressource avec DELETE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27227" y="1311223"/>
            <a:ext cx="11233547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sz="2599" b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DELETE</a:t>
            </a: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permet de demander la suppression d’une ressource identifiée par son URL.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5496" y="2317833"/>
            <a:ext cx="7225904" cy="7426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Cette </a:t>
            </a: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partie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traite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la suppression </a:t>
            </a: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d’une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tâche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existante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  <a:endParaRPr lang="en-US" sz="239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Cas </a:t>
            </a:r>
            <a:r>
              <a:rPr lang="en-US" sz="23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traité</a:t>
            </a:r>
            <a:r>
              <a:rPr lang="en-US" sz="23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: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DELETE /tasks/:id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→ </a:t>
            </a: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supprime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une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tâche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à </a:t>
            </a: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partir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son </a:t>
            </a: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identifiant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  <a:endParaRPr lang="en-US" sz="239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ÉTAPES DU TRAITEMENT</a:t>
            </a:r>
          </a:p>
          <a:p>
            <a:pPr marL="518050" lvl="1" indent="-259025" algn="l">
              <a:lnSpc>
                <a:spcPts val="2879"/>
              </a:lnSpc>
              <a:buFont typeface="Arial"/>
              <a:buChar char="•"/>
            </a:pP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Vérifier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que la </a:t>
            </a: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méthode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est</a:t>
            </a:r>
            <a:r>
              <a:rPr lang="en-US" sz="2399" b="1" dirty="0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DELETE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marL="518050" lvl="1" indent="-259025" algn="l">
              <a:lnSpc>
                <a:spcPts val="2879"/>
              </a:lnSpc>
              <a:buFont typeface="Arial"/>
              <a:buChar char="•"/>
            </a:pP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Extraire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l’identifiant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depuis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l’</a:t>
            </a:r>
            <a:r>
              <a:rPr lang="en-US" sz="2399" b="1" dirty="0" err="1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URL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marL="518050" lvl="1" indent="-259025" algn="l">
              <a:lnSpc>
                <a:spcPts val="2879"/>
              </a:lnSpc>
              <a:buFont typeface="Arial"/>
              <a:buChar char="•"/>
            </a:pP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Lire le </a:t>
            </a: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fichier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tasks.json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marL="518050" lvl="1" indent="-259025" algn="l">
              <a:lnSpc>
                <a:spcPts val="2879"/>
              </a:lnSpc>
              <a:buFont typeface="Arial"/>
              <a:buChar char="•"/>
            </a:pP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Filtrer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le tableau pour </a:t>
            </a: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retirer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la </a:t>
            </a: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tâche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demandée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marL="518050" lvl="1" indent="-259025" algn="l">
              <a:lnSpc>
                <a:spcPts val="2879"/>
              </a:lnSpc>
              <a:buFont typeface="Arial"/>
              <a:buChar char="•"/>
            </a:pP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Vérifier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si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une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ressource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 </a:t>
            </a: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réellement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été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supprimée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marL="518050" lvl="1" indent="-259025" algn="l">
              <a:lnSpc>
                <a:spcPts val="2879"/>
              </a:lnSpc>
              <a:buFont typeface="Arial"/>
              <a:buChar char="•"/>
            </a:pP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Sauvegarder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le nouveau tableau dans le </a:t>
            </a: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fichier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marL="518050" lvl="1" indent="-259025" algn="l">
              <a:lnSpc>
                <a:spcPts val="2879"/>
              </a:lnSpc>
              <a:buFont typeface="Arial"/>
              <a:buChar char="•"/>
            </a:pP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Retourner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une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réponse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indiquant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le </a:t>
            </a: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résultat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  <a:endParaRPr lang="en-US" sz="239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CODES UTILISÉS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 b="1" dirty="0">
                <a:solidFill>
                  <a:srgbClr val="22982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204 No Content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→ La suppression a </a:t>
            </a: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réussi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et </a:t>
            </a: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aucune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donnée </a:t>
            </a: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n’est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retournée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 b="1" dirty="0">
                <a:solidFill>
                  <a:srgbClr val="C41A1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404 Not Found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→ </a:t>
            </a: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Aucune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tâche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ne correspond à </a:t>
            </a: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l’identifiant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fourni</a:t>
            </a:r>
            <a:r>
              <a:rPr lang="en-US" sz="23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21132" y="1832058"/>
            <a:ext cx="2526868" cy="3471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sz="2299" b="1" u="sng" dirty="0">
                <a:solidFill>
                  <a:srgbClr val="5959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DELETE /tasks/:id</a:t>
            </a:r>
          </a:p>
        </p:txBody>
      </p:sp>
    </p:spTree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4007644" y="8198644"/>
            <a:ext cx="1128712" cy="3048000"/>
            <a:chOff x="0" y="0"/>
            <a:chExt cx="1504950" cy="406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77933C"/>
            </a:solidFill>
          </p:spPr>
        </p:sp>
      </p:grpSp>
      <p:grpSp>
        <p:nvGrpSpPr>
          <p:cNvPr id="4" name="Group 4"/>
          <p:cNvGrpSpPr/>
          <p:nvPr/>
        </p:nvGrpSpPr>
        <p:grpSpPr>
          <a:xfrm rot="-5400000">
            <a:off x="7055644" y="8198644"/>
            <a:ext cx="1128712" cy="3048000"/>
            <a:chOff x="0" y="0"/>
            <a:chExt cx="1504950" cy="406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6" name="Group 6"/>
          <p:cNvGrpSpPr/>
          <p:nvPr/>
        </p:nvGrpSpPr>
        <p:grpSpPr>
          <a:xfrm rot="-5400000">
            <a:off x="10103644" y="8198644"/>
            <a:ext cx="1128712" cy="3048000"/>
            <a:chOff x="0" y="0"/>
            <a:chExt cx="1504950" cy="4064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9BBB59"/>
            </a:solidFill>
          </p:spPr>
        </p:sp>
      </p:grpSp>
      <p:grpSp>
        <p:nvGrpSpPr>
          <p:cNvPr id="8" name="Group 8"/>
          <p:cNvGrpSpPr/>
          <p:nvPr/>
        </p:nvGrpSpPr>
        <p:grpSpPr>
          <a:xfrm rot="-5400000">
            <a:off x="12465844" y="7512844"/>
            <a:ext cx="2500312" cy="3048000"/>
            <a:chOff x="0" y="0"/>
            <a:chExt cx="3333750" cy="4064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333750" cy="4064000"/>
            </a:xfrm>
            <a:custGeom>
              <a:avLst/>
              <a:gdLst/>
              <a:ahLst/>
              <a:cxnLst/>
              <a:rect l="l" t="t" r="r" b="b"/>
              <a:pathLst>
                <a:path w="3333750" h="4064000">
                  <a:moveTo>
                    <a:pt x="0" y="0"/>
                  </a:moveTo>
                  <a:lnTo>
                    <a:pt x="3333750" y="0"/>
                  </a:lnTo>
                  <a:lnTo>
                    <a:pt x="33337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ACC777"/>
            </a:solidFill>
          </p:spPr>
        </p:sp>
      </p:grpSp>
      <p:grpSp>
        <p:nvGrpSpPr>
          <p:cNvPr id="10" name="Group 10"/>
          <p:cNvGrpSpPr/>
          <p:nvPr/>
        </p:nvGrpSpPr>
        <p:grpSpPr>
          <a:xfrm rot="-5400000">
            <a:off x="16199653" y="8198653"/>
            <a:ext cx="1128703" cy="3048000"/>
            <a:chOff x="0" y="0"/>
            <a:chExt cx="1504937" cy="4064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C0D498"/>
            </a:solidFill>
          </p:spPr>
        </p:sp>
      </p:grpSp>
      <p:grpSp>
        <p:nvGrpSpPr>
          <p:cNvPr id="12" name="Group 12"/>
          <p:cNvGrpSpPr/>
          <p:nvPr/>
        </p:nvGrpSpPr>
        <p:grpSpPr>
          <a:xfrm rot="-5400000">
            <a:off x="959644" y="8198644"/>
            <a:ext cx="1128712" cy="3048000"/>
            <a:chOff x="0" y="0"/>
            <a:chExt cx="1504950" cy="4064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D0DFB3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2" y="1010493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1"/>
                </a:lnTo>
                <a:lnTo>
                  <a:pt x="0" y="201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AutoShape 15"/>
          <p:cNvSpPr/>
          <p:nvPr/>
        </p:nvSpPr>
        <p:spPr>
          <a:xfrm rot="10782120">
            <a:off x="9132065" y="7124109"/>
            <a:ext cx="4585106" cy="0"/>
          </a:xfrm>
          <a:prstGeom prst="line">
            <a:avLst/>
          </a:prstGeom>
          <a:ln w="9525" cap="rnd">
            <a:solidFill>
              <a:srgbClr val="D0DFB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 rot="5279820">
            <a:off x="13364508" y="7453312"/>
            <a:ext cx="681457" cy="0"/>
          </a:xfrm>
          <a:prstGeom prst="line">
            <a:avLst/>
          </a:prstGeom>
          <a:ln w="9525" cap="rnd">
            <a:solidFill>
              <a:srgbClr val="D0DFB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4674279" y="2222383"/>
            <a:ext cx="8939517" cy="342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Concepts​</a:t>
            </a:r>
          </a:p>
          <a:p>
            <a:pPr algn="ctr">
              <a:lnSpc>
                <a:spcPts val="8640"/>
              </a:lnSpc>
            </a:pPr>
            <a:r>
              <a:rPr lang="en-US" sz="72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importants</a:t>
            </a:r>
          </a:p>
          <a:p>
            <a:pPr algn="ctr">
              <a:lnSpc>
                <a:spcPts val="8640"/>
              </a:lnSpc>
            </a:pPr>
            <a:endParaRPr lang="en-US" sz="7200" b="1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048000" y="4715555"/>
            <a:ext cx="1500549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3000">
                <a:solidFill>
                  <a:srgbClr val="F2F2F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Events, streams, buffers, process — les briques fondamentales quireviennent partout en Node</a:t>
            </a:r>
          </a:p>
        </p:txBody>
      </p:sp>
      <p:sp>
        <p:nvSpPr>
          <p:cNvPr id="19" name="AutoShape 19"/>
          <p:cNvSpPr/>
          <p:nvPr/>
        </p:nvSpPr>
        <p:spPr>
          <a:xfrm rot="71760">
            <a:off x="8573710" y="5699008"/>
            <a:ext cx="1140590" cy="0"/>
          </a:xfrm>
          <a:prstGeom prst="line">
            <a:avLst/>
          </a:prstGeom>
          <a:ln w="9525" cap="rnd">
            <a:solidFill>
              <a:srgbClr val="88A94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 rot="5333880">
            <a:off x="8525056" y="6531473"/>
            <a:ext cx="1237888" cy="0"/>
          </a:xfrm>
          <a:prstGeom prst="line">
            <a:avLst/>
          </a:prstGeom>
          <a:ln w="9525" cap="rnd">
            <a:solidFill>
              <a:srgbClr val="D0DFB3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21" name="Freeform 21"/>
          <p:cNvSpPr/>
          <p:nvPr/>
        </p:nvSpPr>
        <p:spPr>
          <a:xfrm>
            <a:off x="13131403" y="8487489"/>
            <a:ext cx="1169194" cy="1098690"/>
          </a:xfrm>
          <a:custGeom>
            <a:avLst/>
            <a:gdLst/>
            <a:ahLst/>
            <a:cxnLst/>
            <a:rect l="l" t="t" r="r" b="b"/>
            <a:pathLst>
              <a:path w="1169194" h="1098690">
                <a:moveTo>
                  <a:pt x="0" y="0"/>
                </a:moveTo>
                <a:lnTo>
                  <a:pt x="1169194" y="0"/>
                </a:lnTo>
                <a:lnTo>
                  <a:pt x="1169194" y="1098690"/>
                </a:lnTo>
                <a:lnTo>
                  <a:pt x="0" y="10986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 rot="110880">
            <a:off x="819388" y="9779260"/>
            <a:ext cx="590855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9370787" y="3499231"/>
            <a:ext cx="8917213" cy="4137587"/>
          </a:xfrm>
          <a:custGeom>
            <a:avLst/>
            <a:gdLst/>
            <a:ahLst/>
            <a:cxnLst/>
            <a:rect l="l" t="t" r="r" b="b"/>
            <a:pathLst>
              <a:path w="8917213" h="4137587">
                <a:moveTo>
                  <a:pt x="0" y="0"/>
                </a:moveTo>
                <a:lnTo>
                  <a:pt x="8917213" y="0"/>
                </a:lnTo>
                <a:lnTo>
                  <a:pt x="8917213" y="4137587"/>
                </a:lnTo>
                <a:lnTo>
                  <a:pt x="0" y="41375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7431750" y="455790"/>
            <a:ext cx="416319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48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0" y="0"/>
            <a:ext cx="5678865" cy="1571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07"/>
              </a:lnSpc>
            </a:pPr>
            <a:r>
              <a:rPr lang="en-US" sz="10339">
                <a:solidFill>
                  <a:srgbClr val="C41A1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events: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22049" y="1622742"/>
            <a:ext cx="10514112" cy="7971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3780" b="1">
                <a:solidFill>
                  <a:srgbClr val="728D3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Event :</a:t>
            </a:r>
          </a:p>
          <a:p>
            <a:pPr algn="l">
              <a:lnSpc>
                <a:spcPts val="5292"/>
              </a:lnSpc>
            </a:pPr>
            <a:r>
              <a:rPr lang="en-US" sz="378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Une action qui se produit dans l’application </a:t>
            </a:r>
          </a:p>
          <a:p>
            <a:pPr algn="l">
              <a:lnSpc>
                <a:spcPts val="5292"/>
              </a:lnSpc>
            </a:pPr>
            <a:endParaRPr lang="en-US" sz="3780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5292"/>
              </a:lnSpc>
            </a:pPr>
            <a:r>
              <a:rPr lang="en-US" sz="3780" b="1">
                <a:solidFill>
                  <a:srgbClr val="67803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EventEmitter :</a:t>
            </a:r>
          </a:p>
          <a:p>
            <a:pPr algn="l">
              <a:lnSpc>
                <a:spcPts val="5292"/>
              </a:lnSpc>
            </a:pPr>
            <a:r>
              <a:rPr lang="en-US" sz="378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Permet de gérer les événements </a:t>
            </a:r>
          </a:p>
          <a:p>
            <a:pPr algn="l">
              <a:lnSpc>
                <a:spcPts val="5292"/>
              </a:lnSpc>
            </a:pPr>
            <a:endParaRPr lang="en-US" sz="3780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5292"/>
              </a:lnSpc>
            </a:pPr>
            <a:r>
              <a:rPr lang="en-US" sz="3780" b="1">
                <a:solidFill>
                  <a:srgbClr val="67803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Fonctions principales</a:t>
            </a:r>
            <a:r>
              <a:rPr lang="en-US" sz="378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:</a:t>
            </a:r>
          </a:p>
          <a:p>
            <a:pPr algn="l">
              <a:lnSpc>
                <a:spcPts val="5292"/>
              </a:lnSpc>
            </a:pPr>
            <a:r>
              <a:rPr lang="en-US" sz="378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 </a:t>
            </a:r>
            <a:r>
              <a:rPr lang="en-US" sz="378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on()</a:t>
            </a:r>
            <a:r>
              <a:rPr lang="en-US" sz="378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→ écouter un événement </a:t>
            </a:r>
          </a:p>
          <a:p>
            <a:pPr algn="l">
              <a:lnSpc>
                <a:spcPts val="5292"/>
              </a:lnSpc>
            </a:pPr>
            <a:r>
              <a:rPr lang="en-US" sz="378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 </a:t>
            </a:r>
            <a:r>
              <a:rPr lang="en-US" sz="3780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emit()</a:t>
            </a:r>
            <a:r>
              <a:rPr lang="en-US" sz="378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→ déclencher un événement </a:t>
            </a:r>
          </a:p>
          <a:p>
            <a:pPr algn="l">
              <a:lnSpc>
                <a:spcPts val="5292"/>
              </a:lnSpc>
            </a:pPr>
            <a:endParaRPr lang="en-US" sz="3780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5292"/>
              </a:lnSpc>
            </a:pPr>
            <a:r>
              <a:rPr lang="en-US" sz="3780" b="1">
                <a:solidFill>
                  <a:srgbClr val="67803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→ Système découplé </a:t>
            </a:r>
            <a:r>
              <a:rPr lang="en-US" sz="378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(flexible)</a:t>
            </a:r>
          </a:p>
          <a:p>
            <a:pPr algn="l">
              <a:lnSpc>
                <a:spcPts val="5292"/>
              </a:lnSpc>
            </a:pPr>
            <a:endParaRPr lang="en-US" sz="3780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779685" y="7820894"/>
            <a:ext cx="454342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Exemple: EventEmitter</a:t>
            </a:r>
          </a:p>
        </p:txBody>
      </p:sp>
    </p:spTree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7431750" y="455790"/>
            <a:ext cx="416319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49</a:t>
            </a:r>
          </a:p>
        </p:txBody>
      </p:sp>
      <p:sp>
        <p:nvSpPr>
          <p:cNvPr id="7" name="Freeform 7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57530" y="130321"/>
            <a:ext cx="4922280" cy="1496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76"/>
              </a:lnSpc>
            </a:pPr>
            <a:r>
              <a:rPr lang="en-US" sz="9897">
                <a:solidFill>
                  <a:srgbClr val="C41A1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Streams: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0" y="1904035"/>
            <a:ext cx="18288000" cy="6402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68"/>
              </a:lnSpc>
            </a:pPr>
            <a:r>
              <a:rPr lang="en-US" sz="4048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Les streams </a:t>
            </a:r>
            <a:r>
              <a:rPr lang="en-US" sz="4048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permettent de lire ou écrire les données progressivement.</a:t>
            </a:r>
          </a:p>
          <a:p>
            <a:pPr algn="l">
              <a:lnSpc>
                <a:spcPts val="5668"/>
              </a:lnSpc>
            </a:pPr>
            <a:endParaRPr lang="en-US" sz="4048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5668"/>
              </a:lnSpc>
            </a:pPr>
            <a:r>
              <a:rPr lang="en-US" sz="4048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Ils évitent de charger tout le fichier en mémoire.</a:t>
            </a:r>
          </a:p>
          <a:p>
            <a:pPr algn="l">
              <a:lnSpc>
                <a:spcPts val="5668"/>
              </a:lnSpc>
            </a:pPr>
            <a:endParaRPr lang="en-US" sz="4048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5668"/>
              </a:lnSpc>
            </a:pPr>
            <a:r>
              <a:rPr lang="en-US" sz="4048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Ils sont très utiles pour les fichiers volumineux, les vidéos, les logs ou les données réseau.</a:t>
            </a:r>
          </a:p>
          <a:p>
            <a:pPr algn="l">
              <a:lnSpc>
                <a:spcPts val="5668"/>
              </a:lnSpc>
            </a:pPr>
            <a:endParaRPr lang="en-US" sz="4048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5668"/>
              </a:lnSpc>
            </a:pPr>
            <a:r>
              <a:rPr lang="en-US" sz="4048" b="1">
                <a:solidFill>
                  <a:srgbClr val="F8952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 stream</a:t>
            </a:r>
            <a:r>
              <a:rPr lang="en-US" sz="4048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travaille </a:t>
            </a:r>
            <a:r>
              <a:rPr lang="en-US" sz="4048" b="1">
                <a:solidFill>
                  <a:srgbClr val="7E502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morceau</a:t>
            </a:r>
            <a:r>
              <a:rPr lang="en-US" sz="4048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par</a:t>
            </a:r>
            <a:r>
              <a:rPr lang="en-US" sz="4048" b="1">
                <a:solidFill>
                  <a:srgbClr val="7E502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morceau</a:t>
            </a:r>
            <a:r>
              <a:rPr lang="en-US" sz="4048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</a:t>
            </a:r>
          </a:p>
          <a:p>
            <a:pPr algn="l">
              <a:lnSpc>
                <a:spcPts val="5668"/>
              </a:lnSpc>
            </a:pPr>
            <a:endParaRPr lang="en-US" sz="4048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925368" y="1481703"/>
            <a:ext cx="10060976" cy="5172345"/>
          </a:xfrm>
          <a:custGeom>
            <a:avLst/>
            <a:gdLst/>
            <a:ahLst/>
            <a:cxnLst/>
            <a:rect l="l" t="t" r="r" b="b"/>
            <a:pathLst>
              <a:path w="10060976" h="5172345">
                <a:moveTo>
                  <a:pt x="0" y="0"/>
                </a:moveTo>
                <a:lnTo>
                  <a:pt x="10060975" y="0"/>
                </a:lnTo>
                <a:lnTo>
                  <a:pt x="10060975" y="5172346"/>
                </a:lnTo>
                <a:lnTo>
                  <a:pt x="0" y="51723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7431750" y="455790"/>
            <a:ext cx="416319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6653" y="130321"/>
            <a:ext cx="4804034" cy="1496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76"/>
              </a:lnSpc>
            </a:pPr>
            <a:r>
              <a:rPr lang="en-US" sz="9897">
                <a:solidFill>
                  <a:srgbClr val="C41A1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exemple: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6653" y="2146372"/>
            <a:ext cx="7608714" cy="2787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9722" lvl="1" indent="-339861" algn="ctr">
              <a:lnSpc>
                <a:spcPts val="4407"/>
              </a:lnSpc>
              <a:buFont typeface="Arial"/>
              <a:buChar char="•"/>
            </a:pPr>
            <a:r>
              <a:rPr lang="en-US" sz="3148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Ici, le fichier est lu par morceaux grâce à createReadStream().</a:t>
            </a:r>
          </a:p>
          <a:p>
            <a:pPr marL="701312" lvl="1" indent="-350656" algn="ctr">
              <a:lnSpc>
                <a:spcPts val="4547"/>
              </a:lnSpc>
              <a:buFont typeface="Arial"/>
              <a:buChar char="•"/>
            </a:pPr>
            <a:r>
              <a:rPr lang="en-US" sz="3248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Chaque morceau est reçu dans l’événement data.</a:t>
            </a:r>
          </a:p>
          <a:p>
            <a:pPr algn="ctr">
              <a:lnSpc>
                <a:spcPts val="4407"/>
              </a:lnSpc>
            </a:pPr>
            <a:endParaRPr lang="en-US" sz="3248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16653" y="5371579"/>
            <a:ext cx="2632996" cy="1295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7500" b="1">
                <a:solidFill>
                  <a:srgbClr val="C41A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N.B: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7024566"/>
            <a:ext cx="17259300" cy="2904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11"/>
              </a:lnSpc>
            </a:pPr>
            <a:r>
              <a:rPr lang="en-US" sz="4151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 Node.js, la taille d’un chunk dépend du type de stream. En général, elle est de </a:t>
            </a:r>
            <a:r>
              <a:rPr lang="en-US" sz="4151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16 KB</a:t>
            </a:r>
            <a:r>
              <a:rPr lang="en-US" sz="4151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, mais pour les fichiers (fs.createReadStream), elle est de</a:t>
            </a:r>
            <a:r>
              <a:rPr lang="en-US" sz="4151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64 KB</a:t>
            </a:r>
            <a:r>
              <a:rPr lang="en-US" sz="4151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 En mode objet, on parle de </a:t>
            </a:r>
            <a:r>
              <a:rPr lang="en-US" sz="4151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16 objets</a:t>
            </a:r>
            <a:r>
              <a:rPr lang="en-US" sz="4151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au lieu de bytes</a:t>
            </a:r>
          </a:p>
        </p:txBody>
      </p:sp>
    </p:spTree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7431750" y="455790"/>
            <a:ext cx="416319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90554" y="130321"/>
            <a:ext cx="4719646" cy="14961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76"/>
              </a:lnSpc>
            </a:pPr>
            <a:r>
              <a:rPr lang="en-US" sz="9897" dirty="0">
                <a:solidFill>
                  <a:srgbClr val="C41A1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Buffers: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0" y="1904015"/>
            <a:ext cx="18288000" cy="7304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97201" lvl="1" indent="-448600" algn="l">
              <a:lnSpc>
                <a:spcPts val="5817"/>
              </a:lnSpc>
              <a:buFont typeface="Arial"/>
              <a:buChar char="•"/>
            </a:pPr>
            <a:r>
              <a:rPr lang="en-US" sz="4155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 buffer</a:t>
            </a:r>
            <a:r>
              <a:rPr lang="en-US" sz="4155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est une zone mémoire utilisée pour stocker des données binaires.</a:t>
            </a:r>
          </a:p>
          <a:p>
            <a:pPr algn="l">
              <a:lnSpc>
                <a:spcPts val="5817"/>
              </a:lnSpc>
            </a:pPr>
            <a:endParaRPr lang="en-US" sz="4155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897201" lvl="1" indent="-448600" algn="l">
              <a:lnSpc>
                <a:spcPts val="5817"/>
              </a:lnSpc>
              <a:buFont typeface="Arial"/>
              <a:buChar char="•"/>
            </a:pPr>
            <a:r>
              <a:rPr lang="en-US" sz="4155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Il représente les données sous forme d’octets.</a:t>
            </a:r>
          </a:p>
          <a:p>
            <a:pPr algn="l">
              <a:lnSpc>
                <a:spcPts val="5817"/>
              </a:lnSpc>
            </a:pPr>
            <a:endParaRPr lang="en-US" sz="4155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897201" lvl="1" indent="-448600" algn="l">
              <a:lnSpc>
                <a:spcPts val="5817"/>
              </a:lnSpc>
              <a:buFont typeface="Arial"/>
              <a:buChar char="•"/>
            </a:pPr>
            <a:r>
              <a:rPr lang="en-US" sz="4155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Node.js utilise les buffers pour manipuler les fichiers, les images et les données réseau.</a:t>
            </a:r>
          </a:p>
          <a:p>
            <a:pPr algn="l">
              <a:lnSpc>
                <a:spcPts val="5817"/>
              </a:lnSpc>
            </a:pPr>
            <a:endParaRPr lang="en-US" sz="4155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897201" lvl="1" indent="-448600" algn="l">
              <a:lnSpc>
                <a:spcPts val="5817"/>
              </a:lnSpc>
              <a:buFont typeface="Arial"/>
              <a:buChar char="•"/>
            </a:pPr>
            <a:r>
              <a:rPr lang="en-US" sz="4155" b="1">
                <a:solidFill>
                  <a:srgbClr val="566B2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Les buffers </a:t>
            </a:r>
            <a:r>
              <a:rPr lang="en-US" sz="4155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sont souvent utilisés avec </a:t>
            </a:r>
            <a:r>
              <a:rPr lang="en-US" sz="4155" b="1">
                <a:solidFill>
                  <a:srgbClr val="F8952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les streams</a:t>
            </a:r>
            <a:r>
              <a:rPr lang="en-US" sz="4155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</a:t>
            </a:r>
          </a:p>
          <a:p>
            <a:pPr algn="l">
              <a:lnSpc>
                <a:spcPts val="5817"/>
              </a:lnSpc>
            </a:pPr>
            <a:endParaRPr lang="en-US" sz="4155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834600" y="1850921"/>
            <a:ext cx="13453400" cy="3648852"/>
          </a:xfrm>
          <a:custGeom>
            <a:avLst/>
            <a:gdLst/>
            <a:ahLst/>
            <a:cxnLst/>
            <a:rect l="l" t="t" r="r" b="b"/>
            <a:pathLst>
              <a:path w="13453400" h="3648852">
                <a:moveTo>
                  <a:pt x="0" y="0"/>
                </a:moveTo>
                <a:lnTo>
                  <a:pt x="13453400" y="0"/>
                </a:lnTo>
                <a:lnTo>
                  <a:pt x="13453400" y="3648851"/>
                </a:lnTo>
                <a:lnTo>
                  <a:pt x="0" y="36488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7431750" y="455790"/>
            <a:ext cx="416319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6653" y="130321"/>
            <a:ext cx="4804034" cy="1496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76"/>
              </a:lnSpc>
            </a:pPr>
            <a:r>
              <a:rPr lang="en-US" sz="9897">
                <a:solidFill>
                  <a:srgbClr val="C41A1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exemple: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0" y="6166522"/>
            <a:ext cx="18288000" cy="458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Buffer.from() transforme une chaîne de caractères en données binaires.</a:t>
            </a:r>
          </a:p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toString() permet de convertir le buffer en texte lisible.</a:t>
            </a:r>
          </a:p>
          <a:p>
            <a:pPr algn="l">
              <a:lnSpc>
                <a:spcPts val="7279"/>
              </a:lnSpc>
            </a:pPr>
            <a:endParaRPr lang="en-US" sz="5199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7431750" y="455790"/>
            <a:ext cx="416319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207" y="111271"/>
            <a:ext cx="5991793" cy="111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757"/>
              </a:lnSpc>
            </a:pPr>
            <a:r>
              <a:rPr lang="en-US" sz="7297" dirty="0">
                <a:solidFill>
                  <a:srgbClr val="C41A1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process, env 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1132" y="1437425"/>
            <a:ext cx="17766868" cy="7737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20"/>
              </a:lnSpc>
            </a:pPr>
            <a:r>
              <a:rPr lang="en-US" sz="4014" b="1">
                <a:solidFill>
                  <a:srgbClr val="9B65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process:</a:t>
            </a:r>
          </a:p>
          <a:p>
            <a:pPr marL="866793" lvl="1" indent="-433396" algn="l">
              <a:lnSpc>
                <a:spcPts val="5620"/>
              </a:lnSpc>
              <a:buFont typeface="Arial"/>
              <a:buChar char="•"/>
            </a:pPr>
            <a:r>
              <a:rPr lang="en-US" sz="4014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L’objet process permet d’accéder aux informations sur l’application en cours d’exécution.</a:t>
            </a:r>
          </a:p>
          <a:p>
            <a:pPr algn="l">
              <a:lnSpc>
                <a:spcPts val="5620"/>
              </a:lnSpc>
            </a:pPr>
            <a:endParaRPr lang="en-US" sz="4014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5620"/>
              </a:lnSpc>
            </a:pPr>
            <a:r>
              <a:rPr lang="en-US" sz="4014" b="1">
                <a:solidFill>
                  <a:srgbClr val="B46B4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process.env:</a:t>
            </a:r>
          </a:p>
          <a:p>
            <a:pPr marL="866793" lvl="1" indent="-433396" algn="l">
              <a:lnSpc>
                <a:spcPts val="5620"/>
              </a:lnSpc>
              <a:buFont typeface="Arial"/>
              <a:buChar char="•"/>
            </a:pPr>
            <a:r>
              <a:rPr lang="en-US" sz="4014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Il contient les variables d’environnement, utilisées pour la configuration (port, clés, etc.).</a:t>
            </a:r>
          </a:p>
          <a:p>
            <a:pPr algn="l">
              <a:lnSpc>
                <a:spcPts val="5620"/>
              </a:lnSpc>
            </a:pPr>
            <a:endParaRPr lang="en-US" sz="4014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5620"/>
              </a:lnSpc>
            </a:pPr>
            <a:r>
              <a:rPr lang="en-US" sz="4014" b="1">
                <a:solidFill>
                  <a:srgbClr val="B46B4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process.argv:</a:t>
            </a:r>
          </a:p>
          <a:p>
            <a:pPr marL="866793" lvl="1" indent="-433396" algn="l">
              <a:lnSpc>
                <a:spcPts val="5620"/>
              </a:lnSpc>
              <a:buFont typeface="Arial"/>
              <a:buChar char="•"/>
            </a:pPr>
            <a:r>
              <a:rPr lang="en-US" sz="4014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permet de récupérer les arguments passés en ligne de commande.</a:t>
            </a:r>
          </a:p>
          <a:p>
            <a:pPr algn="r">
              <a:lnSpc>
                <a:spcPts val="5620"/>
              </a:lnSpc>
            </a:pPr>
            <a:endParaRPr lang="en-US" sz="4014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21132" y="1352844"/>
            <a:ext cx="7543077" cy="5363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4977" lvl="1" indent="-277488" algn="l">
              <a:lnSpc>
                <a:spcPts val="3598"/>
              </a:lnSpc>
              <a:buFont typeface="Arial"/>
              <a:buChar char="•"/>
            </a:pPr>
            <a:r>
              <a:rPr lang="en-US" sz="257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process.env → variables d’environnement :</a:t>
            </a:r>
          </a:p>
          <a:p>
            <a:pPr algn="l">
              <a:lnSpc>
                <a:spcPts val="3598"/>
              </a:lnSpc>
            </a:pPr>
            <a:endParaRPr lang="en-US" sz="2570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598"/>
              </a:lnSpc>
            </a:pPr>
            <a:endParaRPr lang="en-US" sz="2570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598"/>
              </a:lnSpc>
            </a:pPr>
            <a:endParaRPr lang="en-US" sz="2570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598"/>
              </a:lnSpc>
            </a:pPr>
            <a:endParaRPr lang="en-US" sz="2570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554977" lvl="1" indent="-277488" algn="l">
              <a:lnSpc>
                <a:spcPts val="3598"/>
              </a:lnSpc>
              <a:buFont typeface="Arial"/>
              <a:buChar char="•"/>
            </a:pPr>
            <a:r>
              <a:rPr lang="en-US" sz="257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process.argv :</a:t>
            </a:r>
          </a:p>
          <a:p>
            <a:pPr algn="l">
              <a:lnSpc>
                <a:spcPts val="3598"/>
              </a:lnSpc>
            </a:pPr>
            <a:endParaRPr lang="en-US" sz="2570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598"/>
              </a:lnSpc>
            </a:pPr>
            <a:endParaRPr lang="en-US" sz="2570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598"/>
              </a:lnSpc>
            </a:pPr>
            <a:endParaRPr lang="en-US" sz="2570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598"/>
              </a:lnSpc>
            </a:pPr>
            <a:endParaRPr lang="en-US" sz="2570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554977" lvl="1" indent="-277488" algn="l">
              <a:lnSpc>
                <a:spcPts val="3598"/>
              </a:lnSpc>
              <a:buFont typeface="Arial"/>
              <a:buChar char="•"/>
            </a:pPr>
            <a:r>
              <a:rPr lang="en-US" sz="257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Exemple d'utilisation :</a:t>
            </a:r>
          </a:p>
          <a:p>
            <a:pPr algn="l">
              <a:lnSpc>
                <a:spcPts val="3598"/>
              </a:lnSpc>
            </a:pPr>
            <a:endParaRPr lang="en-US" sz="2570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2766019" y="6355160"/>
            <a:ext cx="11301259" cy="1285518"/>
          </a:xfrm>
          <a:custGeom>
            <a:avLst/>
            <a:gdLst/>
            <a:ahLst/>
            <a:cxnLst/>
            <a:rect l="l" t="t" r="r" b="b"/>
            <a:pathLst>
              <a:path w="11301259" h="1285518">
                <a:moveTo>
                  <a:pt x="0" y="0"/>
                </a:moveTo>
                <a:lnTo>
                  <a:pt x="11301259" y="0"/>
                </a:lnTo>
                <a:lnTo>
                  <a:pt x="11301259" y="1285518"/>
                </a:lnTo>
                <a:lnTo>
                  <a:pt x="0" y="12855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159594" y="3963115"/>
            <a:ext cx="13223406" cy="18110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667F3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const </a:t>
            </a:r>
            <a:r>
              <a:rPr lang="en-US" sz="5199" b="1" dirty="0" err="1">
                <a:solidFill>
                  <a:srgbClr val="667F3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args</a:t>
            </a:r>
            <a:r>
              <a:rPr lang="en-US" sz="5199" b="1" dirty="0">
                <a:solidFill>
                  <a:srgbClr val="667F3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= process..</a:t>
            </a:r>
            <a:r>
              <a:rPr lang="en-US" sz="5199" b="1" dirty="0" err="1">
                <a:solidFill>
                  <a:srgbClr val="667F3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argv.slice</a:t>
            </a:r>
            <a:r>
              <a:rPr lang="en-US" sz="5199" b="1" dirty="0">
                <a:solidFill>
                  <a:srgbClr val="667F3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(2);</a:t>
            </a:r>
          </a:p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667F3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console.log(“Arguments </a:t>
            </a:r>
            <a:r>
              <a:rPr lang="en-US" sz="5199" b="1" dirty="0" err="1">
                <a:solidFill>
                  <a:srgbClr val="667F3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utiles</a:t>
            </a:r>
            <a:r>
              <a:rPr lang="en-US" sz="5199" b="1" dirty="0">
                <a:solidFill>
                  <a:srgbClr val="667F3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:”,</a:t>
            </a:r>
            <a:r>
              <a:rPr lang="en-US" sz="5199" b="1" dirty="0" err="1">
                <a:solidFill>
                  <a:srgbClr val="667F3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args</a:t>
            </a:r>
            <a:r>
              <a:rPr lang="en-US" sz="5199" b="1" dirty="0">
                <a:solidFill>
                  <a:srgbClr val="667F3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);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431750" y="455790"/>
            <a:ext cx="416319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1132" y="9525"/>
            <a:ext cx="4489775" cy="1390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99"/>
              </a:lnSpc>
            </a:pPr>
            <a:r>
              <a:rPr lang="en-US" sz="9249">
                <a:solidFill>
                  <a:srgbClr val="C41A1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exemple: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159594" y="1885090"/>
            <a:ext cx="13756806" cy="18110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67803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const port = </a:t>
            </a:r>
            <a:r>
              <a:rPr lang="en-US" sz="5199" b="1" dirty="0" err="1">
                <a:solidFill>
                  <a:srgbClr val="67803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process.env.PORT</a:t>
            </a:r>
            <a:r>
              <a:rPr lang="en-US" sz="5199" b="1" dirty="0">
                <a:solidFill>
                  <a:srgbClr val="67803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|| 3000;</a:t>
            </a:r>
          </a:p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67803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console.log(“Port </a:t>
            </a:r>
            <a:r>
              <a:rPr lang="en-US" sz="5199" b="1" dirty="0" err="1">
                <a:solidFill>
                  <a:srgbClr val="67803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utilisé</a:t>
            </a:r>
            <a:r>
              <a:rPr lang="en-US" sz="5199" b="1" dirty="0">
                <a:solidFill>
                  <a:srgbClr val="67803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:”,port)</a:t>
            </a:r>
          </a:p>
        </p:txBody>
      </p:sp>
      <p:sp>
        <p:nvSpPr>
          <p:cNvPr id="13" name="Freeform 13"/>
          <p:cNvSpPr/>
          <p:nvPr/>
        </p:nvSpPr>
        <p:spPr>
          <a:xfrm>
            <a:off x="12818185" y="7726403"/>
            <a:ext cx="5846695" cy="2560597"/>
          </a:xfrm>
          <a:custGeom>
            <a:avLst/>
            <a:gdLst/>
            <a:ahLst/>
            <a:cxnLst/>
            <a:rect l="l" t="t" r="r" b="b"/>
            <a:pathLst>
              <a:path w="5846695" h="2560597">
                <a:moveTo>
                  <a:pt x="0" y="0"/>
                </a:moveTo>
                <a:lnTo>
                  <a:pt x="5846695" y="0"/>
                </a:lnTo>
                <a:lnTo>
                  <a:pt x="5846695" y="2560597"/>
                </a:lnTo>
                <a:lnTo>
                  <a:pt x="0" y="25605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38265" y="7714358"/>
            <a:ext cx="12579920" cy="2518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2267" lvl="1" indent="-386133" algn="l">
              <a:lnSpc>
                <a:spcPts val="5007"/>
              </a:lnSpc>
              <a:buFont typeface="Arial"/>
              <a:buChar char="•"/>
            </a:pPr>
            <a:r>
              <a:rPr lang="en-US" sz="3576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Avec process.argv, on peut récupérer tous les arguments</a:t>
            </a:r>
          </a:p>
          <a:p>
            <a:pPr marL="772267" lvl="1" indent="-386133" algn="l">
              <a:lnSpc>
                <a:spcPts val="5007"/>
              </a:lnSpc>
              <a:buFont typeface="Arial"/>
              <a:buChar char="•"/>
            </a:pPr>
            <a:r>
              <a:rPr lang="en-US" sz="3576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Et avec slice(2), on garde seulement les arguments utiles</a:t>
            </a:r>
          </a:p>
        </p:txBody>
      </p:sp>
    </p:spTree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4007644" y="8198644"/>
            <a:ext cx="1128712" cy="3048000"/>
            <a:chOff x="0" y="0"/>
            <a:chExt cx="1504950" cy="406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77933C"/>
            </a:solidFill>
          </p:spPr>
        </p:sp>
      </p:grpSp>
      <p:grpSp>
        <p:nvGrpSpPr>
          <p:cNvPr id="4" name="Group 4"/>
          <p:cNvGrpSpPr/>
          <p:nvPr/>
        </p:nvGrpSpPr>
        <p:grpSpPr>
          <a:xfrm rot="-5400000">
            <a:off x="7055644" y="8198644"/>
            <a:ext cx="1128712" cy="3048000"/>
            <a:chOff x="0" y="0"/>
            <a:chExt cx="1504950" cy="406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6" name="Group 6"/>
          <p:cNvGrpSpPr/>
          <p:nvPr/>
        </p:nvGrpSpPr>
        <p:grpSpPr>
          <a:xfrm rot="-5400000">
            <a:off x="10103644" y="8198644"/>
            <a:ext cx="1128712" cy="3048000"/>
            <a:chOff x="0" y="0"/>
            <a:chExt cx="1504950" cy="4064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9BBB59"/>
            </a:solidFill>
          </p:spPr>
        </p:sp>
      </p:grpSp>
      <p:grpSp>
        <p:nvGrpSpPr>
          <p:cNvPr id="8" name="Group 8"/>
          <p:cNvGrpSpPr/>
          <p:nvPr/>
        </p:nvGrpSpPr>
        <p:grpSpPr>
          <a:xfrm rot="-5400000">
            <a:off x="12465844" y="7512844"/>
            <a:ext cx="2500312" cy="3048000"/>
            <a:chOff x="0" y="0"/>
            <a:chExt cx="3333750" cy="4064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333750" cy="4064000"/>
            </a:xfrm>
            <a:custGeom>
              <a:avLst/>
              <a:gdLst/>
              <a:ahLst/>
              <a:cxnLst/>
              <a:rect l="l" t="t" r="r" b="b"/>
              <a:pathLst>
                <a:path w="3333750" h="4064000">
                  <a:moveTo>
                    <a:pt x="0" y="0"/>
                  </a:moveTo>
                  <a:lnTo>
                    <a:pt x="3333750" y="0"/>
                  </a:lnTo>
                  <a:lnTo>
                    <a:pt x="33337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ACC777"/>
            </a:solidFill>
          </p:spPr>
        </p:sp>
      </p:grpSp>
      <p:grpSp>
        <p:nvGrpSpPr>
          <p:cNvPr id="10" name="Group 10"/>
          <p:cNvGrpSpPr/>
          <p:nvPr/>
        </p:nvGrpSpPr>
        <p:grpSpPr>
          <a:xfrm rot="-5400000">
            <a:off x="16199653" y="8198653"/>
            <a:ext cx="1128703" cy="3048000"/>
            <a:chOff x="0" y="0"/>
            <a:chExt cx="1504937" cy="4064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C0D498"/>
            </a:solidFill>
          </p:spPr>
        </p:sp>
      </p:grpSp>
      <p:grpSp>
        <p:nvGrpSpPr>
          <p:cNvPr id="12" name="Group 12"/>
          <p:cNvGrpSpPr/>
          <p:nvPr/>
        </p:nvGrpSpPr>
        <p:grpSpPr>
          <a:xfrm rot="-5400000">
            <a:off x="959644" y="8198644"/>
            <a:ext cx="1128712" cy="3048000"/>
            <a:chOff x="0" y="0"/>
            <a:chExt cx="1504950" cy="4064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D0DFB3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2" y="1010493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1"/>
                </a:lnTo>
                <a:lnTo>
                  <a:pt x="0" y="201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AutoShape 15"/>
          <p:cNvSpPr/>
          <p:nvPr/>
        </p:nvSpPr>
        <p:spPr>
          <a:xfrm rot="10782120">
            <a:off x="9132065" y="7124109"/>
            <a:ext cx="4585106" cy="0"/>
          </a:xfrm>
          <a:prstGeom prst="line">
            <a:avLst/>
          </a:prstGeom>
          <a:ln w="9525" cap="rnd">
            <a:solidFill>
              <a:srgbClr val="D0DFB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 rot="5279820">
            <a:off x="13364508" y="7453312"/>
            <a:ext cx="681457" cy="0"/>
          </a:xfrm>
          <a:prstGeom prst="line">
            <a:avLst/>
          </a:prstGeom>
          <a:ln w="9525" cap="rnd">
            <a:solidFill>
              <a:srgbClr val="D0DFB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4674279" y="2222383"/>
            <a:ext cx="8939517" cy="342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Codes de​</a:t>
            </a:r>
          </a:p>
          <a:p>
            <a:pPr algn="ctr">
              <a:lnSpc>
                <a:spcPts val="8640"/>
              </a:lnSpc>
            </a:pPr>
            <a:r>
              <a:rPr lang="en-US" sz="72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statut HTTP</a:t>
            </a:r>
          </a:p>
          <a:p>
            <a:pPr algn="ctr">
              <a:lnSpc>
                <a:spcPts val="8640"/>
              </a:lnSpc>
            </a:pPr>
            <a:endParaRPr lang="en-US" sz="7200" b="1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-1270913" y="4549279"/>
            <a:ext cx="19324408" cy="433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46"/>
              </a:lnSpc>
            </a:pPr>
            <a:r>
              <a:rPr lang="en-US" sz="2955">
                <a:solidFill>
                  <a:srgbClr val="F2F2F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Chaque réponse porte un code. Bien l’utiliser, c’est parler le même langage que tous les clients HTTP du monde</a:t>
            </a:r>
          </a:p>
        </p:txBody>
      </p:sp>
      <p:sp>
        <p:nvSpPr>
          <p:cNvPr id="19" name="AutoShape 19"/>
          <p:cNvSpPr/>
          <p:nvPr/>
        </p:nvSpPr>
        <p:spPr>
          <a:xfrm rot="71760">
            <a:off x="8573710" y="5699008"/>
            <a:ext cx="1140590" cy="0"/>
          </a:xfrm>
          <a:prstGeom prst="line">
            <a:avLst/>
          </a:prstGeom>
          <a:ln w="9525" cap="rnd">
            <a:solidFill>
              <a:srgbClr val="88A94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 rot="5333880">
            <a:off x="8525056" y="6531473"/>
            <a:ext cx="1237888" cy="0"/>
          </a:xfrm>
          <a:prstGeom prst="line">
            <a:avLst/>
          </a:prstGeom>
          <a:ln w="9525" cap="rnd">
            <a:solidFill>
              <a:srgbClr val="D0DFB3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21" name="Freeform 21"/>
          <p:cNvSpPr/>
          <p:nvPr/>
        </p:nvSpPr>
        <p:spPr>
          <a:xfrm>
            <a:off x="13131403" y="8487489"/>
            <a:ext cx="1169194" cy="1098690"/>
          </a:xfrm>
          <a:custGeom>
            <a:avLst/>
            <a:gdLst/>
            <a:ahLst/>
            <a:cxnLst/>
            <a:rect l="l" t="t" r="r" b="b"/>
            <a:pathLst>
              <a:path w="1169194" h="1098690">
                <a:moveTo>
                  <a:pt x="0" y="0"/>
                </a:moveTo>
                <a:lnTo>
                  <a:pt x="1169194" y="0"/>
                </a:lnTo>
                <a:lnTo>
                  <a:pt x="1169194" y="1098690"/>
                </a:lnTo>
                <a:lnTo>
                  <a:pt x="0" y="10986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-171450"/>
            <a:ext cx="17373600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C41A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Les codes les plus </a:t>
            </a:r>
            <a:r>
              <a:rPr lang="en-US" sz="9200" b="1" dirty="0" err="1">
                <a:solidFill>
                  <a:srgbClr val="C41A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utilisés</a:t>
            </a:r>
            <a:r>
              <a:rPr lang="en-US" sz="9200" b="1" dirty="0">
                <a:solidFill>
                  <a:srgbClr val="C41A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94804" y="1572383"/>
            <a:ext cx="17793196" cy="7536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1013" lvl="1" indent="-355506" algn="l">
              <a:lnSpc>
                <a:spcPts val="4610"/>
              </a:lnSpc>
              <a:buFont typeface="Arial"/>
              <a:buChar char="•"/>
            </a:pPr>
            <a:r>
              <a:rPr lang="en-US" sz="3293" b="1">
                <a:solidFill>
                  <a:srgbClr val="FF66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200</a:t>
            </a:r>
            <a:r>
              <a:rPr lang="en-US" sz="3293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OK</a:t>
            </a:r>
            <a:r>
              <a:rPr lang="en-US" sz="3293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: la requête a réussi.</a:t>
            </a:r>
          </a:p>
          <a:p>
            <a:pPr algn="l">
              <a:lnSpc>
                <a:spcPts val="4610"/>
              </a:lnSpc>
            </a:pPr>
            <a:endParaRPr lang="en-US" sz="3293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711013" lvl="1" indent="-355506" algn="l">
              <a:lnSpc>
                <a:spcPts val="4610"/>
              </a:lnSpc>
              <a:buFont typeface="Arial"/>
              <a:buChar char="•"/>
            </a:pPr>
            <a:r>
              <a:rPr lang="en-US" sz="3293" b="1">
                <a:solidFill>
                  <a:srgbClr val="FF66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201</a:t>
            </a:r>
            <a:r>
              <a:rPr lang="en-US" sz="3293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293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Created</a:t>
            </a:r>
            <a:r>
              <a:rPr lang="en-US" sz="3293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: une nouvelle ressource a été créée.</a:t>
            </a:r>
          </a:p>
          <a:p>
            <a:pPr algn="l">
              <a:lnSpc>
                <a:spcPts val="4610"/>
              </a:lnSpc>
            </a:pPr>
            <a:endParaRPr lang="en-US" sz="3293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711013" lvl="1" indent="-355506" algn="l">
              <a:lnSpc>
                <a:spcPts val="4610"/>
              </a:lnSpc>
              <a:buFont typeface="Arial"/>
              <a:buChar char="•"/>
            </a:pPr>
            <a:r>
              <a:rPr lang="en-US" sz="3293" b="1">
                <a:solidFill>
                  <a:srgbClr val="FF66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204</a:t>
            </a:r>
            <a:r>
              <a:rPr lang="en-US" sz="3293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No Content</a:t>
            </a:r>
            <a:r>
              <a:rPr lang="en-US" sz="3293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: la requête a réussi, mais il n’y a rien à retourner.</a:t>
            </a:r>
          </a:p>
          <a:p>
            <a:pPr algn="l">
              <a:lnSpc>
                <a:spcPts val="4610"/>
              </a:lnSpc>
            </a:pPr>
            <a:endParaRPr lang="en-US" sz="3293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711013" lvl="1" indent="-355506" algn="l">
              <a:lnSpc>
                <a:spcPts val="4610"/>
              </a:lnSpc>
              <a:buFont typeface="Arial"/>
              <a:buChar char="•"/>
            </a:pPr>
            <a:r>
              <a:rPr lang="en-US" sz="3293" b="1">
                <a:solidFill>
                  <a:srgbClr val="FF66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400</a:t>
            </a:r>
            <a:r>
              <a:rPr lang="en-US" sz="3293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293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Bad Request</a:t>
            </a:r>
            <a:r>
              <a:rPr lang="en-US" sz="3293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: la requête envoyée par le client est incorrecte.</a:t>
            </a:r>
          </a:p>
          <a:p>
            <a:pPr algn="l">
              <a:lnSpc>
                <a:spcPts val="4610"/>
              </a:lnSpc>
            </a:pPr>
            <a:endParaRPr lang="en-US" sz="3293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711013" lvl="1" indent="-355506" algn="l">
              <a:lnSpc>
                <a:spcPts val="4610"/>
              </a:lnSpc>
              <a:buFont typeface="Arial"/>
              <a:buChar char="•"/>
            </a:pPr>
            <a:r>
              <a:rPr lang="en-US" sz="3293" b="1">
                <a:solidFill>
                  <a:srgbClr val="FF66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404</a:t>
            </a:r>
            <a:r>
              <a:rPr lang="en-US" sz="3293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Not Found</a:t>
            </a:r>
            <a:r>
              <a:rPr lang="en-US" sz="3293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: la ressource demandée n’existe pas.</a:t>
            </a:r>
          </a:p>
          <a:p>
            <a:pPr algn="l">
              <a:lnSpc>
                <a:spcPts val="4610"/>
              </a:lnSpc>
            </a:pPr>
            <a:endParaRPr lang="en-US" sz="3293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711013" lvl="1" indent="-355506" algn="l">
              <a:lnSpc>
                <a:spcPts val="4610"/>
              </a:lnSpc>
              <a:buFont typeface="Arial"/>
              <a:buChar char="•"/>
            </a:pPr>
            <a:r>
              <a:rPr lang="en-US" sz="3293" b="1">
                <a:solidFill>
                  <a:srgbClr val="FF66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500</a:t>
            </a:r>
            <a:r>
              <a:rPr lang="en-US" sz="3293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Internal Server Error</a:t>
            </a:r>
            <a:r>
              <a:rPr lang="en-US" sz="3293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: une erreur s’est produite côté serveur.</a:t>
            </a:r>
          </a:p>
          <a:p>
            <a:pPr algn="l">
              <a:lnSpc>
                <a:spcPts val="4610"/>
              </a:lnSpc>
            </a:pPr>
            <a:endParaRPr lang="en-US" sz="3293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711013" lvl="1" indent="-355506" algn="l">
              <a:lnSpc>
                <a:spcPts val="4610"/>
              </a:lnSpc>
              <a:buFont typeface="Arial"/>
              <a:buChar char="•"/>
            </a:pPr>
            <a:r>
              <a:rPr lang="en-US" sz="3293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293" b="1">
                <a:solidFill>
                  <a:srgbClr val="FF66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300 </a:t>
            </a:r>
            <a:r>
              <a:rPr lang="en-US" sz="3293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Redirection </a:t>
            </a:r>
            <a:r>
              <a:rPr lang="en-US" sz="3293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le client doit effectuer une nouvelle requête vers une autre URL </a:t>
            </a: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FF9D644A-D817-759D-051C-5F8F5D6175AC}"/>
              </a:ext>
            </a:extLst>
          </p:cNvPr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29E47522-66AD-777E-5D74-B6E8D16D1E3F}"/>
                </a:ext>
              </a:extLst>
            </p:cNvPr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  <p:txBody>
            <a:bodyPr/>
            <a:lstStyle/>
            <a:p>
              <a:endParaRPr lang="fr-FR" dirty="0"/>
            </a:p>
          </p:txBody>
        </p:sp>
      </p:grpSp>
      <p:sp>
        <p:nvSpPr>
          <p:cNvPr id="6" name="TextBox 10">
            <a:extLst>
              <a:ext uri="{FF2B5EF4-FFF2-40B4-BE49-F238E27FC236}">
                <a16:creationId xmlns:a16="http://schemas.microsoft.com/office/drawing/2014/main" id="{12D7FFE0-66E3-A253-C79F-C96B7179148B}"/>
              </a:ext>
            </a:extLst>
          </p:cNvPr>
          <p:cNvSpPr txBox="1"/>
          <p:nvPr/>
        </p:nvSpPr>
        <p:spPr>
          <a:xfrm>
            <a:off x="17431750" y="455790"/>
            <a:ext cx="416319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36</a:t>
            </a:r>
          </a:p>
        </p:txBody>
      </p:sp>
    </p:spTree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6283" y="1672064"/>
            <a:ext cx="14493234" cy="6470923"/>
          </a:xfrm>
          <a:custGeom>
            <a:avLst/>
            <a:gdLst/>
            <a:ahLst/>
            <a:cxnLst/>
            <a:rect l="l" t="t" r="r" b="b"/>
            <a:pathLst>
              <a:path w="14493234" h="6470923">
                <a:moveTo>
                  <a:pt x="0" y="0"/>
                </a:moveTo>
                <a:lnTo>
                  <a:pt x="14493234" y="0"/>
                </a:lnTo>
                <a:lnTo>
                  <a:pt x="14493234" y="6470922"/>
                </a:lnTo>
                <a:lnTo>
                  <a:pt x="0" y="64709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89278" y="-171450"/>
            <a:ext cx="13883922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44546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Exemple</a:t>
            </a:r>
            <a:r>
              <a:rPr lang="en-US" sz="9200" b="1" dirty="0">
                <a:solidFill>
                  <a:srgbClr val="44546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avec Node.js 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89278" y="8353281"/>
            <a:ext cx="12512322" cy="37977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19"/>
              </a:lnSpc>
            </a:pPr>
            <a:r>
              <a:rPr lang="en-US" sz="358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Dans </a:t>
            </a:r>
            <a:r>
              <a:rPr lang="en-US" sz="358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cet</a:t>
            </a:r>
            <a:r>
              <a:rPr lang="en-US" sz="358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58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exemple</a:t>
            </a:r>
            <a:r>
              <a:rPr lang="en-US" sz="358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</a:t>
            </a:r>
          </a:p>
          <a:p>
            <a:pPr marL="774067" lvl="1" indent="-387034" algn="l">
              <a:lnSpc>
                <a:spcPts val="5019"/>
              </a:lnSpc>
              <a:buFont typeface="Arial"/>
              <a:buChar char="•"/>
            </a:pPr>
            <a:r>
              <a:rPr lang="en-US" sz="358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 </a:t>
            </a:r>
            <a:r>
              <a:rPr lang="en-US" sz="358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serveur</a:t>
            </a:r>
            <a:r>
              <a:rPr lang="en-US" sz="358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58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retourne</a:t>
            </a:r>
            <a:r>
              <a:rPr lang="en-US" sz="358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200 </a:t>
            </a:r>
            <a:r>
              <a:rPr lang="en-US" sz="358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</a:t>
            </a:r>
            <a:r>
              <a:rPr lang="en-US" sz="358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la page </a:t>
            </a:r>
            <a:r>
              <a:rPr lang="en-US" sz="358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existe</a:t>
            </a:r>
            <a:r>
              <a:rPr lang="en-US" sz="358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</a:t>
            </a:r>
          </a:p>
          <a:p>
            <a:pPr marL="774067" lvl="1" indent="-387034" algn="l">
              <a:lnSpc>
                <a:spcPts val="5019"/>
              </a:lnSpc>
              <a:buFont typeface="Arial"/>
              <a:buChar char="•"/>
            </a:pPr>
            <a:r>
              <a:rPr lang="en-US" sz="358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404 </a:t>
            </a:r>
            <a:r>
              <a:rPr lang="en-US" sz="358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</a:t>
            </a:r>
            <a:r>
              <a:rPr lang="en-US" sz="358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58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l’URL</a:t>
            </a:r>
            <a:r>
              <a:rPr lang="en-US" sz="358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58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demandée</a:t>
            </a:r>
            <a:r>
              <a:rPr lang="en-US" sz="358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58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n’est</a:t>
            </a:r>
            <a:r>
              <a:rPr lang="en-US" sz="358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pas </a:t>
            </a:r>
            <a:r>
              <a:rPr lang="en-US" sz="358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trouvée</a:t>
            </a:r>
            <a:r>
              <a:rPr lang="en-US" sz="3585" b="1" dirty="0">
                <a:solidFill>
                  <a:srgbClr val="C41A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</a:t>
            </a:r>
          </a:p>
          <a:p>
            <a:pPr algn="ctr">
              <a:lnSpc>
                <a:spcPts val="5019"/>
              </a:lnSpc>
            </a:pPr>
            <a:r>
              <a:rPr lang="en-US" sz="3585" b="1" dirty="0">
                <a:solidFill>
                  <a:srgbClr val="C41A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  <a:p>
            <a:pPr algn="ctr">
              <a:lnSpc>
                <a:spcPts val="5019"/>
              </a:lnSpc>
            </a:pPr>
            <a:r>
              <a:rPr lang="en-US" sz="3585" b="1" dirty="0">
                <a:solidFill>
                  <a:srgbClr val="C41A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  <a:p>
            <a:pPr algn="l">
              <a:lnSpc>
                <a:spcPts val="5019"/>
              </a:lnSpc>
            </a:pPr>
            <a:endParaRPr lang="en-US" sz="3585" b="1" dirty="0">
              <a:solidFill>
                <a:srgbClr val="C41A16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EEFBD5CE-1F8F-5CE6-4693-4C0D086CD015}"/>
              </a:ext>
            </a:extLst>
          </p:cNvPr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6" name="Freeform 3">
              <a:extLst>
                <a:ext uri="{FF2B5EF4-FFF2-40B4-BE49-F238E27FC236}">
                  <a16:creationId xmlns:a16="http://schemas.microsoft.com/office/drawing/2014/main" id="{A901BE81-B50D-C05D-71D5-1FDE260FBA8D}"/>
                </a:ext>
              </a:extLst>
            </p:cNvPr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  <p:txBody>
            <a:bodyPr/>
            <a:lstStyle/>
            <a:p>
              <a:endParaRPr lang="fr-FR" dirty="0"/>
            </a:p>
          </p:txBody>
        </p:sp>
      </p:grpSp>
      <p:sp>
        <p:nvSpPr>
          <p:cNvPr id="7" name="TextBox 10">
            <a:extLst>
              <a:ext uri="{FF2B5EF4-FFF2-40B4-BE49-F238E27FC236}">
                <a16:creationId xmlns:a16="http://schemas.microsoft.com/office/drawing/2014/main" id="{0DCC54DC-C96D-14F5-C6BB-D150AC96A5FD}"/>
              </a:ext>
            </a:extLst>
          </p:cNvPr>
          <p:cNvSpPr txBox="1"/>
          <p:nvPr/>
        </p:nvSpPr>
        <p:spPr>
          <a:xfrm>
            <a:off x="17431750" y="455790"/>
            <a:ext cx="416319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37</a:t>
            </a:r>
          </a:p>
        </p:txBody>
      </p:sp>
    </p:spTree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4007644" y="8198644"/>
            <a:ext cx="1128712" cy="3048000"/>
            <a:chOff x="0" y="0"/>
            <a:chExt cx="1504950" cy="406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77933C"/>
            </a:solidFill>
          </p:spPr>
        </p:sp>
      </p:grpSp>
      <p:grpSp>
        <p:nvGrpSpPr>
          <p:cNvPr id="4" name="Group 4"/>
          <p:cNvGrpSpPr/>
          <p:nvPr/>
        </p:nvGrpSpPr>
        <p:grpSpPr>
          <a:xfrm rot="-5400000">
            <a:off x="7055644" y="8198644"/>
            <a:ext cx="1128712" cy="3048000"/>
            <a:chOff x="0" y="0"/>
            <a:chExt cx="1504950" cy="406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6" name="Group 6"/>
          <p:cNvGrpSpPr/>
          <p:nvPr/>
        </p:nvGrpSpPr>
        <p:grpSpPr>
          <a:xfrm rot="-5400000">
            <a:off x="10103644" y="8198644"/>
            <a:ext cx="1128712" cy="3048000"/>
            <a:chOff x="0" y="0"/>
            <a:chExt cx="1504950" cy="4064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9BBB59"/>
            </a:solidFill>
          </p:spPr>
        </p:sp>
      </p:grpSp>
      <p:grpSp>
        <p:nvGrpSpPr>
          <p:cNvPr id="8" name="Group 8"/>
          <p:cNvGrpSpPr/>
          <p:nvPr/>
        </p:nvGrpSpPr>
        <p:grpSpPr>
          <a:xfrm rot="-5400000">
            <a:off x="12465844" y="7512844"/>
            <a:ext cx="2500312" cy="3048000"/>
            <a:chOff x="0" y="0"/>
            <a:chExt cx="3333750" cy="4064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333750" cy="4064000"/>
            </a:xfrm>
            <a:custGeom>
              <a:avLst/>
              <a:gdLst/>
              <a:ahLst/>
              <a:cxnLst/>
              <a:rect l="l" t="t" r="r" b="b"/>
              <a:pathLst>
                <a:path w="3333750" h="4064000">
                  <a:moveTo>
                    <a:pt x="0" y="0"/>
                  </a:moveTo>
                  <a:lnTo>
                    <a:pt x="3333750" y="0"/>
                  </a:lnTo>
                  <a:lnTo>
                    <a:pt x="33337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ACC777"/>
            </a:solidFill>
          </p:spPr>
        </p:sp>
      </p:grpSp>
      <p:grpSp>
        <p:nvGrpSpPr>
          <p:cNvPr id="10" name="Group 10"/>
          <p:cNvGrpSpPr/>
          <p:nvPr/>
        </p:nvGrpSpPr>
        <p:grpSpPr>
          <a:xfrm rot="-5400000">
            <a:off x="16199653" y="8198653"/>
            <a:ext cx="1128703" cy="3048000"/>
            <a:chOff x="0" y="0"/>
            <a:chExt cx="1504937" cy="4064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C0D498"/>
            </a:solidFill>
          </p:spPr>
        </p:sp>
      </p:grpSp>
      <p:grpSp>
        <p:nvGrpSpPr>
          <p:cNvPr id="12" name="Group 12"/>
          <p:cNvGrpSpPr/>
          <p:nvPr/>
        </p:nvGrpSpPr>
        <p:grpSpPr>
          <a:xfrm rot="-5400000">
            <a:off x="959644" y="8198644"/>
            <a:ext cx="1128712" cy="3048000"/>
            <a:chOff x="0" y="0"/>
            <a:chExt cx="1504950" cy="4064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D0DFB3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2" y="1010493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1"/>
                </a:lnTo>
                <a:lnTo>
                  <a:pt x="0" y="201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AutoShape 15"/>
          <p:cNvSpPr/>
          <p:nvPr/>
        </p:nvSpPr>
        <p:spPr>
          <a:xfrm rot="10782120">
            <a:off x="9132065" y="7124109"/>
            <a:ext cx="4585106" cy="0"/>
          </a:xfrm>
          <a:prstGeom prst="line">
            <a:avLst/>
          </a:prstGeom>
          <a:ln w="9525" cap="rnd">
            <a:solidFill>
              <a:srgbClr val="D0DFB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 rot="5279820">
            <a:off x="13364508" y="7453312"/>
            <a:ext cx="681457" cy="0"/>
          </a:xfrm>
          <a:prstGeom prst="line">
            <a:avLst/>
          </a:prstGeom>
          <a:ln w="9525" cap="rnd">
            <a:solidFill>
              <a:srgbClr val="D0DFB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4674279" y="2222383"/>
            <a:ext cx="8939517" cy="233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Usages, limites</a:t>
            </a:r>
          </a:p>
          <a:p>
            <a:pPr algn="ctr">
              <a:lnSpc>
                <a:spcPts val="8640"/>
              </a:lnSpc>
            </a:pPr>
            <a:endParaRPr lang="en-US" sz="7200" b="1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-1270913" y="4549279"/>
            <a:ext cx="19324408" cy="433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46"/>
              </a:lnSpc>
            </a:pPr>
            <a:r>
              <a:rPr lang="en-US" sz="2955">
                <a:solidFill>
                  <a:srgbClr val="F2F2F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Où Node brille, où il est moins adapté, et les cas d'usage réels qu'onrencontre en production</a:t>
            </a:r>
          </a:p>
        </p:txBody>
      </p:sp>
      <p:sp>
        <p:nvSpPr>
          <p:cNvPr id="19" name="AutoShape 19"/>
          <p:cNvSpPr/>
          <p:nvPr/>
        </p:nvSpPr>
        <p:spPr>
          <a:xfrm rot="71760">
            <a:off x="8573710" y="5699008"/>
            <a:ext cx="1140590" cy="0"/>
          </a:xfrm>
          <a:prstGeom prst="line">
            <a:avLst/>
          </a:prstGeom>
          <a:ln w="9525" cap="rnd">
            <a:solidFill>
              <a:srgbClr val="88A94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 rot="5333880">
            <a:off x="8525056" y="6531473"/>
            <a:ext cx="1237888" cy="0"/>
          </a:xfrm>
          <a:prstGeom prst="line">
            <a:avLst/>
          </a:prstGeom>
          <a:ln w="9525" cap="rnd">
            <a:solidFill>
              <a:srgbClr val="D0DFB3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21" name="Freeform 21"/>
          <p:cNvSpPr/>
          <p:nvPr/>
        </p:nvSpPr>
        <p:spPr>
          <a:xfrm>
            <a:off x="13131403" y="8487489"/>
            <a:ext cx="1169194" cy="1098690"/>
          </a:xfrm>
          <a:custGeom>
            <a:avLst/>
            <a:gdLst/>
            <a:ahLst/>
            <a:cxnLst/>
            <a:rect l="l" t="t" r="r" b="b"/>
            <a:pathLst>
              <a:path w="1169194" h="1098690">
                <a:moveTo>
                  <a:pt x="0" y="0"/>
                </a:moveTo>
                <a:lnTo>
                  <a:pt x="1169194" y="0"/>
                </a:lnTo>
                <a:lnTo>
                  <a:pt x="1169194" y="1098690"/>
                </a:lnTo>
                <a:lnTo>
                  <a:pt x="0" y="10986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68" cy="68580"/>
            <a:chOff x="0" y="0"/>
            <a:chExt cx="923823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67F34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7431750" y="455790"/>
            <a:ext cx="416328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39</a:t>
            </a:r>
          </a:p>
        </p:txBody>
      </p:sp>
      <p:sp>
        <p:nvSpPr>
          <p:cNvPr id="7" name="Freeform 7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 rot="110880">
            <a:off x="819388" y="9779260"/>
            <a:ext cx="590855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972323" y="7950060"/>
            <a:ext cx="1507969" cy="454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TIGER KIDS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72323" y="8407051"/>
            <a:ext cx="1647425" cy="291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Illustration Design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42699" y="465315"/>
            <a:ext cx="12962494" cy="887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728"/>
              </a:lnSpc>
            </a:pPr>
            <a:r>
              <a:rPr lang="en-US" sz="5607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Cas d'usage réels:</a:t>
            </a:r>
          </a:p>
        </p:txBody>
      </p:sp>
      <p:sp>
        <p:nvSpPr>
          <p:cNvPr id="13" name="Freeform 13"/>
          <p:cNvSpPr/>
          <p:nvPr/>
        </p:nvSpPr>
        <p:spPr>
          <a:xfrm>
            <a:off x="8668502" y="3157052"/>
            <a:ext cx="1019032" cy="1019032"/>
          </a:xfrm>
          <a:custGeom>
            <a:avLst/>
            <a:gdLst/>
            <a:ahLst/>
            <a:cxnLst/>
            <a:rect l="l" t="t" r="r" b="b"/>
            <a:pathLst>
              <a:path w="1019032" h="1019032">
                <a:moveTo>
                  <a:pt x="0" y="0"/>
                </a:moveTo>
                <a:lnTo>
                  <a:pt x="1019033" y="0"/>
                </a:lnTo>
                <a:lnTo>
                  <a:pt x="1019033" y="1019032"/>
                </a:lnTo>
                <a:lnTo>
                  <a:pt x="0" y="10190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" y="1848611"/>
            <a:ext cx="6025467" cy="2919992"/>
          </a:xfrm>
          <a:custGeom>
            <a:avLst/>
            <a:gdLst/>
            <a:ahLst/>
            <a:cxnLst/>
            <a:rect l="l" t="t" r="r" b="b"/>
            <a:pathLst>
              <a:path w="6025467" h="2919992">
                <a:moveTo>
                  <a:pt x="0" y="0"/>
                </a:moveTo>
                <a:lnTo>
                  <a:pt x="6025467" y="0"/>
                </a:lnTo>
                <a:lnTo>
                  <a:pt x="6025467" y="2919992"/>
                </a:lnTo>
                <a:lnTo>
                  <a:pt x="0" y="29199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81939" r="-103827" b="-207617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-27897" y="2308549"/>
            <a:ext cx="6114601" cy="51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22982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APIs REST &amp; GraphQL​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5852" y="3121984"/>
            <a:ext cx="5950851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 milliers de requête ssimultanées, beaucoup d'I/O réseau.</a:t>
            </a:r>
          </a:p>
        </p:txBody>
      </p:sp>
      <p:sp>
        <p:nvSpPr>
          <p:cNvPr id="17" name="Freeform 17"/>
          <p:cNvSpPr/>
          <p:nvPr/>
        </p:nvSpPr>
        <p:spPr>
          <a:xfrm>
            <a:off x="9301829" y="4956393"/>
            <a:ext cx="6120717" cy="3119755"/>
          </a:xfrm>
          <a:custGeom>
            <a:avLst/>
            <a:gdLst/>
            <a:ahLst/>
            <a:cxnLst/>
            <a:rect l="l" t="t" r="r" b="b"/>
            <a:pathLst>
              <a:path w="6120717" h="3119755">
                <a:moveTo>
                  <a:pt x="0" y="0"/>
                </a:moveTo>
                <a:lnTo>
                  <a:pt x="6120717" y="0"/>
                </a:lnTo>
                <a:lnTo>
                  <a:pt x="6120717" y="3119754"/>
                </a:lnTo>
                <a:lnTo>
                  <a:pt x="0" y="31197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70511" r="-101779" b="-196143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2796035" y="4956393"/>
            <a:ext cx="6025467" cy="3119755"/>
          </a:xfrm>
          <a:custGeom>
            <a:avLst/>
            <a:gdLst/>
            <a:ahLst/>
            <a:cxnLst/>
            <a:rect l="l" t="t" r="r" b="b"/>
            <a:pathLst>
              <a:path w="6025467" h="3119755">
                <a:moveTo>
                  <a:pt x="0" y="0"/>
                </a:moveTo>
                <a:lnTo>
                  <a:pt x="6025467" y="0"/>
                </a:lnTo>
                <a:lnTo>
                  <a:pt x="6025467" y="3119754"/>
                </a:lnTo>
                <a:lnTo>
                  <a:pt x="0" y="31197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580" t="-73161" r="-102450" b="-191816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2706901" y="5330578"/>
            <a:ext cx="6114601" cy="51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22982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CLI tools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751468" y="6141620"/>
            <a:ext cx="6114601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Création des outils en ligne de commande :linters, build tools, scaffolders.</a:t>
            </a:r>
          </a:p>
        </p:txBody>
      </p:sp>
      <p:sp>
        <p:nvSpPr>
          <p:cNvPr id="21" name="Freeform 21"/>
          <p:cNvSpPr/>
          <p:nvPr/>
        </p:nvSpPr>
        <p:spPr>
          <a:xfrm>
            <a:off x="6114602" y="1848611"/>
            <a:ext cx="6120717" cy="2919992"/>
          </a:xfrm>
          <a:custGeom>
            <a:avLst/>
            <a:gdLst/>
            <a:ahLst/>
            <a:cxnLst/>
            <a:rect l="l" t="t" r="r" b="b"/>
            <a:pathLst>
              <a:path w="6120717" h="2919992">
                <a:moveTo>
                  <a:pt x="0" y="0"/>
                </a:moveTo>
                <a:lnTo>
                  <a:pt x="6120717" y="0"/>
                </a:lnTo>
                <a:lnTo>
                  <a:pt x="6120717" y="2919992"/>
                </a:lnTo>
                <a:lnTo>
                  <a:pt x="0" y="29199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81587" r="-100856" b="-208359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6120718" y="2234921"/>
            <a:ext cx="6114601" cy="51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22982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Applications temps réel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238062" y="3121984"/>
            <a:ext cx="5997257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Chat, notifications, collaboration live — grâce à WebSocket et Socket.io.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687535" y="5330578"/>
            <a:ext cx="6114601" cy="51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22982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Streaming léger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95362" y="6141620"/>
            <a:ext cx="6114601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Diffusion de vidéo, audio, ou gros fichiers sans saturer la mémoire.</a:t>
            </a:r>
          </a:p>
        </p:txBody>
      </p:sp>
      <p:sp>
        <p:nvSpPr>
          <p:cNvPr id="26" name="Freeform 26"/>
          <p:cNvSpPr/>
          <p:nvPr/>
        </p:nvSpPr>
        <p:spPr>
          <a:xfrm>
            <a:off x="12362188" y="1848611"/>
            <a:ext cx="5925662" cy="2919992"/>
          </a:xfrm>
          <a:custGeom>
            <a:avLst/>
            <a:gdLst/>
            <a:ahLst/>
            <a:cxnLst/>
            <a:rect l="l" t="t" r="r" b="b"/>
            <a:pathLst>
              <a:path w="5925662" h="2919992">
                <a:moveTo>
                  <a:pt x="0" y="0"/>
                </a:moveTo>
                <a:lnTo>
                  <a:pt x="5925661" y="0"/>
                </a:lnTo>
                <a:lnTo>
                  <a:pt x="5925661" y="2919992"/>
                </a:lnTo>
                <a:lnTo>
                  <a:pt x="0" y="29199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188" t="-82704" r="-104072" b="-206852"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2263445" y="2234921"/>
            <a:ext cx="6043005" cy="51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22982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Microservices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352663" y="3121984"/>
            <a:ext cx="5935187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Petits services autonomes, faciles à déployer, à scaler horizontalement.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15992" y="8231258"/>
            <a:ext cx="17824432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C41A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N.B </a:t>
            </a:r>
            <a:r>
              <a:rPr lang="en-US" sz="22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Le système peut s’appuyer sur des approches modernes telles que le</a:t>
            </a:r>
            <a:r>
              <a:rPr lang="en-US" sz="2299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BFF </a:t>
            </a:r>
            <a:r>
              <a:rPr lang="en-US" sz="22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(Backend For Frontend) pour adapter les réponses aux besoins du client, et le </a:t>
            </a:r>
            <a:r>
              <a:rPr lang="en-US" sz="2299" b="1">
                <a:solidFill>
                  <a:srgbClr val="004AA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SSR </a:t>
            </a:r>
            <a:r>
              <a:rPr lang="en-US" sz="22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(Server-Side Rendering) afin d’améliorer le temps de chargement et le référencement</a:t>
            </a:r>
          </a:p>
        </p:txBody>
      </p:sp>
    </p:spTree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-171450"/>
            <a:ext cx="16840200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44546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Limites</a:t>
            </a:r>
            <a:r>
              <a:rPr lang="en-US" sz="9200" b="1" dirty="0">
                <a:solidFill>
                  <a:srgbClr val="44546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Node.js: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0" y="1990939"/>
            <a:ext cx="18288000" cy="8203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5"/>
              </a:lnSpc>
            </a:pPr>
            <a:r>
              <a:rPr lang="en-US" sz="2910" b="1">
                <a:solidFill>
                  <a:srgbClr val="C41A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Pas adapté aux calculs intensifs </a:t>
            </a:r>
          </a:p>
          <a:p>
            <a:pPr marL="628439" lvl="1" indent="-314220" algn="l">
              <a:lnSpc>
                <a:spcPts val="4075"/>
              </a:lnSpc>
              <a:buFont typeface="Arial"/>
              <a:buChar char="•"/>
            </a:pPr>
            <a:r>
              <a:rPr lang="en-US" sz="291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Node.js utilise un seul </a:t>
            </a:r>
            <a:r>
              <a:rPr lang="en-US" sz="2910" b="1">
                <a:solidFill>
                  <a:srgbClr val="F8952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thread principal</a:t>
            </a:r>
            <a:r>
              <a:rPr lang="en-US" sz="291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, ce qui le rend moins efficace pour les traitements lourds comme le machine learning ou le traitement d’image.</a:t>
            </a:r>
          </a:p>
          <a:p>
            <a:pPr algn="l">
              <a:lnSpc>
                <a:spcPts val="4075"/>
              </a:lnSpc>
            </a:pPr>
            <a:endParaRPr lang="en-US" sz="2910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4075"/>
              </a:lnSpc>
            </a:pPr>
            <a:r>
              <a:rPr lang="en-US" sz="2910" b="1">
                <a:solidFill>
                  <a:srgbClr val="C41A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Programmation asynchrone complexe </a:t>
            </a:r>
          </a:p>
          <a:p>
            <a:pPr marL="628439" lvl="1" indent="-314220" algn="l">
              <a:lnSpc>
                <a:spcPts val="4075"/>
              </a:lnSpc>
              <a:buFont typeface="Arial"/>
              <a:buChar char="•"/>
            </a:pPr>
            <a:r>
              <a:rPr lang="en-US" sz="291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 gestion des callbacks, des Promises et de async/await peut être difficile à comprendre pour les débutants.</a:t>
            </a:r>
          </a:p>
          <a:p>
            <a:pPr algn="l">
              <a:lnSpc>
                <a:spcPts val="4075"/>
              </a:lnSpc>
            </a:pPr>
            <a:endParaRPr lang="en-US" sz="2910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4075"/>
              </a:lnSpc>
            </a:pPr>
            <a:r>
              <a:rPr lang="en-US" sz="2910" b="1">
                <a:solidFill>
                  <a:srgbClr val="C41A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Gestion des dépendances </a:t>
            </a:r>
          </a:p>
          <a:p>
            <a:pPr marL="628439" lvl="1" indent="-314220" algn="l">
              <a:lnSpc>
                <a:spcPts val="4075"/>
              </a:lnSpc>
              <a:buFont typeface="Arial"/>
              <a:buChar char="•"/>
            </a:pPr>
            <a:r>
              <a:rPr lang="en-US" sz="291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Dans les grands projets, la multiplication des packages npm peut rendre la maintenance plus compliquée.</a:t>
            </a:r>
          </a:p>
          <a:p>
            <a:pPr algn="l">
              <a:lnSpc>
                <a:spcPts val="4075"/>
              </a:lnSpc>
            </a:pPr>
            <a:endParaRPr lang="en-US" sz="2910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4075"/>
              </a:lnSpc>
            </a:pPr>
            <a:r>
              <a:rPr lang="en-US" sz="2910" b="1">
                <a:solidFill>
                  <a:srgbClr val="C41A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Typage dynamique </a:t>
            </a:r>
          </a:p>
          <a:p>
            <a:pPr marL="628439" lvl="1" indent="-314220" algn="l">
              <a:lnSpc>
                <a:spcPts val="4075"/>
              </a:lnSpc>
              <a:buFont typeface="Arial"/>
              <a:buChar char="•"/>
            </a:pPr>
            <a:r>
              <a:rPr lang="en-US" sz="291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L’absence de typage strict peut entraîner des erreurs si le code n’est pas bien structuré et contrôlé.</a:t>
            </a:r>
          </a:p>
          <a:p>
            <a:pPr algn="ctr">
              <a:lnSpc>
                <a:spcPts val="4075"/>
              </a:lnSpc>
            </a:pPr>
            <a:endParaRPr lang="en-US" sz="2910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183FF493-727A-D718-FF3F-75BE6939CAA0}"/>
              </a:ext>
            </a:extLst>
          </p:cNvPr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E08BD04D-F161-E7D2-B4FB-0969BF77E45C}"/>
                </a:ext>
              </a:extLst>
            </p:cNvPr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  <p:txBody>
            <a:bodyPr/>
            <a:lstStyle/>
            <a:p>
              <a:endParaRPr lang="fr-FR" dirty="0"/>
            </a:p>
          </p:txBody>
        </p:sp>
      </p:grpSp>
      <p:sp>
        <p:nvSpPr>
          <p:cNvPr id="6" name="TextBox 10">
            <a:extLst>
              <a:ext uri="{FF2B5EF4-FFF2-40B4-BE49-F238E27FC236}">
                <a16:creationId xmlns:a16="http://schemas.microsoft.com/office/drawing/2014/main" id="{2E469E95-AE51-25BB-D9F5-F4F514B890CC}"/>
              </a:ext>
            </a:extLst>
          </p:cNvPr>
          <p:cNvSpPr txBox="1"/>
          <p:nvPr/>
        </p:nvSpPr>
        <p:spPr>
          <a:xfrm>
            <a:off x="17431750" y="455790"/>
            <a:ext cx="416319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40</a:t>
            </a:r>
          </a:p>
        </p:txBody>
      </p:sp>
    </p:spTree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4007644" y="8198644"/>
            <a:ext cx="1128712" cy="3048000"/>
            <a:chOff x="0" y="0"/>
            <a:chExt cx="1504950" cy="406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77933C"/>
            </a:solidFill>
          </p:spPr>
        </p:sp>
      </p:grpSp>
      <p:grpSp>
        <p:nvGrpSpPr>
          <p:cNvPr id="4" name="Group 4"/>
          <p:cNvGrpSpPr/>
          <p:nvPr/>
        </p:nvGrpSpPr>
        <p:grpSpPr>
          <a:xfrm rot="-5400000">
            <a:off x="7055644" y="8198644"/>
            <a:ext cx="1128712" cy="3048000"/>
            <a:chOff x="0" y="0"/>
            <a:chExt cx="1504950" cy="406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88A945"/>
            </a:solidFill>
          </p:spPr>
        </p:sp>
      </p:grpSp>
      <p:grpSp>
        <p:nvGrpSpPr>
          <p:cNvPr id="6" name="Group 6"/>
          <p:cNvGrpSpPr/>
          <p:nvPr/>
        </p:nvGrpSpPr>
        <p:grpSpPr>
          <a:xfrm rot="-5400000">
            <a:off x="10103644" y="8198644"/>
            <a:ext cx="1128712" cy="3048000"/>
            <a:chOff x="0" y="0"/>
            <a:chExt cx="1504950" cy="4064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9BBB59"/>
            </a:solidFill>
          </p:spPr>
        </p:sp>
      </p:grpSp>
      <p:grpSp>
        <p:nvGrpSpPr>
          <p:cNvPr id="8" name="Group 8"/>
          <p:cNvGrpSpPr/>
          <p:nvPr/>
        </p:nvGrpSpPr>
        <p:grpSpPr>
          <a:xfrm rot="-5400000">
            <a:off x="12465844" y="7512844"/>
            <a:ext cx="2500312" cy="3048000"/>
            <a:chOff x="0" y="0"/>
            <a:chExt cx="3333750" cy="4064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333750" cy="4064000"/>
            </a:xfrm>
            <a:custGeom>
              <a:avLst/>
              <a:gdLst/>
              <a:ahLst/>
              <a:cxnLst/>
              <a:rect l="l" t="t" r="r" b="b"/>
              <a:pathLst>
                <a:path w="3333750" h="4064000">
                  <a:moveTo>
                    <a:pt x="0" y="0"/>
                  </a:moveTo>
                  <a:lnTo>
                    <a:pt x="3333750" y="0"/>
                  </a:lnTo>
                  <a:lnTo>
                    <a:pt x="33337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ACC777"/>
            </a:solidFill>
          </p:spPr>
        </p:sp>
      </p:grpSp>
      <p:grpSp>
        <p:nvGrpSpPr>
          <p:cNvPr id="10" name="Group 10"/>
          <p:cNvGrpSpPr/>
          <p:nvPr/>
        </p:nvGrpSpPr>
        <p:grpSpPr>
          <a:xfrm rot="-5400000">
            <a:off x="16199653" y="8198653"/>
            <a:ext cx="1128703" cy="3048000"/>
            <a:chOff x="0" y="0"/>
            <a:chExt cx="1504937" cy="4064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C0D498"/>
            </a:solidFill>
          </p:spPr>
        </p:sp>
      </p:grpSp>
      <p:grpSp>
        <p:nvGrpSpPr>
          <p:cNvPr id="12" name="Group 12"/>
          <p:cNvGrpSpPr/>
          <p:nvPr/>
        </p:nvGrpSpPr>
        <p:grpSpPr>
          <a:xfrm rot="-5400000">
            <a:off x="959644" y="8198644"/>
            <a:ext cx="1128712" cy="3048000"/>
            <a:chOff x="0" y="0"/>
            <a:chExt cx="1504950" cy="4064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D0DFB3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2" y="1010493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1"/>
                </a:lnTo>
                <a:lnTo>
                  <a:pt x="0" y="201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AutoShape 15"/>
          <p:cNvSpPr/>
          <p:nvPr/>
        </p:nvSpPr>
        <p:spPr>
          <a:xfrm rot="10782120">
            <a:off x="9132065" y="7124109"/>
            <a:ext cx="4585106" cy="0"/>
          </a:xfrm>
          <a:prstGeom prst="line">
            <a:avLst/>
          </a:prstGeom>
          <a:ln w="9525" cap="rnd">
            <a:solidFill>
              <a:srgbClr val="D0DFB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 rot="5279820">
            <a:off x="13364508" y="7453312"/>
            <a:ext cx="681457" cy="0"/>
          </a:xfrm>
          <a:prstGeom prst="line">
            <a:avLst/>
          </a:prstGeom>
          <a:ln w="9525" cap="rnd">
            <a:solidFill>
              <a:srgbClr val="D0DFB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3252557" y="2167309"/>
            <a:ext cx="11806694" cy="1646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11"/>
              </a:lnSpc>
            </a:pPr>
            <a:r>
              <a:rPr lang="en-US" sz="9509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-530108" y="4487925"/>
            <a:ext cx="19324408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46"/>
              </a:lnSpc>
            </a:pPr>
            <a:r>
              <a:rPr lang="en-US" sz="2955" dirty="0" err="1">
                <a:solidFill>
                  <a:srgbClr val="F2F2F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Synthèse</a:t>
            </a:r>
            <a:r>
              <a:rPr lang="en-US" sz="2955" dirty="0">
                <a:solidFill>
                  <a:srgbClr val="F2F2F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</a:t>
            </a:r>
            <a:r>
              <a:rPr lang="en-US" sz="2955" dirty="0" err="1">
                <a:solidFill>
                  <a:srgbClr val="F2F2F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critères</a:t>
            </a:r>
            <a:r>
              <a:rPr lang="en-US" sz="2955" dirty="0">
                <a:solidFill>
                  <a:srgbClr val="F2F2F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de choix, et la suite du chemin pour </a:t>
            </a:r>
            <a:r>
              <a:rPr lang="en-US" sz="2955" dirty="0" err="1">
                <a:solidFill>
                  <a:srgbClr val="F2F2F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approfondir</a:t>
            </a:r>
            <a:r>
              <a:rPr lang="en-US" sz="2955" dirty="0">
                <a:solidFill>
                  <a:srgbClr val="F2F2F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</a:p>
        </p:txBody>
      </p:sp>
      <p:sp>
        <p:nvSpPr>
          <p:cNvPr id="19" name="AutoShape 19"/>
          <p:cNvSpPr/>
          <p:nvPr/>
        </p:nvSpPr>
        <p:spPr>
          <a:xfrm rot="71760">
            <a:off x="8573710" y="5699008"/>
            <a:ext cx="1140590" cy="0"/>
          </a:xfrm>
          <a:prstGeom prst="line">
            <a:avLst/>
          </a:prstGeom>
          <a:ln w="9525" cap="rnd">
            <a:solidFill>
              <a:srgbClr val="88A94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 rot="5333880">
            <a:off x="8525056" y="6531473"/>
            <a:ext cx="1237888" cy="0"/>
          </a:xfrm>
          <a:prstGeom prst="line">
            <a:avLst/>
          </a:prstGeom>
          <a:ln w="9525" cap="rnd">
            <a:solidFill>
              <a:srgbClr val="D0DFB3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21" name="Freeform 21"/>
          <p:cNvSpPr/>
          <p:nvPr/>
        </p:nvSpPr>
        <p:spPr>
          <a:xfrm>
            <a:off x="13131403" y="8487489"/>
            <a:ext cx="1169194" cy="1098690"/>
          </a:xfrm>
          <a:custGeom>
            <a:avLst/>
            <a:gdLst/>
            <a:ahLst/>
            <a:cxnLst/>
            <a:rect l="l" t="t" r="r" b="b"/>
            <a:pathLst>
              <a:path w="1169194" h="1098690">
                <a:moveTo>
                  <a:pt x="0" y="0"/>
                </a:moveTo>
                <a:lnTo>
                  <a:pt x="1169194" y="0"/>
                </a:lnTo>
                <a:lnTo>
                  <a:pt x="1169194" y="1098690"/>
                </a:lnTo>
                <a:lnTo>
                  <a:pt x="0" y="10986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9280" y="-155755"/>
            <a:ext cx="10323371" cy="1183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28"/>
              </a:lnSpc>
            </a:pPr>
            <a:r>
              <a:rPr lang="en-US" sz="6948" b="1">
                <a:solidFill>
                  <a:srgbClr val="44546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Quand choisir Node.js 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0" y="1227741"/>
            <a:ext cx="18288000" cy="2734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i="1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Choisissez Node quand votre problème est dominé par de l'</a:t>
            </a:r>
            <a:r>
              <a:rPr lang="en-US" sz="5199" b="1" i="1">
                <a:solidFill>
                  <a:srgbClr val="004AAD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I/O concurrent</a:t>
            </a:r>
            <a:r>
              <a:rPr lang="en-US" sz="5199" b="1" i="1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. Cherchez autre chose quand il est dominé par du </a:t>
            </a:r>
            <a:r>
              <a:rPr lang="en-US" sz="5199" b="1" i="1">
                <a:solidFill>
                  <a:srgbClr val="C41A16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calcul lourd.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8700" y="4649230"/>
            <a:ext cx="5425066" cy="5637770"/>
            <a:chOff x="0" y="0"/>
            <a:chExt cx="1428824" cy="148484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28824" cy="1484845"/>
            </a:xfrm>
            <a:custGeom>
              <a:avLst/>
              <a:gdLst/>
              <a:ahLst/>
              <a:cxnLst/>
              <a:rect l="l" t="t" r="r" b="b"/>
              <a:pathLst>
                <a:path w="1428824" h="1484845">
                  <a:moveTo>
                    <a:pt x="24260" y="0"/>
                  </a:moveTo>
                  <a:lnTo>
                    <a:pt x="1404564" y="0"/>
                  </a:lnTo>
                  <a:cubicBezTo>
                    <a:pt x="1417962" y="0"/>
                    <a:pt x="1428824" y="10862"/>
                    <a:pt x="1428824" y="24260"/>
                  </a:cubicBezTo>
                  <a:lnTo>
                    <a:pt x="1428824" y="1460585"/>
                  </a:lnTo>
                  <a:cubicBezTo>
                    <a:pt x="1428824" y="1473983"/>
                    <a:pt x="1417962" y="1484845"/>
                    <a:pt x="1404564" y="1484845"/>
                  </a:cubicBezTo>
                  <a:lnTo>
                    <a:pt x="24260" y="1484845"/>
                  </a:lnTo>
                  <a:cubicBezTo>
                    <a:pt x="10862" y="1484845"/>
                    <a:pt x="0" y="1473983"/>
                    <a:pt x="0" y="1460585"/>
                  </a:cubicBezTo>
                  <a:lnTo>
                    <a:pt x="0" y="24260"/>
                  </a:lnTo>
                  <a:cubicBezTo>
                    <a:pt x="0" y="10862"/>
                    <a:pt x="10862" y="0"/>
                    <a:pt x="2426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428824" cy="1532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862934" y="4649230"/>
            <a:ext cx="5425066" cy="5637770"/>
            <a:chOff x="0" y="0"/>
            <a:chExt cx="1428824" cy="14848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28824" cy="1484845"/>
            </a:xfrm>
            <a:custGeom>
              <a:avLst/>
              <a:gdLst/>
              <a:ahLst/>
              <a:cxnLst/>
              <a:rect l="l" t="t" r="r" b="b"/>
              <a:pathLst>
                <a:path w="1428824" h="1484845">
                  <a:moveTo>
                    <a:pt x="24260" y="0"/>
                  </a:moveTo>
                  <a:lnTo>
                    <a:pt x="1404564" y="0"/>
                  </a:lnTo>
                  <a:cubicBezTo>
                    <a:pt x="1417962" y="0"/>
                    <a:pt x="1428824" y="10862"/>
                    <a:pt x="1428824" y="24260"/>
                  </a:cubicBezTo>
                  <a:lnTo>
                    <a:pt x="1428824" y="1460585"/>
                  </a:lnTo>
                  <a:cubicBezTo>
                    <a:pt x="1428824" y="1473983"/>
                    <a:pt x="1417962" y="1484845"/>
                    <a:pt x="1404564" y="1484845"/>
                  </a:cubicBezTo>
                  <a:lnTo>
                    <a:pt x="24260" y="1484845"/>
                  </a:lnTo>
                  <a:cubicBezTo>
                    <a:pt x="10862" y="1484845"/>
                    <a:pt x="0" y="1473983"/>
                    <a:pt x="0" y="1460585"/>
                  </a:cubicBezTo>
                  <a:lnTo>
                    <a:pt x="0" y="24260"/>
                  </a:lnTo>
                  <a:cubicBezTo>
                    <a:pt x="0" y="10862"/>
                    <a:pt x="10862" y="0"/>
                    <a:pt x="24260" y="0"/>
                  </a:cubicBezTo>
                  <a:close/>
                </a:path>
              </a:pathLst>
            </a:custGeom>
            <a:solidFill>
              <a:srgbClr val="44546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428824" cy="1532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559230" y="4561934"/>
            <a:ext cx="4364006" cy="1048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27"/>
              </a:lnSpc>
            </a:pPr>
            <a:r>
              <a:rPr lang="en-US" sz="6162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Bonne idée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50098" y="4561934"/>
            <a:ext cx="3250739" cy="1048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27"/>
              </a:lnSpc>
            </a:pPr>
            <a:r>
              <a:rPr lang="en-US" sz="6162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À éviter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3072" y="5544091"/>
            <a:ext cx="4570164" cy="5151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2376" lvl="1" indent="-351188" algn="l">
              <a:lnSpc>
                <a:spcPts val="4554"/>
              </a:lnSpc>
              <a:buFont typeface="Arial"/>
              <a:buChar char="•"/>
            </a:pPr>
            <a:r>
              <a:rPr lang="en-US" sz="325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APIs REST à fort trafic </a:t>
            </a:r>
          </a:p>
          <a:p>
            <a:pPr marL="702376" lvl="1" indent="-351188" algn="l">
              <a:lnSpc>
                <a:spcPts val="4554"/>
              </a:lnSpc>
              <a:buFont typeface="Arial"/>
              <a:buChar char="•"/>
            </a:pPr>
            <a:r>
              <a:rPr lang="en-US" sz="325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Applications temps réel (WebSocket) </a:t>
            </a:r>
          </a:p>
          <a:p>
            <a:pPr marL="702376" lvl="1" indent="-351188" algn="l">
              <a:lnSpc>
                <a:spcPts val="4554"/>
              </a:lnSpc>
              <a:buFont typeface="Arial"/>
              <a:buChar char="•"/>
            </a:pPr>
            <a:r>
              <a:rPr lang="en-US" sz="325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Microservices </a:t>
            </a:r>
          </a:p>
          <a:p>
            <a:pPr marL="702376" lvl="1" indent="-351188" algn="l">
              <a:lnSpc>
                <a:spcPts val="4554"/>
              </a:lnSpc>
              <a:buFont typeface="Arial"/>
              <a:buChar char="•"/>
            </a:pPr>
            <a:r>
              <a:rPr lang="en-US" sz="325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Outils CLI et prototypes </a:t>
            </a:r>
          </a:p>
          <a:p>
            <a:pPr marL="702376" lvl="1" indent="-351188" algn="l">
              <a:lnSpc>
                <a:spcPts val="4554"/>
              </a:lnSpc>
              <a:buFont typeface="Arial"/>
              <a:buChar char="•"/>
            </a:pPr>
            <a:r>
              <a:rPr lang="en-US" sz="325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SSR (Next.js, Nuxt)</a:t>
            </a:r>
          </a:p>
          <a:p>
            <a:pPr algn="l">
              <a:lnSpc>
                <a:spcPts val="4554"/>
              </a:lnSpc>
            </a:pPr>
            <a:endParaRPr lang="en-US" sz="3253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290385" y="5544091"/>
            <a:ext cx="4570164" cy="4577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2376" lvl="1" indent="-351188" algn="l">
              <a:lnSpc>
                <a:spcPts val="4554"/>
              </a:lnSpc>
              <a:buFont typeface="Arial"/>
              <a:buChar char="•"/>
            </a:pPr>
            <a:r>
              <a:rPr lang="en-US" sz="325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Traitement d’image / vidéo lourd </a:t>
            </a:r>
          </a:p>
          <a:p>
            <a:pPr marL="702376" lvl="1" indent="-351188" algn="l">
              <a:lnSpc>
                <a:spcPts val="4554"/>
              </a:lnSpc>
              <a:buFont typeface="Arial"/>
              <a:buChar char="•"/>
            </a:pPr>
            <a:r>
              <a:rPr lang="en-US" sz="325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Machine learning </a:t>
            </a:r>
          </a:p>
          <a:p>
            <a:pPr marL="702376" lvl="1" indent="-351188" algn="l">
              <a:lnSpc>
                <a:spcPts val="4554"/>
              </a:lnSpc>
              <a:buFont typeface="Arial"/>
              <a:buChar char="•"/>
            </a:pPr>
            <a:r>
              <a:rPr lang="en-US" sz="325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Calcul scientifique intensif </a:t>
            </a:r>
          </a:p>
          <a:p>
            <a:pPr marL="702376" lvl="1" indent="-351188" algn="l">
              <a:lnSpc>
                <a:spcPts val="4554"/>
              </a:lnSpc>
              <a:buFont typeface="Arial"/>
              <a:buChar char="•"/>
            </a:pPr>
            <a:r>
              <a:rPr lang="en-US" sz="325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Applications CPU-bound</a:t>
            </a:r>
          </a:p>
          <a:p>
            <a:pPr algn="l">
              <a:lnSpc>
                <a:spcPts val="4554"/>
              </a:lnSpc>
            </a:pPr>
            <a:endParaRPr lang="en-US" sz="3253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4" name="Group 2">
            <a:extLst>
              <a:ext uri="{FF2B5EF4-FFF2-40B4-BE49-F238E27FC236}">
                <a16:creationId xmlns:a16="http://schemas.microsoft.com/office/drawing/2014/main" id="{960AFEF0-BDEB-7F0E-B928-BED22EDF6D62}"/>
              </a:ext>
            </a:extLst>
          </p:cNvPr>
          <p:cNvGrpSpPr/>
          <p:nvPr/>
        </p:nvGrpSpPr>
        <p:grpSpPr>
          <a:xfrm>
            <a:off x="17293476" y="410318"/>
            <a:ext cx="692868" cy="551469"/>
            <a:chOff x="0" y="0"/>
            <a:chExt cx="923823" cy="735292"/>
          </a:xfrm>
        </p:grpSpPr>
        <p:sp>
          <p:nvSpPr>
            <p:cNvPr id="15" name="Freeform 3">
              <a:extLst>
                <a:ext uri="{FF2B5EF4-FFF2-40B4-BE49-F238E27FC236}">
                  <a16:creationId xmlns:a16="http://schemas.microsoft.com/office/drawing/2014/main" id="{B9F2826D-AA14-1388-C5C8-F237581F835E}"/>
                </a:ext>
              </a:extLst>
            </p:cNvPr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88A945"/>
            </a:solidFill>
          </p:spPr>
          <p:txBody>
            <a:bodyPr/>
            <a:lstStyle/>
            <a:p>
              <a:endParaRPr lang="fr-FR" dirty="0"/>
            </a:p>
          </p:txBody>
        </p:sp>
      </p:grpSp>
      <p:sp>
        <p:nvSpPr>
          <p:cNvPr id="16" name="TextBox 10">
            <a:extLst>
              <a:ext uri="{FF2B5EF4-FFF2-40B4-BE49-F238E27FC236}">
                <a16:creationId xmlns:a16="http://schemas.microsoft.com/office/drawing/2014/main" id="{F642210F-3164-3558-430C-70DBBE0E2C41}"/>
              </a:ext>
            </a:extLst>
          </p:cNvPr>
          <p:cNvSpPr txBox="1"/>
          <p:nvPr/>
        </p:nvSpPr>
        <p:spPr>
          <a:xfrm>
            <a:off x="17431750" y="455790"/>
            <a:ext cx="416319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42</a:t>
            </a:r>
          </a:p>
        </p:txBody>
      </p:sp>
    </p:spTree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28D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-3619490" y="3619510"/>
            <a:ext cx="10286981" cy="3048000"/>
            <a:chOff x="0" y="0"/>
            <a:chExt cx="13715975" cy="406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4064000"/>
            </a:xfrm>
            <a:custGeom>
              <a:avLst/>
              <a:gdLst/>
              <a:ahLst/>
              <a:cxnLst/>
              <a:rect l="l" t="t" r="r" b="b"/>
              <a:pathLst>
                <a:path w="13716000" h="4064000">
                  <a:moveTo>
                    <a:pt x="0" y="0"/>
                  </a:moveTo>
                  <a:lnTo>
                    <a:pt x="13716000" y="0"/>
                  </a:lnTo>
                  <a:lnTo>
                    <a:pt x="13716000" y="4064000"/>
                  </a:lnTo>
                  <a:lnTo>
                    <a:pt x="0" y="4064000"/>
                  </a:lnTo>
                  <a:close/>
                </a:path>
              </a:pathLst>
            </a:custGeom>
            <a:gradFill rotWithShape="1">
              <a:gsLst>
                <a:gs pos="0">
                  <a:srgbClr val="728D3C">
                    <a:alpha val="100000"/>
                  </a:srgbClr>
                </a:gs>
                <a:gs pos="100000">
                  <a:srgbClr val="D0DFB3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id="4" name="Group 4"/>
          <p:cNvGrpSpPr/>
          <p:nvPr/>
        </p:nvGrpSpPr>
        <p:grpSpPr>
          <a:xfrm rot="-5400000">
            <a:off x="-571490" y="3619510"/>
            <a:ext cx="10286981" cy="3048000"/>
            <a:chOff x="0" y="0"/>
            <a:chExt cx="13715975" cy="406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716000" cy="4064000"/>
            </a:xfrm>
            <a:custGeom>
              <a:avLst/>
              <a:gdLst/>
              <a:ahLst/>
              <a:cxnLst/>
              <a:rect l="l" t="t" r="r" b="b"/>
              <a:pathLst>
                <a:path w="13716000" h="4064000">
                  <a:moveTo>
                    <a:pt x="0" y="0"/>
                  </a:moveTo>
                  <a:lnTo>
                    <a:pt x="13716000" y="0"/>
                  </a:lnTo>
                  <a:lnTo>
                    <a:pt x="13716000" y="4064000"/>
                  </a:lnTo>
                  <a:lnTo>
                    <a:pt x="0" y="4064000"/>
                  </a:lnTo>
                  <a:close/>
                </a:path>
              </a:pathLst>
            </a:custGeom>
            <a:gradFill rotWithShape="1">
              <a:gsLst>
                <a:gs pos="0">
                  <a:srgbClr val="3C4A1E">
                    <a:alpha val="100000"/>
                  </a:srgbClr>
                </a:gs>
                <a:gs pos="100000">
                  <a:srgbClr val="77933C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id="6" name="Group 6"/>
          <p:cNvGrpSpPr/>
          <p:nvPr/>
        </p:nvGrpSpPr>
        <p:grpSpPr>
          <a:xfrm rot="-5400000">
            <a:off x="2476519" y="3619510"/>
            <a:ext cx="10286971" cy="3048000"/>
            <a:chOff x="0" y="0"/>
            <a:chExt cx="13715962" cy="4064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716000" cy="4064000"/>
            </a:xfrm>
            <a:custGeom>
              <a:avLst/>
              <a:gdLst/>
              <a:ahLst/>
              <a:cxnLst/>
              <a:rect l="l" t="t" r="r" b="b"/>
              <a:pathLst>
                <a:path w="13716000" h="4064000">
                  <a:moveTo>
                    <a:pt x="0" y="0"/>
                  </a:moveTo>
                  <a:lnTo>
                    <a:pt x="13716000" y="0"/>
                  </a:lnTo>
                  <a:lnTo>
                    <a:pt x="13716000" y="4064000"/>
                  </a:lnTo>
                  <a:lnTo>
                    <a:pt x="0" y="4064000"/>
                  </a:lnTo>
                  <a:close/>
                </a:path>
              </a:pathLst>
            </a:custGeom>
            <a:gradFill rotWithShape="1">
              <a:gsLst>
                <a:gs pos="0">
                  <a:srgbClr val="445523">
                    <a:alpha val="100000"/>
                  </a:srgbClr>
                </a:gs>
                <a:gs pos="100000">
                  <a:srgbClr val="88A945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id="8" name="Group 8"/>
          <p:cNvGrpSpPr/>
          <p:nvPr/>
        </p:nvGrpSpPr>
        <p:grpSpPr>
          <a:xfrm rot="-5400000">
            <a:off x="5524500" y="3619500"/>
            <a:ext cx="10287000" cy="3048000"/>
            <a:chOff x="0" y="0"/>
            <a:chExt cx="13716000" cy="4064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716000" cy="4064000"/>
            </a:xfrm>
            <a:custGeom>
              <a:avLst/>
              <a:gdLst/>
              <a:ahLst/>
              <a:cxnLst/>
              <a:rect l="l" t="t" r="r" b="b"/>
              <a:pathLst>
                <a:path w="13716000" h="4064000">
                  <a:moveTo>
                    <a:pt x="0" y="0"/>
                  </a:moveTo>
                  <a:lnTo>
                    <a:pt x="13716000" y="0"/>
                  </a:lnTo>
                  <a:lnTo>
                    <a:pt x="13716000" y="4064000"/>
                  </a:lnTo>
                  <a:lnTo>
                    <a:pt x="0" y="4064000"/>
                  </a:lnTo>
                  <a:close/>
                </a:path>
              </a:pathLst>
            </a:custGeom>
            <a:gradFill rotWithShape="1">
              <a:gsLst>
                <a:gs pos="0">
                  <a:srgbClr val="4F6228">
                    <a:alpha val="100000"/>
                  </a:srgbClr>
                </a:gs>
                <a:gs pos="100000">
                  <a:srgbClr val="9BBB59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id="10" name="Group 10"/>
          <p:cNvGrpSpPr/>
          <p:nvPr/>
        </p:nvGrpSpPr>
        <p:grpSpPr>
          <a:xfrm rot="-5400000">
            <a:off x="8572500" y="3619500"/>
            <a:ext cx="10287000" cy="3048000"/>
            <a:chOff x="0" y="0"/>
            <a:chExt cx="13716000" cy="4064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716000" cy="4064000"/>
            </a:xfrm>
            <a:custGeom>
              <a:avLst/>
              <a:gdLst/>
              <a:ahLst/>
              <a:cxnLst/>
              <a:rect l="l" t="t" r="r" b="b"/>
              <a:pathLst>
                <a:path w="13716000" h="4064000">
                  <a:moveTo>
                    <a:pt x="0" y="0"/>
                  </a:moveTo>
                  <a:lnTo>
                    <a:pt x="13716000" y="0"/>
                  </a:lnTo>
                  <a:lnTo>
                    <a:pt x="13716000" y="4064000"/>
                  </a:lnTo>
                  <a:lnTo>
                    <a:pt x="0" y="4064000"/>
                  </a:lnTo>
                  <a:close/>
                </a:path>
              </a:pathLst>
            </a:custGeom>
            <a:gradFill rotWithShape="1">
              <a:gsLst>
                <a:gs pos="0">
                  <a:srgbClr val="5A712E">
                    <a:alpha val="100000"/>
                  </a:srgbClr>
                </a:gs>
                <a:gs pos="100000">
                  <a:srgbClr val="ACC777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id="12" name="Group 12"/>
          <p:cNvGrpSpPr/>
          <p:nvPr/>
        </p:nvGrpSpPr>
        <p:grpSpPr>
          <a:xfrm rot="-5400000">
            <a:off x="11620567" y="3619557"/>
            <a:ext cx="10286876" cy="3048000"/>
            <a:chOff x="0" y="0"/>
            <a:chExt cx="13715835" cy="4064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715873" cy="4064000"/>
            </a:xfrm>
            <a:custGeom>
              <a:avLst/>
              <a:gdLst/>
              <a:ahLst/>
              <a:cxnLst/>
              <a:rect l="l" t="t" r="r" b="b"/>
              <a:pathLst>
                <a:path w="13715873" h="4064000">
                  <a:moveTo>
                    <a:pt x="0" y="0"/>
                  </a:moveTo>
                  <a:lnTo>
                    <a:pt x="13715873" y="0"/>
                  </a:lnTo>
                  <a:lnTo>
                    <a:pt x="13715873" y="4064000"/>
                  </a:lnTo>
                  <a:lnTo>
                    <a:pt x="0" y="4064000"/>
                  </a:lnTo>
                  <a:close/>
                </a:path>
              </a:pathLst>
            </a:custGeom>
            <a:gradFill rotWithShape="1">
              <a:gsLst>
                <a:gs pos="0">
                  <a:srgbClr val="678036">
                    <a:alpha val="100000"/>
                  </a:srgbClr>
                </a:gs>
                <a:gs pos="100000">
                  <a:srgbClr val="C0D498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id="14" name="Freeform 14"/>
          <p:cNvSpPr/>
          <p:nvPr/>
        </p:nvSpPr>
        <p:spPr>
          <a:xfrm>
            <a:off x="15246753" y="8432844"/>
            <a:ext cx="3041247" cy="2223735"/>
          </a:xfrm>
          <a:custGeom>
            <a:avLst/>
            <a:gdLst/>
            <a:ahLst/>
            <a:cxnLst/>
            <a:rect l="l" t="t" r="r" b="b"/>
            <a:pathLst>
              <a:path w="3041247" h="2223735">
                <a:moveTo>
                  <a:pt x="0" y="0"/>
                </a:moveTo>
                <a:lnTo>
                  <a:pt x="3041247" y="0"/>
                </a:lnTo>
                <a:lnTo>
                  <a:pt x="3041247" y="2223736"/>
                </a:lnTo>
                <a:lnTo>
                  <a:pt x="0" y="2223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193591" y="6900310"/>
            <a:ext cx="3053163" cy="3756279"/>
          </a:xfrm>
          <a:custGeom>
            <a:avLst/>
            <a:gdLst/>
            <a:ahLst/>
            <a:cxnLst/>
            <a:rect l="l" t="t" r="r" b="b"/>
            <a:pathLst>
              <a:path w="3053163" h="3756279">
                <a:moveTo>
                  <a:pt x="0" y="0"/>
                </a:moveTo>
                <a:lnTo>
                  <a:pt x="3053162" y="0"/>
                </a:lnTo>
                <a:lnTo>
                  <a:pt x="3053162" y="3756279"/>
                </a:lnTo>
                <a:lnTo>
                  <a:pt x="0" y="37562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9147572" y="7813157"/>
            <a:ext cx="3046009" cy="2843422"/>
          </a:xfrm>
          <a:custGeom>
            <a:avLst/>
            <a:gdLst/>
            <a:ahLst/>
            <a:cxnLst/>
            <a:rect l="l" t="t" r="r" b="b"/>
            <a:pathLst>
              <a:path w="3046009" h="2843422">
                <a:moveTo>
                  <a:pt x="0" y="0"/>
                </a:moveTo>
                <a:lnTo>
                  <a:pt x="3046009" y="0"/>
                </a:lnTo>
                <a:lnTo>
                  <a:pt x="3046009" y="2843423"/>
                </a:lnTo>
                <a:lnTo>
                  <a:pt x="0" y="28434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6106325" y="7264965"/>
            <a:ext cx="3041247" cy="3391614"/>
          </a:xfrm>
          <a:custGeom>
            <a:avLst/>
            <a:gdLst/>
            <a:ahLst/>
            <a:cxnLst/>
            <a:rect l="l" t="t" r="r" b="b"/>
            <a:pathLst>
              <a:path w="3041247" h="3391614">
                <a:moveTo>
                  <a:pt x="0" y="0"/>
                </a:moveTo>
                <a:lnTo>
                  <a:pt x="3041247" y="0"/>
                </a:lnTo>
                <a:lnTo>
                  <a:pt x="3041247" y="3391615"/>
                </a:lnTo>
                <a:lnTo>
                  <a:pt x="0" y="33916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3053163" y="6540408"/>
            <a:ext cx="3053163" cy="4116172"/>
          </a:xfrm>
          <a:custGeom>
            <a:avLst/>
            <a:gdLst/>
            <a:ahLst/>
            <a:cxnLst/>
            <a:rect l="l" t="t" r="r" b="b"/>
            <a:pathLst>
              <a:path w="3053163" h="4116172">
                <a:moveTo>
                  <a:pt x="0" y="0"/>
                </a:moveTo>
                <a:lnTo>
                  <a:pt x="3053162" y="0"/>
                </a:lnTo>
                <a:lnTo>
                  <a:pt x="3053162" y="4116172"/>
                </a:lnTo>
                <a:lnTo>
                  <a:pt x="0" y="41161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4762" y="6673882"/>
            <a:ext cx="3048400" cy="3982698"/>
          </a:xfrm>
          <a:custGeom>
            <a:avLst/>
            <a:gdLst/>
            <a:ahLst/>
            <a:cxnLst/>
            <a:rect l="l" t="t" r="r" b="b"/>
            <a:pathLst>
              <a:path w="3048400" h="3982698">
                <a:moveTo>
                  <a:pt x="0" y="0"/>
                </a:moveTo>
                <a:lnTo>
                  <a:pt x="3048401" y="0"/>
                </a:lnTo>
                <a:lnTo>
                  <a:pt x="3048401" y="3982698"/>
                </a:lnTo>
                <a:lnTo>
                  <a:pt x="0" y="398269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5001767" y="3343714"/>
            <a:ext cx="8284465" cy="1799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17"/>
              </a:lnSpc>
            </a:pPr>
            <a:r>
              <a:rPr lang="en-US" sz="10431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Partie Pratique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5120</Words>
  <Application>Microsoft Office PowerPoint</Application>
  <PresentationFormat>Personnalisé</PresentationFormat>
  <Paragraphs>627</Paragraphs>
  <Slides>64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64</vt:i4>
      </vt:variant>
    </vt:vector>
  </HeadingPairs>
  <TitlesOfParts>
    <vt:vector size="84" baseType="lpstr">
      <vt:lpstr>Calibri</vt:lpstr>
      <vt:lpstr>Source Serif Pro Bold</vt:lpstr>
      <vt:lpstr>Arial Bold</vt:lpstr>
      <vt:lpstr>Source Sans Pro</vt:lpstr>
      <vt:lpstr>Calibri (MS) Bold Italics</vt:lpstr>
      <vt:lpstr>Source Sans Pro Bold</vt:lpstr>
      <vt:lpstr>Geometrica Sans Bold</vt:lpstr>
      <vt:lpstr>Open Sans</vt:lpstr>
      <vt:lpstr>Open Sans Bold</vt:lpstr>
      <vt:lpstr>DM Sans</vt:lpstr>
      <vt:lpstr>Calibri (MS) Bold</vt:lpstr>
      <vt:lpstr>Calibri (MS) Italics</vt:lpstr>
      <vt:lpstr>Arial</vt:lpstr>
      <vt:lpstr>Agbalumo</vt:lpstr>
      <vt:lpstr>Georgia Pro Italics</vt:lpstr>
      <vt:lpstr>Georgia Pro Bold</vt:lpstr>
      <vt:lpstr>Calibri (MS)</vt:lpstr>
      <vt:lpstr>DM Sans Bold</vt:lpstr>
      <vt:lpstr>Open Sans Bold Italics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Presentation.pptx</dc:title>
  <cp:lastModifiedBy>mohamed eddaiyf</cp:lastModifiedBy>
  <cp:revision>3</cp:revision>
  <dcterms:created xsi:type="dcterms:W3CDTF">2006-08-16T00:00:00Z</dcterms:created>
  <dcterms:modified xsi:type="dcterms:W3CDTF">2026-05-03T14:31:46Z</dcterms:modified>
  <dc:identifier>DAHIR2q57LY</dc:identifier>
</cp:coreProperties>
</file>